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Jua" panose="020B0600000101010101" charset="-127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C8332E-2052-4CC6-884B-9223ECF9105A}">
  <a:tblStyle styleId="{38C8332E-2052-4CC6-884B-9223ECF910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120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0fa5da363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0fa5da363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0fa5da36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0fa5da36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fa5da363_2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fa5da363_2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fa5da36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fa5da36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fa5da363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fa5da363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fa5da363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0fa5da363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fa5da363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0fa5da363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fa5da363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0fa5da363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0fa5da363_3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0fa5da363_3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111a66465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111a66465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111a66465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111a66465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0fa5da363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0fa5da363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0fa5da363_2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0fa5da363_2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fa5da363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fa5da363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0fa5da363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0fa5da363_2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426330"/>
            <a:ext cx="8520600" cy="111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900">
                <a:solidFill>
                  <a:schemeClr val="dk2"/>
                </a:solidFill>
                <a:latin typeface="Jua"/>
                <a:ea typeface="Jua"/>
                <a:cs typeface="Jua"/>
                <a:sym typeface="Jua"/>
              </a:rPr>
              <a:t>Space Robber</a:t>
            </a:r>
            <a:endParaRPr sz="5900">
              <a:solidFill>
                <a:schemeClr val="dk2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86375" y="1478050"/>
            <a:ext cx="8520600" cy="10101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5900">
                <a:solidFill>
                  <a:srgbClr val="F4CCCC"/>
                </a:solidFill>
                <a:latin typeface="Jua"/>
                <a:ea typeface="Jua"/>
                <a:cs typeface="Jua"/>
                <a:sym typeface="Jua"/>
              </a:rPr>
              <a:t>Space Robber</a:t>
            </a:r>
            <a:endParaRPr sz="5900">
              <a:solidFill>
                <a:srgbClr val="F4CCCC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2305350" y="2571750"/>
            <a:ext cx="453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740">
                <a:latin typeface="Jua"/>
                <a:ea typeface="Jua"/>
                <a:cs typeface="Jua"/>
                <a:sym typeface="Jua"/>
              </a:rPr>
              <a:t>2022184031 임수영</a:t>
            </a:r>
            <a:endParaRPr sz="1740"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740">
                <a:latin typeface="Jua"/>
                <a:ea typeface="Jua"/>
                <a:cs typeface="Jua"/>
                <a:sym typeface="Jua"/>
              </a:rPr>
              <a:t>2022182035 임채은</a:t>
            </a:r>
            <a:endParaRPr sz="1740"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740">
                <a:latin typeface="Jua"/>
                <a:ea typeface="Jua"/>
                <a:cs typeface="Jua"/>
                <a:sym typeface="Jua"/>
              </a:rPr>
              <a:t>2022182024 윤이하나</a:t>
            </a:r>
            <a:endParaRPr sz="174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0525" y="1991600"/>
            <a:ext cx="2159950" cy="297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264775"/>
            <a:ext cx="59535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개인별 준비 현황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개발 환경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연구 목적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게임 소개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기술적 요소 및 중점연구 분야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타 게임과의 차별성</a:t>
            </a:r>
            <a:endParaRPr sz="2500">
              <a:latin typeface="Jua"/>
              <a:ea typeface="Jua"/>
              <a:cs typeface="Jua"/>
              <a:sym typeface="Jua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Font typeface="Jua"/>
              <a:buAutoNum type="arabicPeriod"/>
            </a:pPr>
            <a:r>
              <a:rPr lang="ko" sz="2500">
                <a:latin typeface="Jua"/>
                <a:ea typeface="Jua"/>
                <a:cs typeface="Jua"/>
                <a:sym typeface="Jua"/>
              </a:rPr>
              <a:t>역할 분담 및 일정</a:t>
            </a:r>
            <a:endParaRPr sz="250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270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목차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0" name="Google Shape;70;p15"/>
          <p:cNvGraphicFramePr/>
          <p:nvPr>
            <p:extLst>
              <p:ext uri="{D42A27DB-BD31-4B8C-83A1-F6EECF244321}">
                <p14:modId xmlns:p14="http://schemas.microsoft.com/office/powerpoint/2010/main" val="2414246648"/>
              </p:ext>
            </p:extLst>
          </p:nvPr>
        </p:nvGraphicFramePr>
        <p:xfrm>
          <a:off x="693675" y="1389475"/>
          <a:ext cx="7756625" cy="332220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67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이름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역할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수강 과목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임수영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서버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C 프로그래밍,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STL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컴퓨터 그래픽스, 게임수학, 3D게임프로그래밍1, 3D게임프로그래밍2,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인공지능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네트워크 게임 프로그래밍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데이터베이스</a:t>
                      </a:r>
                      <a:endParaRPr sz="1700" dirty="0">
                        <a:highlight>
                          <a:srgbClr val="F4CCCC"/>
                        </a:highlight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임채은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클라이언트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C,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C++ 프로그래밍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STL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컴퓨터 그래픽스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게임수학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, 3D게임프로그래밍1, 인공지능, 네트워크 게임 프로그래밍</a:t>
                      </a:r>
                      <a:endParaRPr sz="1700" dirty="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윤이하나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기획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기획포트폴리오작성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게임기획1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, </a:t>
                      </a:r>
                      <a:r>
                        <a:rPr lang="ko" sz="1700" dirty="0">
                          <a:highlight>
                            <a:srgbClr val="F4CCCC"/>
                          </a:highlight>
                          <a:latin typeface="Jua"/>
                          <a:ea typeface="Jua"/>
                          <a:cs typeface="Jua"/>
                          <a:sym typeface="Jua"/>
                        </a:rPr>
                        <a:t>게임기획2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, 3D모델링1, 3D모델링2,</a:t>
                      </a:r>
                      <a:r>
                        <a:rPr lang="ko" sz="1700" dirty="0">
                          <a:latin typeface="Jua"/>
                          <a:ea typeface="Jua"/>
                          <a:cs typeface="Jua"/>
                          <a:sym typeface="Jua"/>
                        </a:rPr>
                        <a:t> 3D애니메이션1, 3D애니메이션2, 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인공지능, 데이터베이스</a:t>
                      </a:r>
                      <a:endParaRPr sz="1700" dirty="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Google Shape;71;p15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330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1. 개인별 준비 현황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59375" y="255650"/>
            <a:ext cx="330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2. 개발 환경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1361550" y="1226913"/>
          <a:ext cx="6420900" cy="3699535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205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작업 IDE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Visual Studio 2026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버전 관리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GitHub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9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OS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Microsoft Windows 11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Engine</a:t>
                      </a:r>
                      <a:endParaRPr sz="1700"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Unreal Engine 5.6</a:t>
                      </a:r>
                      <a:endParaRPr sz="1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네트워크 프로토콜</a:t>
                      </a:r>
                      <a:endParaRPr sz="170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및 입출력 모델</a:t>
                      </a:r>
                      <a:endParaRPr sz="170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TCP/IP, IOCP</a:t>
                      </a:r>
                      <a:endParaRPr sz="170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351" y="3474350"/>
            <a:ext cx="578625" cy="7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1287" y="2871287"/>
            <a:ext cx="1761838" cy="36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5">
            <a:alphaModFix/>
          </a:blip>
          <a:srcRect l="28816" t="19860" r="25311" b="16888"/>
          <a:stretch/>
        </p:blipFill>
        <p:spPr>
          <a:xfrm>
            <a:off x="6127920" y="2065152"/>
            <a:ext cx="149519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5457" y="1226925"/>
            <a:ext cx="780125" cy="78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330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3. 연구 목적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952500" y="1840275"/>
          <a:ext cx="7239000" cy="146295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6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latin typeface="Jua"/>
                          <a:ea typeface="Jua"/>
                          <a:cs typeface="Jua"/>
                          <a:sym typeface="Jua"/>
                        </a:rPr>
                        <a:t>동적 난이도 조절을 통한 게임의 리플레이 가치 향상</a:t>
                      </a:r>
                      <a:endParaRPr sz="20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latin typeface="Jua"/>
                          <a:ea typeface="Jua"/>
                          <a:cs typeface="Jua"/>
                          <a:sym typeface="Jua"/>
                        </a:rPr>
                        <a:t>Unreal Engine 5.6을 이용한 1인칭 3D 온라인 게임 개발</a:t>
                      </a:r>
                      <a:endParaRPr sz="20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000">
                          <a:latin typeface="Jua"/>
                          <a:ea typeface="Jua"/>
                          <a:cs typeface="Jua"/>
                          <a:sym typeface="Jua"/>
                        </a:rPr>
                        <a:t>IOCP를 활용한 서버 구축 및 멀티플레이 구현</a:t>
                      </a:r>
                      <a:endParaRPr sz="20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정보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장르 |</a:t>
            </a:r>
            <a:b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자원 수집, 생존, 협동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인원 |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1~4인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플레이 타임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한 판 당 약 5~8분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 l="12664" t="35379" r="12664"/>
          <a:stretch/>
        </p:blipFill>
        <p:spPr>
          <a:xfrm>
            <a:off x="4515300" y="2982225"/>
            <a:ext cx="2741850" cy="160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9275" y="1474950"/>
            <a:ext cx="3102926" cy="174539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컨셉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우주 해적을 꿈꾸는 이들이 만든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&lt;Space Robber(우주 도적단)&gt;</a:t>
            </a:r>
            <a:endParaRPr sz="1600">
              <a:solidFill>
                <a:schemeClr val="dk1"/>
              </a:solidFill>
              <a:highlight>
                <a:srgbClr val="F4CCCC"/>
              </a:highlight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&lt;Space Robber&gt;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의 신입 단원이 된 플레이어는 빈 행성의 버려진 건물에서 귀중한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‘자원’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들을 수집한다.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3일에 한 번 돌아오는 자금 할당량을 충족시키기 위해, 플레이어는 자원을 열심히 모으고 팔아야 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20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우주 대해적을 목표로 끊임없이 훔쳐라!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게임 플레이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수집 |</a:t>
            </a:r>
            <a:br>
              <a:rPr lang="ko" sz="17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시설을 탐색하며 ‘자원’을 수집한다.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플레이어가 챙긴 자원의 무게에 따라, 플레이어의 무게와 속도, 스태미나 소모량이 변화한다.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생존&amp;탈출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시설 곳곳의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몬스터와 함정에 주의하며, 죽지 않고 제시간 안에 자원과 함께 함선에 복귀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해야 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정산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수집한 </a:t>
            </a:r>
            <a:r>
              <a:rPr lang="ko" sz="1600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자원을 판매하여 3일마다 돌아오는 할당량을 채우고</a:t>
            </a: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, 계속해서 더 어려운 미션에 도전한다.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남은 돈은 상점에서 도구를 구매하는 데 사용할 수 있다.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컨트롤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245350"/>
            <a:ext cx="6387451" cy="21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8750" y="1245350"/>
            <a:ext cx="2099747" cy="20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5494" y="2113632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0032" y="2113625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1901" y="2113625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2151" y="1699275"/>
            <a:ext cx="419168" cy="4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1319" y="1694444"/>
            <a:ext cx="419175" cy="4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099" y="2946000"/>
            <a:ext cx="523000" cy="4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100" y="2526825"/>
            <a:ext cx="932525" cy="4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29200" y="2946000"/>
            <a:ext cx="2617475" cy="4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/>
          <p:nvPr/>
        </p:nvSpPr>
        <p:spPr>
          <a:xfrm>
            <a:off x="464525" y="3547738"/>
            <a:ext cx="980700" cy="2556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W, A, S, D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2331538" y="3547750"/>
            <a:ext cx="281700" cy="255600"/>
          </a:xfrm>
          <a:prstGeom prst="rect">
            <a:avLst/>
          </a:prstGeom>
          <a:solidFill>
            <a:srgbClr val="D9D2E9"/>
          </a:solidFill>
          <a:ln w="9525" cap="flat" cmpd="sng">
            <a:solidFill>
              <a:srgbClr val="A02B9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64525" y="3959300"/>
            <a:ext cx="635700" cy="2556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Shift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464525" y="4370850"/>
            <a:ext cx="522900" cy="2556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Ctrl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64100" y="4729150"/>
            <a:ext cx="721800" cy="25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SPACE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1"/>
          </p:nvPr>
        </p:nvSpPr>
        <p:spPr>
          <a:xfrm>
            <a:off x="1445225" y="3494500"/>
            <a:ext cx="7899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걷기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"/>
          </p:nvPr>
        </p:nvSpPr>
        <p:spPr>
          <a:xfrm>
            <a:off x="1100225" y="3906050"/>
            <a:ext cx="8163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달리기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1"/>
          </p:nvPr>
        </p:nvSpPr>
        <p:spPr>
          <a:xfrm>
            <a:off x="987425" y="4317600"/>
            <a:ext cx="8286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숙이기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"/>
          </p:nvPr>
        </p:nvSpPr>
        <p:spPr>
          <a:xfrm>
            <a:off x="6544625" y="3494500"/>
            <a:ext cx="24387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퀵슬롯에서 슬롯 위/아래 이동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"/>
          </p:nvPr>
        </p:nvSpPr>
        <p:spPr>
          <a:xfrm>
            <a:off x="2613250" y="3494500"/>
            <a:ext cx="1093500" cy="7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아이템 줍기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상호작용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697495" y="1597870"/>
            <a:ext cx="319375" cy="4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36199" y="1725424"/>
            <a:ext cx="419175" cy="4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058994" y="1725428"/>
            <a:ext cx="419175" cy="49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16495" y="2307732"/>
            <a:ext cx="884311" cy="8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4698425" y="3547750"/>
            <a:ext cx="1846200" cy="255600"/>
          </a:xfrm>
          <a:prstGeom prst="rect">
            <a:avLst/>
          </a:prstGeom>
          <a:solidFill>
            <a:srgbClr val="A0FFA9">
              <a:alpha val="43670"/>
            </a:srgbClr>
          </a:solidFill>
          <a:ln w="9525" cap="flat" cmpd="sng">
            <a:solidFill>
              <a:srgbClr val="1DFF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MouseWheelUp/Down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698425" y="3911000"/>
            <a:ext cx="1003200" cy="255600"/>
          </a:xfrm>
          <a:prstGeom prst="rect">
            <a:avLst/>
          </a:prstGeom>
          <a:solidFill>
            <a:srgbClr val="FFBB9D">
              <a:alpha val="29420"/>
            </a:srgbClr>
          </a:solidFill>
          <a:ln w="9525" cap="flat" cmpd="sng">
            <a:solidFill>
              <a:srgbClr val="FF63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mouseLeft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5701625" y="3857750"/>
            <a:ext cx="24387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퀵슬롯에서 선택된 도구 사용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698425" y="4274250"/>
            <a:ext cx="1059300" cy="255600"/>
          </a:xfrm>
          <a:prstGeom prst="rect">
            <a:avLst/>
          </a:prstGeom>
          <a:solidFill>
            <a:srgbClr val="FF9CEC">
              <a:alpha val="21570"/>
            </a:srgbClr>
          </a:solidFill>
          <a:ln w="9525" cap="flat" cmpd="sng">
            <a:solidFill>
              <a:srgbClr val="FF47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mouseRight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1"/>
          </p:nvPr>
        </p:nvSpPr>
        <p:spPr>
          <a:xfrm>
            <a:off x="5757725" y="4221000"/>
            <a:ext cx="9324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반경 스캔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1185900" y="4675900"/>
            <a:ext cx="7899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점프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4698425" y="4637500"/>
            <a:ext cx="963600" cy="255600"/>
          </a:xfrm>
          <a:prstGeom prst="rect">
            <a:avLst/>
          </a:prstGeom>
          <a:solidFill>
            <a:srgbClr val="ABADFF">
              <a:alpha val="33330"/>
            </a:srgbClr>
          </a:solidFill>
          <a:ln w="9525" cap="flat" cmpd="sng">
            <a:solidFill>
              <a:srgbClr val="1D2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Jua"/>
                <a:ea typeface="Jua"/>
                <a:cs typeface="Jua"/>
                <a:sym typeface="Jua"/>
              </a:rPr>
              <a:t>마우스 이동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50" name="Google Shape;150;p21"/>
          <p:cNvSpPr txBox="1">
            <a:spLocks noGrp="1"/>
          </p:cNvSpPr>
          <p:nvPr>
            <p:ph type="subTitle" idx="1"/>
          </p:nvPr>
        </p:nvSpPr>
        <p:spPr>
          <a:xfrm>
            <a:off x="5662025" y="4584250"/>
            <a:ext cx="2354700" cy="3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ko" sz="144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: 카메라 각도, 방향 조정 </a:t>
            </a:r>
            <a:endParaRPr sz="144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게임 진행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4294967295"/>
          </p:nvPr>
        </p:nvSpPr>
        <p:spPr>
          <a:xfrm>
            <a:off x="5885100" y="1304875"/>
            <a:ext cx="2947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게임 오버 조건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- 3일 안에 할당량을 채우지 못한다.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플레이어가 모두 사망하여 함선으로 복귀하지 못한다. 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게임 클리어 시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더 높아진 할당량과 함께 새로 3일이 시작된다.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49850"/>
            <a:ext cx="5400999" cy="21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무게 시스템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무게 시스템</a:t>
            </a: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수집한 자원의 인벤토리 무게에 따라 플레이어의 무게와 이동 속도, 스태미나 소모량이 변화한다.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플레이어는 무게를 관리하며, 무게 시스템을 전략적으로 이용한한다.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213" y="2458350"/>
            <a:ext cx="2949576" cy="21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title" idx="4294967295"/>
          </p:nvPr>
        </p:nvSpPr>
        <p:spPr>
          <a:xfrm>
            <a:off x="311700" y="255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4. 게임 소개 - 리플레이 가치 향상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73" name="Google Shape;173;p24"/>
          <p:cNvSpPr txBox="1">
            <a:spLocks noGrp="1"/>
          </p:cNvSpPr>
          <p:nvPr>
            <p:ph type="body" idx="4294967295"/>
          </p:nvPr>
        </p:nvSpPr>
        <p:spPr>
          <a:xfrm>
            <a:off x="464100" y="1304875"/>
            <a:ext cx="8368200" cy="3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반응형 정보 기반 (동적) 난이도 조절</a:t>
            </a: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 |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OpenCV를 활용하여 플레이어의 표정 데이터 수집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절차적 맵 생성 시, 표정과 게임 결과 등을 종합하여 세부적으로 난이도를 조절한다. </a:t>
            </a:r>
            <a:b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</a:br>
            <a:r>
              <a:rPr lang="ko" sz="1600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- 게임 플레이 도중, 표정에 따라 실시간 이벤트를 발생시킨다.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=&gt; 반복적인 플레이 속에서 고정된 패턴을 타파하고 능동적으로 변화하는 게임 시스템 구축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=&gt; 뻔하지 않음으로써 </a:t>
            </a:r>
            <a:r>
              <a:rPr lang="ko">
                <a:solidFill>
                  <a:schemeClr val="dk1"/>
                </a:solidFill>
                <a:highlight>
                  <a:srgbClr val="F4CCCC"/>
                </a:highlight>
                <a:latin typeface="Jua"/>
                <a:ea typeface="Jua"/>
                <a:cs typeface="Jua"/>
                <a:sym typeface="Jua"/>
              </a:rPr>
              <a:t>계속&amp;여러번 플레이할 수 있는 게임</a:t>
            </a:r>
            <a:r>
              <a:rPr lang="ko">
                <a:solidFill>
                  <a:schemeClr val="dk1"/>
                </a:solidFill>
                <a:latin typeface="Jua"/>
                <a:ea typeface="Jua"/>
                <a:cs typeface="Jua"/>
                <a:sym typeface="Jua"/>
              </a:rPr>
              <a:t>을 개발한다. </a:t>
            </a:r>
            <a:endParaRPr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9" name="Google Shape;179;p25"/>
          <p:cNvGraphicFramePr/>
          <p:nvPr>
            <p:extLst>
              <p:ext uri="{D42A27DB-BD31-4B8C-83A1-F6EECF244321}">
                <p14:modId xmlns:p14="http://schemas.microsoft.com/office/powerpoint/2010/main" val="1846009231"/>
              </p:ext>
            </p:extLst>
          </p:nvPr>
        </p:nvGraphicFramePr>
        <p:xfrm>
          <a:off x="826438" y="1510225"/>
          <a:ext cx="7491125" cy="3177175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69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이름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기술적 요소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0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임수영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IOCP를 이용한 멀티 쓰레드 서버 구현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데이터베이스를 활용하여 사용자 데이터 관리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동접 600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임채은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 dirty="0">
                          <a:latin typeface="Jua"/>
                          <a:ea typeface="Jua"/>
                          <a:cs typeface="Jua"/>
                          <a:sym typeface="Jua"/>
                        </a:rPr>
                        <a:t>OpenCV 라이브러리를 사용하여 사용자 반응 기반 컨텐츠 생성</a:t>
                      </a:r>
                      <a:endParaRPr sz="1800" dirty="0"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 dirty="0">
                          <a:latin typeface="Jua"/>
                          <a:ea typeface="Jua"/>
                          <a:cs typeface="Jua"/>
                          <a:sym typeface="Jua"/>
                        </a:rPr>
                        <a:t>멀티 쓰레드를 사용한 성능 최적화 </a:t>
                      </a:r>
                      <a:endParaRPr sz="1800" dirty="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latin typeface="Jua"/>
                          <a:ea typeface="Jua"/>
                          <a:cs typeface="Jua"/>
                          <a:sym typeface="Jua"/>
                        </a:rPr>
                        <a:t>윤이하나</a:t>
                      </a:r>
                      <a:endParaRPr sz="18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" sz="1800" dirty="0">
                          <a:latin typeface="Jua"/>
                          <a:ea typeface="Jua"/>
                          <a:cs typeface="Jua"/>
                          <a:sym typeface="Jua"/>
                        </a:rPr>
                        <a:t>절차적 생성을 위한 맵 모듈(방) 설계 및 생성 규칙 기획</a:t>
                      </a:r>
                      <a:br>
                        <a:rPr lang="ko" sz="1800" dirty="0">
                          <a:latin typeface="Jua"/>
                          <a:ea typeface="Jua"/>
                          <a:cs typeface="Jua"/>
                          <a:sym typeface="Jua"/>
                        </a:rPr>
                      </a:br>
                      <a:r>
                        <a:rPr lang="ko" sz="1800" dirty="0">
                          <a:latin typeface="Jua"/>
                          <a:ea typeface="Jua"/>
                          <a:cs typeface="Jua"/>
                          <a:sym typeface="Jua"/>
                        </a:rPr>
                        <a:t>OpenCV 데이터 기반의 게임 난이도 조절 시스템 기획</a:t>
                      </a:r>
                      <a:endParaRPr sz="1800" dirty="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0" name="Google Shape;180;p25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537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5. 기술적 요소 및 중점연구분야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6" name="Google Shape;186;p26"/>
          <p:cNvGraphicFramePr/>
          <p:nvPr>
            <p:extLst>
              <p:ext uri="{D42A27DB-BD31-4B8C-83A1-F6EECF244321}">
                <p14:modId xmlns:p14="http://schemas.microsoft.com/office/powerpoint/2010/main" val="1502268484"/>
              </p:ext>
            </p:extLst>
          </p:nvPr>
        </p:nvGraphicFramePr>
        <p:xfrm>
          <a:off x="1396413" y="1318213"/>
          <a:ext cx="6351150" cy="194845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175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유사 게임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Lethal Company(리썰 컴퍼니)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700">
                          <a:latin typeface="Jua"/>
                          <a:ea typeface="Jua"/>
                          <a:cs typeface="Jua"/>
                          <a:sym typeface="Jua"/>
                        </a:rPr>
                        <a:t>차별성</a:t>
                      </a:r>
                      <a:endParaRPr sz="1700"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1206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Jua"/>
                        <a:buNone/>
                      </a:pPr>
                      <a:r>
                        <a:rPr lang="en-US" alt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- 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반응형 정보를 통한 적극적인 난이도 조절로 역동적인 게임 플레이 경험을 제공한다.</a:t>
                      </a:r>
                      <a:endParaRPr sz="1700" dirty="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dirty="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  <a:p>
                      <a:pPr marL="1206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Jua"/>
                        <a:buNone/>
                      </a:pPr>
                      <a:r>
                        <a:rPr lang="en-US" alt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- </a:t>
                      </a:r>
                      <a:r>
                        <a:rPr lang="ko" sz="1700" dirty="0">
                          <a:solidFill>
                            <a:schemeClr val="dk1"/>
                          </a:solidFill>
                          <a:latin typeface="Jua"/>
                          <a:ea typeface="Jua"/>
                          <a:cs typeface="Jua"/>
                          <a:sym typeface="Jua"/>
                        </a:rPr>
                        <a:t>무게 시스템을 추가하여 환경 상호작용 및 전략의 핵심 변수로써 사용한다.</a:t>
                      </a:r>
                      <a:endParaRPr sz="1700" dirty="0">
                        <a:solidFill>
                          <a:schemeClr val="dk1"/>
                        </a:solidFill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7" name="Google Shape;187;p26"/>
          <p:cNvSpPr txBox="1">
            <a:spLocks noGrp="1"/>
          </p:cNvSpPr>
          <p:nvPr>
            <p:ph type="title" idx="4294967295"/>
          </p:nvPr>
        </p:nvSpPr>
        <p:spPr>
          <a:xfrm>
            <a:off x="259375" y="255650"/>
            <a:ext cx="537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6. 타게임과의 차별성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pic>
        <p:nvPicPr>
          <p:cNvPr id="188" name="Google Shape;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363" y="3520575"/>
            <a:ext cx="3070725" cy="13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8075" y="3359886"/>
            <a:ext cx="2913549" cy="163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0" y="-14950"/>
            <a:ext cx="9144000" cy="1113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259375" y="255650"/>
            <a:ext cx="537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3020">
                <a:latin typeface="Jua"/>
                <a:ea typeface="Jua"/>
                <a:cs typeface="Jua"/>
                <a:sym typeface="Jua"/>
              </a:rPr>
              <a:t>7. 역할 분담 및 일정</a:t>
            </a:r>
            <a:endParaRPr sz="3020">
              <a:latin typeface="Jua"/>
              <a:ea typeface="Jua"/>
              <a:cs typeface="Jua"/>
              <a:sym typeface="Jua"/>
            </a:endParaRPr>
          </a:p>
        </p:txBody>
      </p:sp>
      <p:graphicFrame>
        <p:nvGraphicFramePr>
          <p:cNvPr id="196" name="Google Shape;196;p27"/>
          <p:cNvGraphicFramePr/>
          <p:nvPr/>
        </p:nvGraphicFramePr>
        <p:xfrm>
          <a:off x="5759525" y="163575"/>
          <a:ext cx="3172100" cy="792420"/>
        </p:xfrm>
        <a:graphic>
          <a:graphicData uri="http://schemas.openxmlformats.org/drawingml/2006/table">
            <a:tbl>
              <a:tblPr>
                <a:noFill/>
                <a:tableStyleId>{38C8332E-2052-4CC6-884B-9223ECF9105A}</a:tableStyleId>
              </a:tblPr>
              <a:tblGrid>
                <a:gridCol w="7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임수영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B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윤이하나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CB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임채은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latin typeface="Jua"/>
                          <a:ea typeface="Jua"/>
                          <a:cs typeface="Jua"/>
                          <a:sym typeface="Jua"/>
                        </a:rPr>
                        <a:t>다같이</a:t>
                      </a: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Jua"/>
                        <a:ea typeface="Jua"/>
                        <a:cs typeface="Jua"/>
                        <a:sym typeface="Ju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7" name="Google Shape;197;p27"/>
          <p:cNvPicPr preferRelativeResize="0"/>
          <p:nvPr/>
        </p:nvPicPr>
        <p:blipFill rotWithShape="1">
          <a:blip r:embed="rId3">
            <a:alphaModFix/>
          </a:blip>
          <a:srcRect l="456" t="1605" r="406" b="1118"/>
          <a:stretch/>
        </p:blipFill>
        <p:spPr>
          <a:xfrm>
            <a:off x="1200088" y="1098950"/>
            <a:ext cx="6743835" cy="40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>
            <a:spLocks noGrp="1"/>
          </p:cNvSpPr>
          <p:nvPr>
            <p:ph type="ctrTitle"/>
          </p:nvPr>
        </p:nvSpPr>
        <p:spPr>
          <a:xfrm>
            <a:off x="2097600" y="1837800"/>
            <a:ext cx="4948800" cy="146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7580">
                <a:latin typeface="Jua"/>
                <a:ea typeface="Jua"/>
                <a:cs typeface="Jua"/>
                <a:sym typeface="Jua"/>
              </a:rPr>
              <a:t>감사합니다.</a:t>
            </a:r>
            <a:endParaRPr sz="758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681</Words>
  <Application>Microsoft Office PowerPoint</Application>
  <PresentationFormat>화면 슬라이드 쇼(16:9)</PresentationFormat>
  <Paragraphs>118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Jua</vt:lpstr>
      <vt:lpstr>Arial</vt:lpstr>
      <vt:lpstr>Simple Light</vt:lpstr>
      <vt:lpstr>Space Robber</vt:lpstr>
      <vt:lpstr>목차</vt:lpstr>
      <vt:lpstr>1. 개인별 준비 현황</vt:lpstr>
      <vt:lpstr>2. 개발 환경</vt:lpstr>
      <vt:lpstr>3. 연구 목적</vt:lpstr>
      <vt:lpstr>4. 게임 소개 - 정보</vt:lpstr>
      <vt:lpstr>4. 게임 소개 - 컨셉</vt:lpstr>
      <vt:lpstr>4. 게임 소개 - 게임 플레이</vt:lpstr>
      <vt:lpstr>4. 게임 소개 - 컨트롤</vt:lpstr>
      <vt:lpstr>4. 게임 소개 - 게임 진행</vt:lpstr>
      <vt:lpstr>4. 게임 소개 - 무게 시스템</vt:lpstr>
      <vt:lpstr>4. 게임 소개 - 리플레이 가치 향상</vt:lpstr>
      <vt:lpstr>5. 기술적 요소 및 중점연구분야</vt:lpstr>
      <vt:lpstr>6. 타게임과의 차별성</vt:lpstr>
      <vt:lpstr>7. 역할 분담 및 일정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이하나 윤</cp:lastModifiedBy>
  <cp:revision>2</cp:revision>
  <dcterms:modified xsi:type="dcterms:W3CDTF">2025-12-31T09:22:32Z</dcterms:modified>
</cp:coreProperties>
</file>