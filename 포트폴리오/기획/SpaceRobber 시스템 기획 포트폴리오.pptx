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anum Square Bold" charset="1" panose="020B0600000101010101"/>
      <p:regular r:id="rId17"/>
    </p:embeddedFont>
    <p:embeddedFont>
      <p:font typeface="Arimo" charset="1" panose="020B0604020202020204"/>
      <p:regular r:id="rId18"/>
    </p:embeddedFont>
    <p:embeddedFont>
      <p:font typeface="Nanum Square" charset="1" panose="020B0600000101010101"/>
      <p:regular r:id="rId19"/>
    </p:embeddedFont>
    <p:embeddedFont>
      <p:font typeface="Nanum Square Light" charset="1" panose="020B0600000101010101"/>
      <p:regular r:id="rId20"/>
    </p:embeddedFont>
    <p:embeddedFont>
      <p:font typeface="Nanum Square Ultra-Bold" charset="1" panose="020B0600000101010101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7341682" cy="41296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41682" cy="4129696"/>
            </a:xfrm>
            <a:custGeom>
              <a:avLst/>
              <a:gdLst/>
              <a:ahLst/>
              <a:cxnLst/>
              <a:rect r="r" b="b" t="t" l="l"/>
              <a:pathLst>
                <a:path h="4129696" w="7341682">
                  <a:moveTo>
                    <a:pt x="0" y="0"/>
                  </a:moveTo>
                  <a:lnTo>
                    <a:pt x="7341682" y="0"/>
                  </a:lnTo>
                  <a:lnTo>
                    <a:pt x="7341682" y="4129696"/>
                  </a:lnTo>
                  <a:lnTo>
                    <a:pt x="0" y="4129696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38100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539324" y="4744085"/>
            <a:ext cx="4481609" cy="314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b="true" sz="6500" spc="325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창작 게임</a:t>
            </a:r>
          </a:p>
          <a:p>
            <a:pPr algn="l">
              <a:lnSpc>
                <a:spcPts val="9685"/>
              </a:lnSpc>
            </a:pPr>
            <a:r>
              <a:rPr lang="en-US" b="true" sz="6500" spc="325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시스템 기획</a:t>
            </a:r>
          </a:p>
          <a:p>
            <a:pPr algn="l">
              <a:lnSpc>
                <a:spcPts val="9685"/>
              </a:lnSpc>
              <a:spcBef>
                <a:spcPct val="0"/>
              </a:spcBef>
            </a:pPr>
            <a:r>
              <a:rPr lang="en-US" b="true" sz="6500" spc="325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포트폴리오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9044" y="7916863"/>
            <a:ext cx="400359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  <a:spcBef>
                <a:spcPct val="0"/>
              </a:spcBef>
            </a:pPr>
            <a:r>
              <a:rPr lang="en-US" b="true" sz="3000" spc="15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윤이하나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20016" y="400310"/>
            <a:ext cx="5847968" cy="111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3"/>
              </a:lnSpc>
            </a:pPr>
            <a:r>
              <a:rPr lang="en-US" sz="6395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목차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61455" y="1719290"/>
            <a:ext cx="9565090" cy="441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29" indent="-507364" lvl="1">
              <a:lnSpc>
                <a:spcPts val="7049"/>
              </a:lnSpc>
              <a:buAutoNum type="arabicPeriod" startAt="1"/>
            </a:pPr>
            <a:r>
              <a:rPr lang="en-US" b="true" sz="4699" spc="-93">
                <a:solidFill>
                  <a:srgbClr val="F6F5F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게임 및 시스템 개요</a:t>
            </a:r>
          </a:p>
          <a:p>
            <a:pPr algn="l" marL="1014729" indent="-507364" lvl="1">
              <a:lnSpc>
                <a:spcPts val="7049"/>
              </a:lnSpc>
              <a:buAutoNum type="arabicPeriod" startAt="1"/>
            </a:pPr>
            <a:r>
              <a:rPr lang="en-US" b="true" sz="4699" spc="-93">
                <a:solidFill>
                  <a:srgbClr val="F6F5F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OpenCV 감정 데이터 수식</a:t>
            </a:r>
          </a:p>
          <a:p>
            <a:pPr algn="l" marL="1014729" indent="-507364" lvl="1">
              <a:lnSpc>
                <a:spcPts val="7049"/>
              </a:lnSpc>
              <a:buAutoNum type="arabicPeriod" startAt="1"/>
            </a:pPr>
            <a:r>
              <a:rPr lang="en-US" b="true" sz="4699" spc="-93">
                <a:solidFill>
                  <a:srgbClr val="F6F5F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난이도 조정</a:t>
            </a:r>
          </a:p>
          <a:p>
            <a:pPr algn="l" marL="1014729" indent="-507364" lvl="1">
              <a:lnSpc>
                <a:spcPts val="7049"/>
              </a:lnSpc>
              <a:buAutoNum type="arabicPeriod" startAt="1"/>
            </a:pPr>
            <a:r>
              <a:rPr lang="en-US" b="true" sz="4699" spc="-93">
                <a:solidFill>
                  <a:srgbClr val="F6F5F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데이터 명세</a:t>
            </a:r>
          </a:p>
          <a:p>
            <a:pPr algn="l" marL="1014729" indent="-507364" lvl="1">
              <a:lnSpc>
                <a:spcPts val="7049"/>
              </a:lnSpc>
              <a:buAutoNum type="arabicPeriod" startAt="1"/>
            </a:pPr>
            <a:r>
              <a:rPr lang="en-US" b="true" sz="4699" spc="-93">
                <a:solidFill>
                  <a:srgbClr val="F6F5F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한계점 분석 및 개선 방향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891922" y="3241484"/>
            <a:ext cx="12504156" cy="6303897"/>
            <a:chOff x="0" y="0"/>
            <a:chExt cx="16672208" cy="840519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979689" y="-123825"/>
              <a:ext cx="6376727" cy="742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4"/>
                </a:lnSpc>
              </a:pPr>
              <a:r>
                <a:rPr lang="en-US" b="true" sz="3098" spc="-61">
                  <a:solidFill>
                    <a:srgbClr val="F6F5F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장르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66940"/>
              <a:ext cx="8336104" cy="608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4"/>
                </a:lnSpc>
              </a:pPr>
              <a:r>
                <a:rPr lang="en-US" sz="2499" spc="-49">
                  <a:solidFill>
                    <a:srgbClr val="F6F5F2"/>
                  </a:solidFill>
                  <a:latin typeface="Nanum Square Light"/>
                  <a:ea typeface="Nanum Square Light"/>
                  <a:cs typeface="Nanum Square Light"/>
                  <a:sym typeface="Nanum Square Light"/>
                </a:rPr>
                <a:t>자원 수집, 생존, 협동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979689" y="1324624"/>
              <a:ext cx="6376727" cy="793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8"/>
                </a:lnSpc>
              </a:pPr>
              <a:r>
                <a:rPr lang="en-US" b="true" sz="3298" spc="-65">
                  <a:solidFill>
                    <a:srgbClr val="F6F5F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인원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015389"/>
              <a:ext cx="8336104" cy="608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4"/>
                </a:lnSpc>
              </a:pPr>
              <a:r>
                <a:rPr lang="en-US" sz="2499" spc="-49">
                  <a:solidFill>
                    <a:srgbClr val="F6F5F2"/>
                  </a:solidFill>
                  <a:latin typeface="Nanum Square Light"/>
                  <a:ea typeface="Nanum Square Light"/>
                  <a:cs typeface="Nanum Square Light"/>
                  <a:sym typeface="Nanum Square Light"/>
                </a:rPr>
                <a:t>1~4인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79689" y="2773072"/>
              <a:ext cx="6376727" cy="793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8"/>
                </a:lnSpc>
              </a:pPr>
              <a:r>
                <a:rPr lang="en-US" b="true" sz="3298" spc="-65">
                  <a:solidFill>
                    <a:srgbClr val="F6F5F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시점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463838"/>
              <a:ext cx="8336104" cy="608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4"/>
                </a:lnSpc>
              </a:pPr>
              <a:r>
                <a:rPr lang="en-US" sz="2499" spc="-49">
                  <a:solidFill>
                    <a:srgbClr val="F6F5F2"/>
                  </a:solidFill>
                  <a:latin typeface="Nanum Square Light"/>
                  <a:ea typeface="Nanum Square Light"/>
                  <a:cs typeface="Nanum Square Light"/>
                  <a:sym typeface="Nanum Square Light"/>
                </a:rPr>
                <a:t>1인칭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59377" y="4215256"/>
              <a:ext cx="12753454" cy="793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8"/>
                </a:lnSpc>
              </a:pPr>
              <a:r>
                <a:rPr lang="en-US" b="true" sz="3298" spc="-65">
                  <a:solidFill>
                    <a:srgbClr val="F6F5F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개발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906021"/>
              <a:ext cx="16672208" cy="608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4"/>
                </a:lnSpc>
              </a:pPr>
              <a:r>
                <a:rPr lang="en-US" sz="2499" spc="-49">
                  <a:solidFill>
                    <a:srgbClr val="F6F5F2"/>
                  </a:solidFill>
                  <a:latin typeface="Nanum Square Light"/>
                  <a:ea typeface="Nanum Square Light"/>
                  <a:cs typeface="Nanum Square Light"/>
                  <a:sym typeface="Nanum Square Light"/>
                </a:rPr>
                <a:t>UnrealEngine 5.6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959377" y="5663704"/>
              <a:ext cx="12753454" cy="793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8"/>
                </a:lnSpc>
              </a:pPr>
              <a:r>
                <a:rPr lang="en-US" b="true" sz="3298" spc="-65">
                  <a:solidFill>
                    <a:srgbClr val="F6F5F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개발 기간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354470"/>
              <a:ext cx="16672208" cy="608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4"/>
                </a:lnSpc>
              </a:pPr>
              <a:r>
                <a:rPr lang="en-US" sz="2499" spc="-49">
                  <a:solidFill>
                    <a:srgbClr val="F6F5F2"/>
                  </a:solidFill>
                  <a:latin typeface="Nanum Square Light"/>
                  <a:ea typeface="Nanum Square Light"/>
                  <a:cs typeface="Nanum Square Light"/>
                  <a:sym typeface="Nanum Square Light"/>
                </a:rPr>
                <a:t>2025.04~2026.07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315793" y="844242"/>
              <a:ext cx="6376727" cy="742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64"/>
                </a:lnSpc>
              </a:pPr>
              <a:r>
                <a:rPr lang="en-US" b="true" sz="3098" spc="-61">
                  <a:solidFill>
                    <a:srgbClr val="F6F5F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플레이 타임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8336104" y="1535007"/>
              <a:ext cx="8336104" cy="608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4"/>
                </a:lnSpc>
              </a:pPr>
              <a:r>
                <a:rPr lang="en-US" sz="2499" spc="-49">
                  <a:solidFill>
                    <a:srgbClr val="F6F5F2"/>
                  </a:solidFill>
                  <a:latin typeface="Nanum Square Light"/>
                  <a:ea typeface="Nanum Square Light"/>
                  <a:cs typeface="Nanum Square Light"/>
                  <a:sym typeface="Nanum Square Light"/>
                </a:rPr>
                <a:t>한 스테이지 당 최대 10분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9315793" y="2292691"/>
              <a:ext cx="6376727" cy="793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8"/>
                </a:lnSpc>
              </a:pPr>
              <a:r>
                <a:rPr lang="en-US" b="true" sz="3298" spc="-65">
                  <a:solidFill>
                    <a:srgbClr val="F6F5F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플랫폼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336104" y="2983456"/>
              <a:ext cx="8336104" cy="608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4"/>
                </a:lnSpc>
              </a:pPr>
              <a:r>
                <a:rPr lang="en-US" sz="2499" spc="-49">
                  <a:solidFill>
                    <a:srgbClr val="F6F5F2"/>
                  </a:solidFill>
                  <a:latin typeface="Nanum Square Light"/>
                  <a:ea typeface="Nanum Square Light"/>
                  <a:cs typeface="Nanum Square Light"/>
                  <a:sym typeface="Nanum Square Light"/>
                </a:rPr>
                <a:t>PC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959377" y="7105888"/>
              <a:ext cx="12753454" cy="793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78"/>
                </a:lnSpc>
              </a:pPr>
              <a:r>
                <a:rPr lang="en-US" sz="3298" spc="-65">
                  <a:solidFill>
                    <a:srgbClr val="F6F5F2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핵심 컨셉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796653"/>
              <a:ext cx="16672208" cy="608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24"/>
                </a:lnSpc>
              </a:pPr>
              <a:r>
                <a:rPr lang="en-US" sz="2499" spc="-49">
                  <a:solidFill>
                    <a:srgbClr val="F6F5F2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제한 시간 내에 건물 내부를 탐색하여 자원을 수집하고, 수집한 자원을 판매하여 할당량을 채운다.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361455" y="1287210"/>
            <a:ext cx="9565090" cy="175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9"/>
              </a:lnSpc>
            </a:pPr>
            <a:r>
              <a:rPr lang="en-US" b="true" sz="4699" spc="-93">
                <a:solidFill>
                  <a:srgbClr val="F6F5F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게임</a:t>
            </a:r>
          </a:p>
          <a:p>
            <a:pPr algn="ctr" marL="0" indent="0" lvl="0">
              <a:lnSpc>
                <a:spcPts val="7049"/>
              </a:lnSpc>
            </a:pPr>
            <a:r>
              <a:rPr lang="en-US" b="true" sz="4699" spc="-93">
                <a:solidFill>
                  <a:srgbClr val="F6F5F2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&lt;SpaceRobber&gt;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4587" y="12662"/>
            <a:ext cx="956509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b="true" sz="4699" spc="-93">
                <a:solidFill>
                  <a:srgbClr val="F6F5F2">
                    <a:alpha val="80000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1-1. 게임 소개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71099" y="5165609"/>
            <a:ext cx="9565090" cy="62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8"/>
              </a:lnSpc>
            </a:pPr>
            <a:r>
              <a:rPr lang="en-US" sz="3298" spc="-65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시스템 설명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8075" y="5688445"/>
            <a:ext cx="14891139" cy="147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4"/>
              </a:lnSpc>
            </a:pPr>
            <a:r>
              <a:rPr lang="en-US" sz="2499" spc="-49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OpenCV를 이용하여 게임 플레이 중 플레이어의 감정 데이터를 수집한다.</a:t>
            </a:r>
          </a:p>
          <a:p>
            <a:pPr algn="ctr">
              <a:lnSpc>
                <a:spcPts val="3924"/>
              </a:lnSpc>
            </a:pPr>
            <a:r>
              <a:rPr lang="en-US" sz="2499" spc="-49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수집된 감정 데이터와 게임 클리어 기록을 수식을 통해 판정하여 다음 판의 난이도와 클리어 목표인 할당량의 상승량을 통제한다.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1455" y="2963429"/>
            <a:ext cx="9565090" cy="175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9"/>
              </a:lnSpc>
            </a:pPr>
            <a:r>
              <a:rPr lang="en-US" sz="4699" spc="-9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핵심 시스템</a:t>
            </a:r>
          </a:p>
          <a:p>
            <a:pPr algn="ctr" marL="0" indent="0" lvl="0">
              <a:lnSpc>
                <a:spcPts val="7049"/>
              </a:lnSpc>
            </a:pPr>
            <a:r>
              <a:rPr lang="en-US" b="true" sz="4699" spc="-93">
                <a:solidFill>
                  <a:srgbClr val="F6F5F2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&lt;동적 난이도 조절 시스템&gt;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4587" y="12662"/>
            <a:ext cx="956509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b="true" sz="4699" spc="-93">
                <a:solidFill>
                  <a:srgbClr val="F6F5F2">
                    <a:alpha val="80000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1-2. 핵심 시스템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4587" y="12662"/>
            <a:ext cx="398627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b="true" sz="4699" spc="-93">
                <a:solidFill>
                  <a:srgbClr val="F6F5F2">
                    <a:alpha val="80000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1-3. 게임 루프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69986" y="814465"/>
            <a:ext cx="5948028" cy="8658071"/>
            <a:chOff x="0" y="0"/>
            <a:chExt cx="7930704" cy="1154409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3424408" y="0"/>
              <a:ext cx="4114800" cy="924107"/>
              <a:chOff x="0" y="0"/>
              <a:chExt cx="812800" cy="1825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182540"/>
              </a:xfrm>
              <a:custGeom>
                <a:avLst/>
                <a:gdLst/>
                <a:ahLst/>
                <a:cxnLst/>
                <a:rect r="r" b="b" t="t" l="l"/>
                <a:pathLst>
                  <a:path h="182540" w="812800">
                    <a:moveTo>
                      <a:pt x="42647" y="0"/>
                    </a:moveTo>
                    <a:lnTo>
                      <a:pt x="770153" y="0"/>
                    </a:lnTo>
                    <a:cubicBezTo>
                      <a:pt x="781464" y="0"/>
                      <a:pt x="792311" y="4493"/>
                      <a:pt x="800309" y="12491"/>
                    </a:cubicBezTo>
                    <a:cubicBezTo>
                      <a:pt x="808307" y="20489"/>
                      <a:pt x="812800" y="31336"/>
                      <a:pt x="812800" y="42647"/>
                    </a:cubicBezTo>
                    <a:lnTo>
                      <a:pt x="812800" y="139893"/>
                    </a:lnTo>
                    <a:cubicBezTo>
                      <a:pt x="812800" y="151203"/>
                      <a:pt x="808307" y="162051"/>
                      <a:pt x="800309" y="170049"/>
                    </a:cubicBezTo>
                    <a:cubicBezTo>
                      <a:pt x="792311" y="178046"/>
                      <a:pt x="781464" y="182540"/>
                      <a:pt x="770153" y="182540"/>
                    </a:cubicBezTo>
                    <a:lnTo>
                      <a:pt x="42647" y="182540"/>
                    </a:lnTo>
                    <a:cubicBezTo>
                      <a:pt x="31336" y="182540"/>
                      <a:pt x="20489" y="178046"/>
                      <a:pt x="12491" y="170049"/>
                    </a:cubicBezTo>
                    <a:cubicBezTo>
                      <a:pt x="4493" y="162051"/>
                      <a:pt x="0" y="151203"/>
                      <a:pt x="0" y="139893"/>
                    </a:cubicBezTo>
                    <a:lnTo>
                      <a:pt x="0" y="42647"/>
                    </a:lnTo>
                    <a:cubicBezTo>
                      <a:pt x="0" y="31336"/>
                      <a:pt x="4493" y="20489"/>
                      <a:pt x="12491" y="12491"/>
                    </a:cubicBezTo>
                    <a:cubicBezTo>
                      <a:pt x="20489" y="4493"/>
                      <a:pt x="31336" y="0"/>
                      <a:pt x="42647" y="0"/>
                    </a:cubicBezTo>
                    <a:close/>
                  </a:path>
                </a:pathLst>
              </a:custGeom>
              <a:solidFill>
                <a:srgbClr val="F6F5F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04775"/>
                <a:ext cx="812800" cy="2873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70"/>
                  </a:lnSpc>
                </a:pPr>
                <a:r>
                  <a:rPr lang="en-US" b="true" sz="3000" spc="150">
                    <a:solidFill>
                      <a:srgbClr val="2F2F2F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스테이지 시작</a:t>
                </a:r>
              </a:p>
            </p:txBody>
          </p:sp>
        </p:grpSp>
        <p:sp>
          <p:nvSpPr>
            <p:cNvPr name="AutoShape 8" id="8"/>
            <p:cNvSpPr/>
            <p:nvPr/>
          </p:nvSpPr>
          <p:spPr>
            <a:xfrm flipH="true">
              <a:off x="5481808" y="924107"/>
              <a:ext cx="0" cy="652408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9" id="9"/>
            <p:cNvGrpSpPr/>
            <p:nvPr/>
          </p:nvGrpSpPr>
          <p:grpSpPr>
            <a:xfrm rot="0">
              <a:off x="3032912" y="1576514"/>
              <a:ext cx="4897792" cy="924107"/>
              <a:chOff x="0" y="0"/>
              <a:chExt cx="967465" cy="1825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67465" cy="182540"/>
              </a:xfrm>
              <a:custGeom>
                <a:avLst/>
                <a:gdLst/>
                <a:ahLst/>
                <a:cxnLst/>
                <a:rect r="r" b="b" t="t" l="l"/>
                <a:pathLst>
                  <a:path h="182540" w="967465">
                    <a:moveTo>
                      <a:pt x="35829" y="0"/>
                    </a:moveTo>
                    <a:lnTo>
                      <a:pt x="931636" y="0"/>
                    </a:lnTo>
                    <a:cubicBezTo>
                      <a:pt x="941138" y="0"/>
                      <a:pt x="950252" y="3775"/>
                      <a:pt x="956971" y="10494"/>
                    </a:cubicBezTo>
                    <a:cubicBezTo>
                      <a:pt x="963690" y="17213"/>
                      <a:pt x="967465" y="26327"/>
                      <a:pt x="967465" y="35829"/>
                    </a:cubicBezTo>
                    <a:lnTo>
                      <a:pt x="967465" y="146710"/>
                    </a:lnTo>
                    <a:cubicBezTo>
                      <a:pt x="967465" y="156213"/>
                      <a:pt x="963690" y="165326"/>
                      <a:pt x="956971" y="172045"/>
                    </a:cubicBezTo>
                    <a:cubicBezTo>
                      <a:pt x="950252" y="178765"/>
                      <a:pt x="941138" y="182540"/>
                      <a:pt x="931636" y="182540"/>
                    </a:cubicBezTo>
                    <a:lnTo>
                      <a:pt x="35829" y="182540"/>
                    </a:lnTo>
                    <a:cubicBezTo>
                      <a:pt x="26327" y="182540"/>
                      <a:pt x="17213" y="178765"/>
                      <a:pt x="10494" y="172045"/>
                    </a:cubicBezTo>
                    <a:cubicBezTo>
                      <a:pt x="3775" y="165326"/>
                      <a:pt x="0" y="156213"/>
                      <a:pt x="0" y="146710"/>
                    </a:cubicBezTo>
                    <a:lnTo>
                      <a:pt x="0" y="35829"/>
                    </a:lnTo>
                    <a:cubicBezTo>
                      <a:pt x="0" y="26327"/>
                      <a:pt x="3775" y="17213"/>
                      <a:pt x="10494" y="10494"/>
                    </a:cubicBezTo>
                    <a:cubicBezTo>
                      <a:pt x="17213" y="3775"/>
                      <a:pt x="26327" y="0"/>
                      <a:pt x="35829" y="0"/>
                    </a:cubicBezTo>
                    <a:close/>
                  </a:path>
                </a:pathLst>
              </a:custGeom>
              <a:solidFill>
                <a:srgbClr val="F6F5F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04775"/>
                <a:ext cx="967465" cy="2873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70"/>
                  </a:lnSpc>
                </a:pPr>
                <a:r>
                  <a:rPr lang="en-US" b="true" sz="3000" spc="150">
                    <a:solidFill>
                      <a:srgbClr val="2F2F2F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탐색 및 자원 수집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4574427" y="3153419"/>
              <a:ext cx="1814762" cy="924107"/>
              <a:chOff x="0" y="0"/>
              <a:chExt cx="358471" cy="1825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58471" cy="182540"/>
              </a:xfrm>
              <a:custGeom>
                <a:avLst/>
                <a:gdLst/>
                <a:ahLst/>
                <a:cxnLst/>
                <a:rect r="r" b="b" t="t" l="l"/>
                <a:pathLst>
                  <a:path h="182540" w="358471">
                    <a:moveTo>
                      <a:pt x="91270" y="0"/>
                    </a:moveTo>
                    <a:lnTo>
                      <a:pt x="267202" y="0"/>
                    </a:lnTo>
                    <a:cubicBezTo>
                      <a:pt x="291408" y="0"/>
                      <a:pt x="314623" y="9616"/>
                      <a:pt x="331739" y="26732"/>
                    </a:cubicBezTo>
                    <a:cubicBezTo>
                      <a:pt x="348856" y="43849"/>
                      <a:pt x="358471" y="67064"/>
                      <a:pt x="358471" y="91270"/>
                    </a:cubicBezTo>
                    <a:lnTo>
                      <a:pt x="358471" y="91270"/>
                    </a:lnTo>
                    <a:cubicBezTo>
                      <a:pt x="358471" y="141677"/>
                      <a:pt x="317609" y="182540"/>
                      <a:pt x="267202" y="182540"/>
                    </a:cubicBezTo>
                    <a:lnTo>
                      <a:pt x="91270" y="182540"/>
                    </a:lnTo>
                    <a:cubicBezTo>
                      <a:pt x="67064" y="182540"/>
                      <a:pt x="43849" y="172924"/>
                      <a:pt x="26732" y="155807"/>
                    </a:cubicBezTo>
                    <a:cubicBezTo>
                      <a:pt x="9616" y="138691"/>
                      <a:pt x="0" y="115476"/>
                      <a:pt x="0" y="91270"/>
                    </a:cubicBezTo>
                    <a:lnTo>
                      <a:pt x="0" y="91270"/>
                    </a:lnTo>
                    <a:cubicBezTo>
                      <a:pt x="0" y="67064"/>
                      <a:pt x="9616" y="43849"/>
                      <a:pt x="26732" y="26732"/>
                    </a:cubicBezTo>
                    <a:cubicBezTo>
                      <a:pt x="43849" y="9616"/>
                      <a:pt x="67064" y="0"/>
                      <a:pt x="91270" y="0"/>
                    </a:cubicBezTo>
                    <a:close/>
                  </a:path>
                </a:pathLst>
              </a:custGeom>
              <a:solidFill>
                <a:srgbClr val="F6F5F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04775"/>
                <a:ext cx="358471" cy="2873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70"/>
                  </a:lnSpc>
                </a:pPr>
                <a:r>
                  <a:rPr lang="en-US" b="true" sz="3000" spc="150">
                    <a:solidFill>
                      <a:srgbClr val="2F2F2F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판매</a:t>
                </a:r>
              </a:p>
            </p:txBody>
          </p:sp>
        </p:grpSp>
        <p:sp>
          <p:nvSpPr>
            <p:cNvPr name="AutoShape 15" id="15"/>
            <p:cNvSpPr/>
            <p:nvPr/>
          </p:nvSpPr>
          <p:spPr>
            <a:xfrm>
              <a:off x="5481808" y="2500621"/>
              <a:ext cx="0" cy="652798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16" id="16"/>
            <p:cNvGrpSpPr/>
            <p:nvPr/>
          </p:nvGrpSpPr>
          <p:grpSpPr>
            <a:xfrm rot="0">
              <a:off x="4574427" y="4730323"/>
              <a:ext cx="1814762" cy="924107"/>
              <a:chOff x="0" y="0"/>
              <a:chExt cx="358471" cy="18254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58471" cy="182540"/>
              </a:xfrm>
              <a:custGeom>
                <a:avLst/>
                <a:gdLst/>
                <a:ahLst/>
                <a:cxnLst/>
                <a:rect r="r" b="b" t="t" l="l"/>
                <a:pathLst>
                  <a:path h="182540" w="358471">
                    <a:moveTo>
                      <a:pt x="91270" y="0"/>
                    </a:moveTo>
                    <a:lnTo>
                      <a:pt x="267202" y="0"/>
                    </a:lnTo>
                    <a:cubicBezTo>
                      <a:pt x="291408" y="0"/>
                      <a:pt x="314623" y="9616"/>
                      <a:pt x="331739" y="26732"/>
                    </a:cubicBezTo>
                    <a:cubicBezTo>
                      <a:pt x="348856" y="43849"/>
                      <a:pt x="358471" y="67064"/>
                      <a:pt x="358471" y="91270"/>
                    </a:cubicBezTo>
                    <a:lnTo>
                      <a:pt x="358471" y="91270"/>
                    </a:lnTo>
                    <a:cubicBezTo>
                      <a:pt x="358471" y="141677"/>
                      <a:pt x="317609" y="182540"/>
                      <a:pt x="267202" y="182540"/>
                    </a:cubicBezTo>
                    <a:lnTo>
                      <a:pt x="91270" y="182540"/>
                    </a:lnTo>
                    <a:cubicBezTo>
                      <a:pt x="67064" y="182540"/>
                      <a:pt x="43849" y="172924"/>
                      <a:pt x="26732" y="155807"/>
                    </a:cubicBezTo>
                    <a:cubicBezTo>
                      <a:pt x="9616" y="138691"/>
                      <a:pt x="0" y="115476"/>
                      <a:pt x="0" y="91270"/>
                    </a:cubicBezTo>
                    <a:lnTo>
                      <a:pt x="0" y="91270"/>
                    </a:lnTo>
                    <a:cubicBezTo>
                      <a:pt x="0" y="67064"/>
                      <a:pt x="9616" y="43849"/>
                      <a:pt x="26732" y="26732"/>
                    </a:cubicBezTo>
                    <a:cubicBezTo>
                      <a:pt x="43849" y="9616"/>
                      <a:pt x="67064" y="0"/>
                      <a:pt x="91270" y="0"/>
                    </a:cubicBezTo>
                    <a:close/>
                  </a:path>
                </a:pathLst>
              </a:custGeom>
              <a:solidFill>
                <a:srgbClr val="F6F5F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358471" cy="2873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70"/>
                  </a:lnSpc>
                </a:pPr>
                <a:r>
                  <a:rPr lang="en-US" b="true" sz="3000" spc="150">
                    <a:solidFill>
                      <a:srgbClr val="2F2F2F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복귀</a:t>
                </a:r>
              </a:p>
            </p:txBody>
          </p:sp>
        </p:grpSp>
        <p:sp>
          <p:nvSpPr>
            <p:cNvPr name="AutoShape 19" id="19"/>
            <p:cNvSpPr/>
            <p:nvPr/>
          </p:nvSpPr>
          <p:spPr>
            <a:xfrm flipH="true">
              <a:off x="5481808" y="4077525"/>
              <a:ext cx="0" cy="652798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20" id="20"/>
            <p:cNvGrpSpPr/>
            <p:nvPr/>
          </p:nvGrpSpPr>
          <p:grpSpPr>
            <a:xfrm rot="0">
              <a:off x="3424408" y="6302129"/>
              <a:ext cx="4114800" cy="924107"/>
              <a:chOff x="0" y="0"/>
              <a:chExt cx="812800" cy="18254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182540"/>
              </a:xfrm>
              <a:custGeom>
                <a:avLst/>
                <a:gdLst/>
                <a:ahLst/>
                <a:cxnLst/>
                <a:rect r="r" b="b" t="t" l="l"/>
                <a:pathLst>
                  <a:path h="182540" w="812800">
                    <a:moveTo>
                      <a:pt x="42647" y="0"/>
                    </a:moveTo>
                    <a:lnTo>
                      <a:pt x="770153" y="0"/>
                    </a:lnTo>
                    <a:cubicBezTo>
                      <a:pt x="781464" y="0"/>
                      <a:pt x="792311" y="4493"/>
                      <a:pt x="800309" y="12491"/>
                    </a:cubicBezTo>
                    <a:cubicBezTo>
                      <a:pt x="808307" y="20489"/>
                      <a:pt x="812800" y="31336"/>
                      <a:pt x="812800" y="42647"/>
                    </a:cubicBezTo>
                    <a:lnTo>
                      <a:pt x="812800" y="139893"/>
                    </a:lnTo>
                    <a:cubicBezTo>
                      <a:pt x="812800" y="151203"/>
                      <a:pt x="808307" y="162051"/>
                      <a:pt x="800309" y="170049"/>
                    </a:cubicBezTo>
                    <a:cubicBezTo>
                      <a:pt x="792311" y="178046"/>
                      <a:pt x="781464" y="182540"/>
                      <a:pt x="770153" y="182540"/>
                    </a:cubicBezTo>
                    <a:lnTo>
                      <a:pt x="42647" y="182540"/>
                    </a:lnTo>
                    <a:cubicBezTo>
                      <a:pt x="31336" y="182540"/>
                      <a:pt x="20489" y="178046"/>
                      <a:pt x="12491" y="170049"/>
                    </a:cubicBezTo>
                    <a:cubicBezTo>
                      <a:pt x="4493" y="162051"/>
                      <a:pt x="0" y="151203"/>
                      <a:pt x="0" y="139893"/>
                    </a:cubicBezTo>
                    <a:lnTo>
                      <a:pt x="0" y="42647"/>
                    </a:lnTo>
                    <a:cubicBezTo>
                      <a:pt x="0" y="31336"/>
                      <a:pt x="4493" y="20489"/>
                      <a:pt x="12491" y="12491"/>
                    </a:cubicBezTo>
                    <a:cubicBezTo>
                      <a:pt x="20489" y="4493"/>
                      <a:pt x="31336" y="0"/>
                      <a:pt x="42647" y="0"/>
                    </a:cubicBezTo>
                    <a:close/>
                  </a:path>
                </a:pathLst>
              </a:custGeom>
              <a:solidFill>
                <a:srgbClr val="F6F5F2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04775"/>
                <a:ext cx="812800" cy="2873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70"/>
                  </a:lnSpc>
                </a:pPr>
                <a:r>
                  <a:rPr lang="en-US" b="true" sz="3000" spc="150">
                    <a:solidFill>
                      <a:srgbClr val="2F2F2F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스테이지 종료</a:t>
                </a: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5481808" y="7226236"/>
              <a:ext cx="24468" cy="770016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3962715" y="7996252"/>
              <a:ext cx="3087123" cy="924107"/>
              <a:chOff x="0" y="0"/>
              <a:chExt cx="609802" cy="18254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09802" cy="182540"/>
              </a:xfrm>
              <a:custGeom>
                <a:avLst/>
                <a:gdLst/>
                <a:ahLst/>
                <a:cxnLst/>
                <a:rect r="r" b="b" t="t" l="l"/>
                <a:pathLst>
                  <a:path h="182540" w="609802">
                    <a:moveTo>
                      <a:pt x="56844" y="0"/>
                    </a:moveTo>
                    <a:lnTo>
                      <a:pt x="552958" y="0"/>
                    </a:lnTo>
                    <a:cubicBezTo>
                      <a:pt x="568034" y="0"/>
                      <a:pt x="582493" y="5989"/>
                      <a:pt x="593153" y="16649"/>
                    </a:cubicBezTo>
                    <a:cubicBezTo>
                      <a:pt x="603813" y="27309"/>
                      <a:pt x="609802" y="41768"/>
                      <a:pt x="609802" y="56844"/>
                    </a:cubicBezTo>
                    <a:lnTo>
                      <a:pt x="609802" y="125696"/>
                    </a:lnTo>
                    <a:cubicBezTo>
                      <a:pt x="609802" y="157090"/>
                      <a:pt x="584352" y="182540"/>
                      <a:pt x="552958" y="182540"/>
                    </a:cubicBezTo>
                    <a:lnTo>
                      <a:pt x="56844" y="182540"/>
                    </a:lnTo>
                    <a:cubicBezTo>
                      <a:pt x="41768" y="182540"/>
                      <a:pt x="27309" y="176551"/>
                      <a:pt x="16649" y="165890"/>
                    </a:cubicBezTo>
                    <a:cubicBezTo>
                      <a:pt x="5989" y="155230"/>
                      <a:pt x="0" y="140772"/>
                      <a:pt x="0" y="125696"/>
                    </a:cubicBezTo>
                    <a:lnTo>
                      <a:pt x="0" y="56844"/>
                    </a:lnTo>
                    <a:cubicBezTo>
                      <a:pt x="0" y="41768"/>
                      <a:pt x="5989" y="27309"/>
                      <a:pt x="16649" y="16649"/>
                    </a:cubicBezTo>
                    <a:cubicBezTo>
                      <a:pt x="27309" y="5989"/>
                      <a:pt x="41768" y="0"/>
                      <a:pt x="56844" y="0"/>
                    </a:cubicBezTo>
                    <a:close/>
                  </a:path>
                </a:pathLst>
              </a:custGeom>
              <a:solidFill>
                <a:srgbClr val="B34D43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04775"/>
                <a:ext cx="609802" cy="2873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70"/>
                  </a:lnSpc>
                </a:pPr>
                <a:r>
                  <a:rPr lang="en-US" b="true" sz="3000" spc="150">
                    <a:solidFill>
                      <a:srgbClr val="F6F5F2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데이터 분석</a:t>
                </a:r>
              </a:p>
            </p:txBody>
          </p:sp>
        </p:grpSp>
        <p:sp>
          <p:nvSpPr>
            <p:cNvPr name="AutoShape 27" id="27"/>
            <p:cNvSpPr/>
            <p:nvPr/>
          </p:nvSpPr>
          <p:spPr>
            <a:xfrm>
              <a:off x="5506277" y="8920359"/>
              <a:ext cx="14281" cy="64770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28" id="28"/>
            <p:cNvGrpSpPr/>
            <p:nvPr/>
          </p:nvGrpSpPr>
          <p:grpSpPr>
            <a:xfrm rot="0">
              <a:off x="3179723" y="9568059"/>
              <a:ext cx="4702044" cy="924107"/>
              <a:chOff x="0" y="0"/>
              <a:chExt cx="928799" cy="18254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28799" cy="182540"/>
              </a:xfrm>
              <a:custGeom>
                <a:avLst/>
                <a:gdLst/>
                <a:ahLst/>
                <a:cxnLst/>
                <a:rect r="r" b="b" t="t" l="l"/>
                <a:pathLst>
                  <a:path h="182540" w="928799">
                    <a:moveTo>
                      <a:pt x="37321" y="0"/>
                    </a:moveTo>
                    <a:lnTo>
                      <a:pt x="891478" y="0"/>
                    </a:lnTo>
                    <a:cubicBezTo>
                      <a:pt x="912090" y="0"/>
                      <a:pt x="928799" y="16709"/>
                      <a:pt x="928799" y="37321"/>
                    </a:cubicBezTo>
                    <a:lnTo>
                      <a:pt x="928799" y="145219"/>
                    </a:lnTo>
                    <a:cubicBezTo>
                      <a:pt x="928799" y="165831"/>
                      <a:pt x="912090" y="182540"/>
                      <a:pt x="891478" y="182540"/>
                    </a:cubicBezTo>
                    <a:lnTo>
                      <a:pt x="37321" y="182540"/>
                    </a:lnTo>
                    <a:cubicBezTo>
                      <a:pt x="16709" y="182540"/>
                      <a:pt x="0" y="165831"/>
                      <a:pt x="0" y="145219"/>
                    </a:cubicBezTo>
                    <a:lnTo>
                      <a:pt x="0" y="37321"/>
                    </a:lnTo>
                    <a:cubicBezTo>
                      <a:pt x="0" y="16709"/>
                      <a:pt x="16709" y="0"/>
                      <a:pt x="37321" y="0"/>
                    </a:cubicBezTo>
                    <a:close/>
                  </a:path>
                </a:pathLst>
              </a:custGeom>
              <a:solidFill>
                <a:srgbClr val="B34D43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04775"/>
                <a:ext cx="928799" cy="2873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470"/>
                  </a:lnSpc>
                </a:pPr>
                <a:r>
                  <a:rPr lang="en-US" b="true" sz="3000" spc="150">
                    <a:solidFill>
                      <a:srgbClr val="F6F5F2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다음 스테이지 생성</a:t>
                </a:r>
              </a:p>
            </p:txBody>
          </p:sp>
        </p:grpSp>
        <p:sp>
          <p:nvSpPr>
            <p:cNvPr name="Freeform 31" id="31"/>
            <p:cNvSpPr/>
            <p:nvPr/>
          </p:nvSpPr>
          <p:spPr>
            <a:xfrm>
              <a:off x="25400" y="462053"/>
              <a:ext cx="5505345" cy="11056641"/>
            </a:xfrm>
            <a:custGeom>
              <a:avLst/>
              <a:gdLst/>
              <a:ahLst/>
              <a:cxnLst/>
              <a:rect r="r" b="b" t="t" l="l"/>
              <a:pathLst>
                <a:path h="11056641" w="5505345">
                  <a:moveTo>
                    <a:pt x="5505345" y="10030112"/>
                  </a:moveTo>
                  <a:lnTo>
                    <a:pt x="5505345" y="10751841"/>
                  </a:lnTo>
                  <a:cubicBezTo>
                    <a:pt x="5505345" y="10832679"/>
                    <a:pt x="5473233" y="10910206"/>
                    <a:pt x="5416071" y="10967367"/>
                  </a:cubicBezTo>
                  <a:cubicBezTo>
                    <a:pt x="5358910" y="11024528"/>
                    <a:pt x="5281383" y="11056641"/>
                    <a:pt x="5200545" y="11056641"/>
                  </a:cubicBezTo>
                  <a:lnTo>
                    <a:pt x="304800" y="11056641"/>
                  </a:lnTo>
                  <a:cubicBezTo>
                    <a:pt x="136464" y="11056641"/>
                    <a:pt x="0" y="10920177"/>
                    <a:pt x="0" y="10751841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lnTo>
                    <a:pt x="3399008" y="0"/>
                  </a:lnTo>
                </a:path>
              </a:pathLst>
            </a:cu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2" id="32"/>
            <p:cNvSpPr/>
            <p:nvPr/>
          </p:nvSpPr>
          <p:spPr>
            <a:xfrm flipH="true">
              <a:off x="5452225" y="5654429"/>
              <a:ext cx="29583" cy="67579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3373" y="1220741"/>
            <a:ext cx="9565090" cy="62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145" indent="-356072" lvl="1">
              <a:lnSpc>
                <a:spcPts val="5178"/>
              </a:lnSpc>
              <a:buFont typeface="Arial"/>
              <a:buChar char="•"/>
            </a:pPr>
            <a:r>
              <a:rPr lang="en-US" sz="3298" spc="-65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기획 배경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8075" y="1724527"/>
            <a:ext cx="14891139" cy="213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 반복적인 탐색이 중심이 되는 로그라이크 장르 특성상, 고정된 난이도를 제공하는 것은 유저에게 빠르게 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지루함을 느끼게 하거나 불합리한 진입 장벽을 형성함.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 따라서 유저의 플레이 몰입도(OpenCV 기반 감정 데이터)와 게임 결과 데이터를 결합한 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‘동적 난이도 조절 시스템’의 필요성을 인지함.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587" y="12662"/>
            <a:ext cx="956509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b="true" sz="4699" spc="-93">
                <a:solidFill>
                  <a:srgbClr val="F6F5F2">
                    <a:alpha val="80000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1-4. 기획 의도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3373" y="4054978"/>
            <a:ext cx="9565090" cy="62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145" indent="-356072" lvl="1">
              <a:lnSpc>
                <a:spcPts val="5178"/>
              </a:lnSpc>
              <a:buFont typeface="Arial"/>
              <a:buChar char="•"/>
            </a:pPr>
            <a:r>
              <a:rPr lang="en-US" sz="3298" spc="-65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설계 목적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8075" y="4558765"/>
            <a:ext cx="14891139" cy="213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 플레이어별 적응형 경험 제공: 세션(스테이지) 종료 시점에 이전 세션의 데이터를 정밀 판정하여 다음 판의 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난이도 및 할당량을 최적화하고자 함.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 유기적 레벨 디자인 제어: 계산에 따라 할당량과 맵을 구성하는 큐브의 배치와 큐브의 상태를 동적으로 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변환하여, 매 세션마다 유저가 자신의 실력과 몰입도에 알맞은 새로운 긴장감을 느낄 수 있도록 유도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76648" y="3533437"/>
            <a:ext cx="7623268" cy="5140819"/>
          </a:xfrm>
          <a:custGeom>
            <a:avLst/>
            <a:gdLst/>
            <a:ahLst/>
            <a:cxnLst/>
            <a:rect r="r" b="b" t="t" l="l"/>
            <a:pathLst>
              <a:path h="5140819" w="7623268">
                <a:moveTo>
                  <a:pt x="0" y="0"/>
                </a:moveTo>
                <a:lnTo>
                  <a:pt x="7623267" y="0"/>
                </a:lnTo>
                <a:lnTo>
                  <a:pt x="7623267" y="5140819"/>
                </a:lnTo>
                <a:lnTo>
                  <a:pt x="0" y="5140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8075" y="1402884"/>
            <a:ext cx="14891139" cy="159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OpenCV로 수집한 플레이어의 플레이 중 특정 감정의 빈도와 인게임 결과(사망자 수)를 이용한다.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이를 기반으로 차기 스테이지의 난이도를 판정하고, 3개의 스테이지 누적 세션의 최종 성공 여부에 따라 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차기 목표 할당량을 산정한다.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587" y="12662"/>
            <a:ext cx="956509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b="true" sz="4699" spc="-93">
                <a:solidFill>
                  <a:srgbClr val="F6F5F2">
                    <a:alpha val="80000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2-1. 시스템 개요 및 흐름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23606" y="3711258"/>
            <a:ext cx="11040788" cy="996738"/>
          </a:xfrm>
          <a:custGeom>
            <a:avLst/>
            <a:gdLst/>
            <a:ahLst/>
            <a:cxnLst/>
            <a:rect r="r" b="b" t="t" l="l"/>
            <a:pathLst>
              <a:path h="996738" w="11040788">
                <a:moveTo>
                  <a:pt x="0" y="0"/>
                </a:moveTo>
                <a:lnTo>
                  <a:pt x="11040788" y="0"/>
                </a:lnTo>
                <a:lnTo>
                  <a:pt x="11040788" y="996738"/>
                </a:lnTo>
                <a:lnTo>
                  <a:pt x="0" y="996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8075" y="1402884"/>
            <a:ext cx="14891139" cy="106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매</a:t>
            </a: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 판(세션) 종료 시점(기지의 Lever 조작 혹은 제한 시간 10분 경과)에 수집된 누적 부정적 감정(Fear, Surprise, Sad) 및 사망자 수 데이터를 기반으로 차기 세션의 난이도를 3단계(쉬움, 보통, 어려움)로 분류함.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587" y="12662"/>
            <a:ext cx="956509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b="true" sz="4699" spc="-93">
                <a:solidFill>
                  <a:srgbClr val="F6F5F2">
                    <a:alpha val="80000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2-2. 다음 스테이지 난이도 판정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3373" y="2990512"/>
            <a:ext cx="9565090" cy="62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145" indent="-356072" lvl="1">
              <a:lnSpc>
                <a:spcPts val="5178"/>
              </a:lnSpc>
              <a:buFont typeface="Arial"/>
              <a:buChar char="•"/>
            </a:pPr>
            <a:r>
              <a:rPr lang="en-US" sz="3298" spc="-65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난이도 결정 점수 수직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8075" y="4679421"/>
            <a:ext cx="14891139" cy="159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부정적 감정을 많이 느꼈거나 사망자가 발생할수록 유저가 현재 환경을 어렵게 체감하고 있다는 반증이므로, 점수가 높을수록 다음 판의 난이도가 하향</a:t>
            </a: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 조정(완화)되도록 설계함.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플레이어 수와 예상 감정 횟수 기준치(K)를 분모에 배치하여 유저 수에 따른 데이터 편차를 정규화함.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23606" y="1241896"/>
            <a:ext cx="11040788" cy="996738"/>
          </a:xfrm>
          <a:custGeom>
            <a:avLst/>
            <a:gdLst/>
            <a:ahLst/>
            <a:cxnLst/>
            <a:rect r="r" b="b" t="t" l="l"/>
            <a:pathLst>
              <a:path h="996738" w="11040788">
                <a:moveTo>
                  <a:pt x="0" y="0"/>
                </a:moveTo>
                <a:lnTo>
                  <a:pt x="11040788" y="0"/>
                </a:lnTo>
                <a:lnTo>
                  <a:pt x="11040788" y="996738"/>
                </a:lnTo>
                <a:lnTo>
                  <a:pt x="0" y="996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88245" y="3156411"/>
            <a:ext cx="13111511" cy="3974178"/>
            <a:chOff x="0" y="0"/>
            <a:chExt cx="17482014" cy="52989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341771" cy="3758680"/>
            </a:xfrm>
            <a:custGeom>
              <a:avLst/>
              <a:gdLst/>
              <a:ahLst/>
              <a:cxnLst/>
              <a:rect r="r" b="b" t="t" l="l"/>
              <a:pathLst>
                <a:path h="3758680" w="17341771">
                  <a:moveTo>
                    <a:pt x="0" y="0"/>
                  </a:moveTo>
                  <a:lnTo>
                    <a:pt x="17341771" y="0"/>
                  </a:lnTo>
                  <a:lnTo>
                    <a:pt x="17341771" y="3758680"/>
                  </a:lnTo>
                  <a:lnTo>
                    <a:pt x="0" y="3758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74066" y="3758680"/>
              <a:ext cx="17307948" cy="1540225"/>
            </a:xfrm>
            <a:custGeom>
              <a:avLst/>
              <a:gdLst/>
              <a:ahLst/>
              <a:cxnLst/>
              <a:rect r="r" b="b" t="t" l="l"/>
              <a:pathLst>
                <a:path h="1540225" w="17307948">
                  <a:moveTo>
                    <a:pt x="0" y="0"/>
                  </a:moveTo>
                  <a:lnTo>
                    <a:pt x="17307948" y="0"/>
                  </a:lnTo>
                  <a:lnTo>
                    <a:pt x="17307948" y="1540225"/>
                  </a:lnTo>
                  <a:lnTo>
                    <a:pt x="0" y="1540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587" y="12662"/>
            <a:ext cx="956509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b="true" sz="4699" spc="-93">
                <a:solidFill>
                  <a:srgbClr val="F6F5F2">
                    <a:alpha val="80000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2-2. 다음 스테이지 난이도 판정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3373" y="2333526"/>
            <a:ext cx="9565090" cy="62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145" indent="-356072" lvl="1">
              <a:lnSpc>
                <a:spcPts val="5178"/>
              </a:lnSpc>
              <a:buFont typeface="Arial"/>
              <a:buChar char="•"/>
            </a:pPr>
            <a:r>
              <a:rPr lang="en-US" sz="3298" spc="-65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데이터 타입 및 기획자 조절 파라미터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23606" y="1241896"/>
            <a:ext cx="11040788" cy="996738"/>
          </a:xfrm>
          <a:custGeom>
            <a:avLst/>
            <a:gdLst/>
            <a:ahLst/>
            <a:cxnLst/>
            <a:rect r="r" b="b" t="t" l="l"/>
            <a:pathLst>
              <a:path h="996738" w="11040788">
                <a:moveTo>
                  <a:pt x="0" y="0"/>
                </a:moveTo>
                <a:lnTo>
                  <a:pt x="11040788" y="0"/>
                </a:lnTo>
                <a:lnTo>
                  <a:pt x="11040788" y="996738"/>
                </a:lnTo>
                <a:lnTo>
                  <a:pt x="0" y="996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08075" y="4337658"/>
            <a:ext cx="5997769" cy="2761859"/>
          </a:xfrm>
          <a:custGeom>
            <a:avLst/>
            <a:gdLst/>
            <a:ahLst/>
            <a:cxnLst/>
            <a:rect r="r" b="b" t="t" l="l"/>
            <a:pathLst>
              <a:path h="2761859" w="5997769">
                <a:moveTo>
                  <a:pt x="0" y="0"/>
                </a:moveTo>
                <a:lnTo>
                  <a:pt x="5997768" y="0"/>
                </a:lnTo>
                <a:lnTo>
                  <a:pt x="5997768" y="2761859"/>
                </a:lnTo>
                <a:lnTo>
                  <a:pt x="0" y="2761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587" y="12662"/>
            <a:ext cx="956509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b="true" sz="4699" spc="-93">
                <a:solidFill>
                  <a:srgbClr val="F6F5F2">
                    <a:alpha val="80000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2-2. 다음 스테이지 난이도 판정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3373" y="2333526"/>
            <a:ext cx="9565090" cy="62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145" indent="-356072" lvl="1">
              <a:lnSpc>
                <a:spcPts val="5178"/>
              </a:lnSpc>
              <a:buFont typeface="Arial"/>
              <a:buChar char="•"/>
            </a:pPr>
            <a:r>
              <a:rPr lang="en-US" sz="3298" spc="-65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난이도 확정 예외 처리 및 조건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8075" y="3054830"/>
            <a:ext cx="14891139" cy="106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첫</a:t>
            </a: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 판은 무조건 ‘보통’ 난이도로 시작한다.</a:t>
            </a:r>
          </a:p>
          <a:p>
            <a:pPr algn="l">
              <a:lnSpc>
                <a:spcPts val="4238"/>
              </a:lnSpc>
            </a:pPr>
            <a:r>
              <a:rPr lang="en-US" sz="2699" spc="-53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점수에 따라 다음 판의 난이도가 결정된다.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33998"/>
            <a:ext cx="9565090" cy="2224943"/>
            <a:chOff x="0" y="0"/>
            <a:chExt cx="12753454" cy="29665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35451" y="853607"/>
              <a:ext cx="7739122" cy="2112984"/>
            </a:xfrm>
            <a:custGeom>
              <a:avLst/>
              <a:gdLst/>
              <a:ahLst/>
              <a:cxnLst/>
              <a:rect r="r" b="b" t="t" l="l"/>
              <a:pathLst>
                <a:path h="2112984" w="7739122">
                  <a:moveTo>
                    <a:pt x="0" y="0"/>
                  </a:moveTo>
                  <a:lnTo>
                    <a:pt x="7739122" y="0"/>
                  </a:lnTo>
                  <a:lnTo>
                    <a:pt x="7739122" y="2112983"/>
                  </a:lnTo>
                  <a:lnTo>
                    <a:pt x="0" y="2112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23825"/>
              <a:ext cx="12753454" cy="7934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12145" indent="-356072" lvl="1">
                <a:lnSpc>
                  <a:spcPts val="5178"/>
                </a:lnSpc>
                <a:buFont typeface="Arial"/>
                <a:buChar char="•"/>
              </a:pPr>
              <a:r>
                <a:rPr lang="en-US" sz="3298" spc="-65">
                  <a:solidFill>
                    <a:srgbClr val="F6F5F2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차기 할당량 계산 공식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62411" y="4465951"/>
            <a:ext cx="10368167" cy="1083241"/>
          </a:xfrm>
          <a:custGeom>
            <a:avLst/>
            <a:gdLst/>
            <a:ahLst/>
            <a:cxnLst/>
            <a:rect r="r" b="b" t="t" l="l"/>
            <a:pathLst>
              <a:path h="1083241" w="10368167">
                <a:moveTo>
                  <a:pt x="0" y="0"/>
                </a:moveTo>
                <a:lnTo>
                  <a:pt x="10368167" y="0"/>
                </a:lnTo>
                <a:lnTo>
                  <a:pt x="10368167" y="1083242"/>
                </a:lnTo>
                <a:lnTo>
                  <a:pt x="0" y="1083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1951" y="5643990"/>
            <a:ext cx="10972800" cy="4436146"/>
          </a:xfrm>
          <a:custGeom>
            <a:avLst/>
            <a:gdLst/>
            <a:ahLst/>
            <a:cxnLst/>
            <a:rect r="r" b="b" t="t" l="l"/>
            <a:pathLst>
              <a:path h="4436146" w="10972800">
                <a:moveTo>
                  <a:pt x="0" y="0"/>
                </a:moveTo>
                <a:lnTo>
                  <a:pt x="10972800" y="0"/>
                </a:lnTo>
                <a:lnTo>
                  <a:pt x="10972800" y="4436146"/>
                </a:lnTo>
                <a:lnTo>
                  <a:pt x="0" y="4436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65187" y="9469182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587" y="12662"/>
            <a:ext cx="956509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9"/>
              </a:lnSpc>
            </a:pPr>
            <a:r>
              <a:rPr lang="en-US" b="true" sz="4699" spc="-93">
                <a:solidFill>
                  <a:srgbClr val="F6F5F2">
                    <a:alpha val="80000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2-3. 할당량 공식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687540"/>
            <a:ext cx="9565090" cy="62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145" indent="-356072" lvl="1">
              <a:lnSpc>
                <a:spcPts val="5178"/>
              </a:lnSpc>
              <a:buFont typeface="Arial"/>
              <a:buChar char="•"/>
            </a:pPr>
            <a:r>
              <a:rPr lang="en-US" sz="3298" spc="-65">
                <a:solidFill>
                  <a:srgbClr val="F6F5F2"/>
                </a:solidFill>
                <a:latin typeface="Nanum Square"/>
                <a:ea typeface="Nanum Square"/>
                <a:cs typeface="Nanum Square"/>
                <a:sym typeface="Nanum Square"/>
              </a:rPr>
              <a:t>감정 횟수 기반 난이도 배율 공식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DAHP6If7wwE</dc:identifier>
  <dcterms:modified xsi:type="dcterms:W3CDTF">2011-08-01T06:04:30Z</dcterms:modified>
  <cp:revision>1</cp:revision>
  <dc:title> SPACE ROBBER 기획서의 사본</dc:title>
</cp:coreProperties>
</file>