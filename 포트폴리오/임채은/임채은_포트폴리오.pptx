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2"/>
    <p:sldId id="266" r:id="rId3"/>
    <p:sldId id="259" r:id="rId4"/>
    <p:sldId id="261" r:id="rId5"/>
    <p:sldId id="285" r:id="rId6"/>
    <p:sldId id="286" r:id="rId7"/>
    <p:sldId id="287" r:id="rId8"/>
    <p:sldId id="288" r:id="rId9"/>
    <p:sldId id="281" r:id="rId10"/>
    <p:sldId id="283" r:id="rId11"/>
    <p:sldId id="284" r:id="rId12"/>
    <p:sldId id="282" r:id="rId13"/>
    <p:sldId id="276" r:id="rId14"/>
  </p:sldIdLst>
  <p:sldSz cx="12192000" cy="6858000"/>
  <p:notesSz cx="6858000" cy="9144000"/>
  <p:embeddedFontLs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64F6"/>
    <a:srgbClr val="DAE8FE"/>
    <a:srgbClr val="EF678E"/>
    <a:srgbClr val="661AEE"/>
    <a:srgbClr val="FFD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3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3EF17-7DFD-20E2-4C9C-7ABAE5E6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693B33-B98B-EB90-FA6E-58E436833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F37EB-FD4E-3EC6-7D7E-57404181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230B01-260A-447E-4903-ACD6FD748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9D5E77-121C-2BF8-9DE0-C68822D4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05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70BF34-C661-8A5F-7134-73DEA6CC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58FF2A-8FD5-A0DB-DAE6-9FF1AF940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EFC1A6-24FC-F38D-6620-B0DCF3AB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D9626-563F-2C44-2EA4-755E2E76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187C85-0D4E-53C9-2E82-E4510481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47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CF9394-5B36-9C4F-21C8-628F8550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9392C3-A78F-6EB5-BBDF-4DE832DC3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5A341-DD10-96E3-6B12-92A11515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88ACF3-3AB8-72A1-7D10-E01A5291A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506021-6503-83A4-134A-0E799E5F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25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94A9B-24E1-6946-7732-95FFC4AB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7C7FC8-1FDB-FCDE-185B-2193A11D3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097AD9-B795-A885-E781-590E0920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EBD41E-E1EE-94E4-77CA-94CAF041C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662B1F-20B3-D05B-3AB3-2D600ED6A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4319F4-B66A-1246-6E60-E8148380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80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8C6479-5F7A-1958-D9DA-FBD28654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9563F2-40AB-1B32-C799-D9DC3F3D4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2FE55-784D-0AEC-CCA4-B697A6A7E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70B1E1-1B2A-55DB-0D45-18E562170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176957-89BC-9B37-6D2F-C79C9D114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FA46D9-2AD1-BCFC-0FB9-1384C296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F6D4DF-1A26-B9E2-A837-37FFD43F6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42DE2E-FC33-5123-F407-4B541E6A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59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FB7C2-9E45-3DD8-BE3A-272005B2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A7997E-636F-0BBA-857E-2C953D79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5D4137-06CB-9010-1937-F510DF04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823910-51A8-3801-2A3C-8378A450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07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0DDC5A-FDE2-45A5-6A40-1226661F7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190C03-A321-372E-2682-1E0E1C2A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2E87C-21AA-BC8C-24F9-8F135C29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52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8DBC1-CF0A-E9DD-9660-527E4E3C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E4BDFE-9718-3ACE-294E-BC3A6CB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44697B-DFEA-27A1-365E-0825CA7E2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5A4590-8FF0-2CF8-9AD7-F4F0CE34E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559189-FBE2-4011-5ED2-ABCF49EA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1B929E-1595-4848-70C1-F1AACDA1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66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1F802-D73B-E151-B689-9D887A707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49A6E6-85FD-28E5-94B8-968263ED1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AA84E-D11F-6D67-A2DD-F97342490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981EDD-6F1D-B81F-42C4-774639AF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DF35AE-16A3-BBE6-2DA6-074962F80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A1F654-F5D9-B093-9F8F-CA98CC38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209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70B83-E781-7EC3-301C-ED185A260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7169CD-9341-180E-D3E6-6DD7E86F8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D9193-5A15-EAF3-1521-059C02EC3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3D5FB2-A0DE-5B01-6FA0-D004D51B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EA09C1-E709-7BEA-E852-71F25EDF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5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46D469-3AE9-49C3-B480-DDAA4B1E8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E87519-E09F-AF6E-66DF-9C244716E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47D62-9D0F-D468-5FEE-E9BDFD6F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FB47E8-E8F1-2598-3904-045727D7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3CA627-63F3-566D-27E6-D8A2A78D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02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AC28E0-5168-0837-34C9-9A2A79835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E8D1E8-B3E4-56E3-112A-3750B5876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915C5-48E1-4AC1-1241-AA69B5FB1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4B1D0-4111-4785-B955-D0EB197C58E8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FB3436-33F0-07C4-69BF-6DC38D39F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CEDE0-6F5F-468F-AA83-47E234438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6BD2F-DE4F-4647-A4D9-761DFC96AC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71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hyperlink" Target="https://github.com/chaeeun-dev" TargetMode="Externa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v.org/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github.com/kimi5231/B1A2_project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github.com/opencv/opencv/tree/master/data/haarcascades" TargetMode="External"/><Relationship Id="rId7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s://onnx.ai/" TargetMode="External"/><Relationship Id="rId4" Type="http://schemas.openxmlformats.org/officeDocument/2006/relationships/hyperlink" Target="https://www.kaggle.com/datasets/msambare/fer2013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imi5231/B1A2_project/blob/main/%EC%A0%9C%EC%B6%9C%20%EB%B0%8F%20%EB%B0%9C%ED%91%9C%20%EC%9E%90%EB%A3%8C/OpenCV%20%EA%B8%B0%EB%B0%98%20%EC%8B%A4%EC%8B%9C%EA%B0%84%20%EA%B0%90%EC%A0%95%20%EC%9D%B8%EC%8B%9D%EC%9D%84%20%ED%99%9C%EC%9A%A9%ED%95%9C%20%EB%AA%B0%EC%9E%85%ED%98%95%20%EA%B2%8C%EC%9E%84%20%ED%99%98%EA%B2%BD%20%EC%84%A4%EA%B3%84.pdf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hyperlink" Target="https://github.com/kimi5231/B1A2_project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github.com/kimi5231/NGP_project" TargetMode="Externa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DEA149-A408-8EB4-2AC4-5D92364EC99D}"/>
              </a:ext>
            </a:extLst>
          </p:cNvPr>
          <p:cNvSpPr txBox="1"/>
          <p:nvPr/>
        </p:nvSpPr>
        <p:spPr>
          <a:xfrm>
            <a:off x="723035" y="1333091"/>
            <a:ext cx="5764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클라이언트 프로그래밍</a:t>
            </a:r>
            <a:endParaRPr lang="en-US" altLang="ko-KR" sz="4800" dirty="0"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포트폴리오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F6A96-0A9E-E2DC-704C-F7DC0B60E9D8}"/>
              </a:ext>
            </a:extLst>
          </p:cNvPr>
          <p:cNvSpPr txBox="1"/>
          <p:nvPr/>
        </p:nvSpPr>
        <p:spPr>
          <a:xfrm rot="16200000">
            <a:off x="9771153" y="1543794"/>
            <a:ext cx="3667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bg1">
                    <a:lumMod val="9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PORTFOLIO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025C5C7-376A-8219-04E4-A10FAD44B468}"/>
              </a:ext>
            </a:extLst>
          </p:cNvPr>
          <p:cNvGrpSpPr/>
          <p:nvPr/>
        </p:nvGrpSpPr>
        <p:grpSpPr>
          <a:xfrm>
            <a:off x="723035" y="4866113"/>
            <a:ext cx="5317173" cy="1257139"/>
            <a:chOff x="1233258" y="4984565"/>
            <a:chExt cx="5317173" cy="125713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6CCC7F-4CE0-1096-6514-6DA86B5848EE}"/>
                </a:ext>
              </a:extLst>
            </p:cNvPr>
            <p:cNvSpPr txBox="1"/>
            <p:nvPr/>
          </p:nvSpPr>
          <p:spPr>
            <a:xfrm>
              <a:off x="1233258" y="4984565"/>
              <a:ext cx="5317173" cy="1257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임채은</a:t>
              </a:r>
              <a:endPara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    010-5744-2840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    ce0118ce@naver.com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B621660-9D45-C095-6853-916D73E04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4891" y="5523180"/>
              <a:ext cx="185143" cy="33230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A39C73A-9FCD-AF08-9DAD-4B56C27A6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1171" y="6002945"/>
              <a:ext cx="270000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112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ED5468-6F79-B777-DC55-3330C88DE7A8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C9DAAC1-4FFD-70FB-9162-AA373A8E4275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8F9D513-32F5-37F3-A2A8-38EA2CBEE95B}"/>
              </a:ext>
            </a:extLst>
          </p:cNvPr>
          <p:cNvSpPr txBox="1"/>
          <p:nvPr/>
        </p:nvSpPr>
        <p:spPr>
          <a:xfrm>
            <a:off x="1616290" y="4259564"/>
            <a:ext cx="1732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임채은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AD68262-8547-EE5A-58DA-6125A813B794}"/>
              </a:ext>
            </a:extLst>
          </p:cNvPr>
          <p:cNvGrpSpPr/>
          <p:nvPr/>
        </p:nvGrpSpPr>
        <p:grpSpPr>
          <a:xfrm>
            <a:off x="5164594" y="1904381"/>
            <a:ext cx="4085792" cy="979978"/>
            <a:chOff x="5037076" y="2913164"/>
            <a:chExt cx="3722210" cy="866377"/>
          </a:xfrm>
        </p:grpSpPr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9401C00D-420F-1E6F-3665-2FE7C965F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37076" y="2962539"/>
              <a:ext cx="219086" cy="2160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675EE37-CAB3-ED21-0F58-E5E9C2500462}"/>
                </a:ext>
              </a:extLst>
            </p:cNvPr>
            <p:cNvSpPr txBox="1"/>
            <p:nvPr/>
          </p:nvSpPr>
          <p:spPr>
            <a:xfrm>
              <a:off x="5176695" y="2913164"/>
              <a:ext cx="1262205" cy="326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학력</a:t>
              </a: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75B6BFCB-096C-4036-7DC3-2E4936CB93E7}"/>
                </a:ext>
              </a:extLst>
            </p:cNvPr>
            <p:cNvSpPr/>
            <p:nvPr/>
          </p:nvSpPr>
          <p:spPr>
            <a:xfrm>
              <a:off x="5070794" y="3287640"/>
              <a:ext cx="1443286" cy="21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0A64F6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2019.03 ~ 2022.02</a:t>
              </a:r>
              <a:endParaRPr lang="ko-KR" altLang="en-US" sz="12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7BC4B77-B56A-1D4C-6815-7AD47494CE6D}"/>
                </a:ext>
              </a:extLst>
            </p:cNvPr>
            <p:cNvSpPr txBox="1"/>
            <p:nvPr/>
          </p:nvSpPr>
          <p:spPr>
            <a:xfrm>
              <a:off x="6542172" y="3257140"/>
              <a:ext cx="1410997" cy="24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부천여자고등학교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졸업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E3415500-A7F4-E370-6A0A-167BF7D92114}"/>
                </a:ext>
              </a:extLst>
            </p:cNvPr>
            <p:cNvSpPr/>
            <p:nvPr/>
          </p:nvSpPr>
          <p:spPr>
            <a:xfrm>
              <a:off x="5070794" y="3563541"/>
              <a:ext cx="1443285" cy="216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0A64F6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2022.03 ~ 2027.02</a:t>
              </a:r>
              <a:endParaRPr lang="ko-KR" altLang="en-US" sz="12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6B406EC-CEDC-4725-4CA6-7F804E7548E1}"/>
                </a:ext>
              </a:extLst>
            </p:cNvPr>
            <p:cNvSpPr txBox="1"/>
            <p:nvPr/>
          </p:nvSpPr>
          <p:spPr>
            <a:xfrm>
              <a:off x="6542172" y="3533041"/>
              <a:ext cx="2217114" cy="2448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한국공학대학교 게임공학과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졸업 예정</a:t>
              </a: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BA9ECFFB-8710-0A79-6608-DFFEC24478DB}"/>
              </a:ext>
            </a:extLst>
          </p:cNvPr>
          <p:cNvGrpSpPr/>
          <p:nvPr/>
        </p:nvGrpSpPr>
        <p:grpSpPr>
          <a:xfrm>
            <a:off x="5164594" y="3641319"/>
            <a:ext cx="1397089" cy="369332"/>
            <a:chOff x="5041811" y="3990134"/>
            <a:chExt cx="1397089" cy="369332"/>
          </a:xfrm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4A9617AD-BCFB-8427-01AB-88156FCA9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1811" y="4039509"/>
              <a:ext cx="210600" cy="216000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4411BCF-BF36-D9A4-3754-BF683CDC23F9}"/>
                </a:ext>
              </a:extLst>
            </p:cNvPr>
            <p:cNvSpPr txBox="1"/>
            <p:nvPr/>
          </p:nvSpPr>
          <p:spPr>
            <a:xfrm>
              <a:off x="5176695" y="3990134"/>
              <a:ext cx="1262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기술 스택</a:t>
              </a:r>
            </a:p>
          </p:txBody>
        </p:sp>
      </p:grpSp>
      <p:pic>
        <p:nvPicPr>
          <p:cNvPr id="8" name="그림 7">
            <a:hlinkClick r:id="rId4"/>
            <a:extLst>
              <a:ext uri="{FF2B5EF4-FFF2-40B4-BE49-F238E27FC236}">
                <a16:creationId xmlns:a16="http://schemas.microsoft.com/office/drawing/2014/main" id="{81AD0469-E398-288B-8B91-32D8B4E13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498" y="4840221"/>
            <a:ext cx="527978" cy="527978"/>
          </a:xfrm>
          <a:prstGeom prst="rect">
            <a:avLst/>
          </a:prstGeom>
        </p:spPr>
      </p:pic>
      <p:pic>
        <p:nvPicPr>
          <p:cNvPr id="1030" name="Picture 6" descr="Unreal Engine: Revolutionising B2B Marketing and Events - Studio Giggle">
            <a:extLst>
              <a:ext uri="{FF2B5EF4-FFF2-40B4-BE49-F238E27FC236}">
                <a16:creationId xmlns:a16="http://schemas.microsoft.com/office/drawing/2014/main" id="{3EC75AC3-3F70-E738-D713-B1F21EF4B8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9" t="14928" r="26596" b="13297"/>
          <a:stretch/>
        </p:blipFill>
        <p:spPr bwMode="auto">
          <a:xfrm>
            <a:off x="5423813" y="4386983"/>
            <a:ext cx="1052762" cy="108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++ - 위키백과, 우리 모두의 백과사전">
            <a:extLst>
              <a:ext uri="{FF2B5EF4-FFF2-40B4-BE49-F238E27FC236}">
                <a16:creationId xmlns:a16="http://schemas.microsoft.com/office/drawing/2014/main" id="{32F0844E-67D1-6145-892E-2EF64EB3D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706" y="4383027"/>
            <a:ext cx="958428" cy="108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 - 나무위키">
            <a:extLst>
              <a:ext uri="{FF2B5EF4-FFF2-40B4-BE49-F238E27FC236}">
                <a16:creationId xmlns:a16="http://schemas.microsoft.com/office/drawing/2014/main" id="{45D51CB8-A180-E30B-7367-1EB2F6D49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265" y="4619994"/>
            <a:ext cx="1445648" cy="60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D1C7E22-8EE8-F4A5-6372-E6DE517D1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044" y="4383027"/>
            <a:ext cx="1052762" cy="104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FE4BBA3-62E5-76DD-7FD0-AE7896A91B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9159" y="2092359"/>
            <a:ext cx="1986658" cy="19866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8D08AC-6335-EB0C-7B71-3C456767A3A5}"/>
              </a:ext>
            </a:extLst>
          </p:cNvPr>
          <p:cNvSpPr txBox="1"/>
          <p:nvPr/>
        </p:nvSpPr>
        <p:spPr>
          <a:xfrm>
            <a:off x="2845515" y="1442716"/>
            <a:ext cx="174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증명사진 찍고</a:t>
            </a:r>
            <a:endParaRPr lang="en-US" altLang="ko-KR" sz="1400" b="1" dirty="0">
              <a:solidFill>
                <a:srgbClr val="FF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1400" b="1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대체할 예정</a:t>
            </a:r>
            <a:endParaRPr lang="en-US" altLang="ko-KR" sz="1400" b="1" dirty="0">
              <a:solidFill>
                <a:srgbClr val="FF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5" name="연결선: 구부러짐 4">
            <a:extLst>
              <a:ext uri="{FF2B5EF4-FFF2-40B4-BE49-F238E27FC236}">
                <a16:creationId xmlns:a16="http://schemas.microsoft.com/office/drawing/2014/main" id="{20C5F60B-BCB6-F82D-CAE1-0F3C1B5AD34C}"/>
              </a:ext>
            </a:extLst>
          </p:cNvPr>
          <p:cNvCxnSpPr>
            <a:cxnSpLocks/>
            <a:stCxn id="9" idx="1"/>
            <a:endCxn id="2" idx="0"/>
          </p:cNvCxnSpPr>
          <p:nvPr/>
        </p:nvCxnSpPr>
        <p:spPr>
          <a:xfrm rot="10800000" flipV="1">
            <a:off x="2482489" y="1704325"/>
            <a:ext cx="363027" cy="38803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68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5C0482-F06B-E79A-297A-07B56B1C12F4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0614320-ED5A-132E-08A7-B81DC9BF9DCC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E3FC58A-E71C-804A-C3C9-BFC80F7A4FCC}"/>
              </a:ext>
            </a:extLst>
          </p:cNvPr>
          <p:cNvGrpSpPr/>
          <p:nvPr/>
        </p:nvGrpSpPr>
        <p:grpSpPr>
          <a:xfrm>
            <a:off x="334408" y="1107571"/>
            <a:ext cx="2316762" cy="461665"/>
            <a:chOff x="334408" y="1006575"/>
            <a:chExt cx="2316762" cy="46166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69A913-7277-DBD3-C9DB-188A8697D761}"/>
                </a:ext>
              </a:extLst>
            </p:cNvPr>
            <p:cNvSpPr txBox="1"/>
            <p:nvPr/>
          </p:nvSpPr>
          <p:spPr>
            <a:xfrm>
              <a:off x="712819" y="1006575"/>
              <a:ext cx="19383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프로젝트 목차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10E1A02-A63E-4FE3-F5DF-6FB9468ECD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A43DDE3-6578-ECB9-FFC3-4BC9A4F5856E}"/>
              </a:ext>
            </a:extLst>
          </p:cNvPr>
          <p:cNvSpPr txBox="1"/>
          <p:nvPr/>
        </p:nvSpPr>
        <p:spPr>
          <a:xfrm>
            <a:off x="712819" y="2090172"/>
            <a:ext cx="275947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Space Robber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Magical Subway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대초원의 모험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3477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E05AB6E-61C9-76A1-77E5-17EE76E6C198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3529AF0-E085-A702-B7B1-BA6E400B3445}"/>
              </a:ext>
            </a:extLst>
          </p:cNvPr>
          <p:cNvGrpSpPr/>
          <p:nvPr/>
        </p:nvGrpSpPr>
        <p:grpSpPr>
          <a:xfrm>
            <a:off x="985587" y="1260546"/>
            <a:ext cx="10220828" cy="4379033"/>
            <a:chOff x="712819" y="1874827"/>
            <a:chExt cx="10359198" cy="437903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12D4C1F-AAFD-9E57-8C22-2C764BECDBB3}"/>
                </a:ext>
              </a:extLst>
            </p:cNvPr>
            <p:cNvGrpSpPr/>
            <p:nvPr/>
          </p:nvGrpSpPr>
          <p:grpSpPr>
            <a:xfrm>
              <a:off x="750527" y="1874827"/>
              <a:ext cx="2694091" cy="466923"/>
              <a:chOff x="923924" y="2145247"/>
              <a:chExt cx="2694091" cy="46692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C7AEFF14-6933-D29B-66A6-7F64F6156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924" y="2249006"/>
                <a:ext cx="242087" cy="288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B00062-A71F-11AA-1DB7-9D4CC26E39F2}"/>
                  </a:ext>
                </a:extLst>
              </p:cNvPr>
              <p:cNvSpPr txBox="1"/>
              <p:nvPr/>
            </p:nvSpPr>
            <p:spPr>
              <a:xfrm>
                <a:off x="1166011" y="2145247"/>
                <a:ext cx="2452004" cy="466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한국공학대학교 졸업작품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1AE5D52C-61C9-4683-1F73-988C5E058992}"/>
                </a:ext>
              </a:extLst>
            </p:cNvPr>
            <p:cNvGrpSpPr/>
            <p:nvPr/>
          </p:nvGrpSpPr>
          <p:grpSpPr>
            <a:xfrm>
              <a:off x="712819" y="2283151"/>
              <a:ext cx="10359198" cy="3970709"/>
              <a:chOff x="712819" y="2273626"/>
              <a:chExt cx="10359198" cy="3970709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94E08415-E84F-5C46-D497-41724B87A9FE}"/>
                  </a:ext>
                </a:extLst>
              </p:cNvPr>
              <p:cNvGrpSpPr/>
              <p:nvPr/>
            </p:nvGrpSpPr>
            <p:grpSpPr>
              <a:xfrm>
                <a:off x="712819" y="2273626"/>
                <a:ext cx="4568779" cy="2888692"/>
                <a:chOff x="712819" y="2273626"/>
                <a:chExt cx="4568779" cy="2888692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BA6EF8C-7904-29B8-8FDA-009F2B3E2664}"/>
                    </a:ext>
                  </a:extLst>
                </p:cNvPr>
                <p:cNvSpPr txBox="1"/>
                <p:nvPr/>
              </p:nvSpPr>
              <p:spPr>
                <a:xfrm>
                  <a:off x="819705" y="2612709"/>
                  <a:ext cx="4461893" cy="25496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ko-KR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Unreal Engine5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1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인칭 협동 자원 수집 멀티 플레이 게임</a:t>
                  </a:r>
                  <a:endParaRPr lang="en-US" altLang="ko-K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1~4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인 실시간 협동 플레이를 기반으로 한 자원 수집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·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생존 게임입니다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플레이어는 제한된 시간 동안 </a:t>
                  </a:r>
                  <a:r>
                    <a:rPr lang="ko-KR" altLang="en-US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맵을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탐험하며 자원을 수집하고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몬스터와 함정을 피해 제한 시간 내 기지로 복귀해야 합니다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수집한 자원을 판매하여 장비를 구입하고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할당량을 채우는 것을 목표로 합니다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또한 </a:t>
                  </a:r>
                  <a:r>
                    <a:rPr lang="en-US" altLang="ko-KR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hlinkClick r:id="rId3"/>
                    </a:rPr>
                    <a:t>OpenCV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기반 실시간 감정 인식 시스템을 적용하여 플레이어의 감정 상태에 따라 게임 환경과 난이도가 변화하는 몰입형 게임 플레이를 제공합니다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161A1A0-1CF9-ECD6-C5AF-BDD6D9B1C6E5}"/>
                    </a:ext>
                  </a:extLst>
                </p:cNvPr>
                <p:cNvSpPr txBox="1"/>
                <p:nvPr/>
              </p:nvSpPr>
              <p:spPr>
                <a:xfrm>
                  <a:off x="712819" y="2273626"/>
                  <a:ext cx="1202606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게임 설명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C02548F0-F950-C3E3-E060-28B1DFE683EA}"/>
                  </a:ext>
                </a:extLst>
              </p:cNvPr>
              <p:cNvGrpSpPr/>
              <p:nvPr/>
            </p:nvGrpSpPr>
            <p:grpSpPr>
              <a:xfrm>
                <a:off x="6503238" y="2273626"/>
                <a:ext cx="4568779" cy="3970709"/>
                <a:chOff x="6503238" y="1031913"/>
                <a:chExt cx="4568779" cy="3970709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8349C27-147F-1DD1-EC72-8CC071E08A1A}"/>
                    </a:ext>
                  </a:extLst>
                </p:cNvPr>
                <p:cNvSpPr txBox="1"/>
                <p:nvPr/>
              </p:nvSpPr>
              <p:spPr>
                <a:xfrm>
                  <a:off x="6610123" y="1345018"/>
                  <a:ext cx="4461894" cy="36576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인원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3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(</a:t>
                  </a: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클라이언트 </a:t>
                  </a:r>
                  <a:r>
                    <a:rPr lang="en-US" altLang="ko-KR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1</a:t>
                  </a: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 </a:t>
                  </a:r>
                  <a:r>
                    <a:rPr lang="en-US" altLang="ko-KR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– </a:t>
                  </a: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본인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서버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1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기획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1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)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기간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2025.12 ~ 2026.06 (7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개월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)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담당 업무</a:t>
                  </a:r>
                  <a:endParaRPr lang="en-US" altLang="ko-KR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628650" lvl="1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클라이언트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(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네트워크 동기화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OpenCV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시스템 구현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인벤토리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〮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상점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〮 UI,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마이크 입출력 시스템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)</a:t>
                  </a:r>
                </a:p>
                <a:p>
                  <a:pPr marL="628650" lvl="1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목적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기획 문서를 바탕으로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Unreal Engine 5.6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환경에서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1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인칭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3D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온라인 게임을 구현하고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서버 패킷 처리와 객체 동기화를 통해 실시간 멀티플레이 시스템을 개발하는 것입니다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더불어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OpenCV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라이브러리를 활용한 감정 인식 기능을 게임에 연동하여 플레이어의 몰입감을 향상시키고자 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  <a:p>
                  <a:pPr marL="628650" lvl="1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기술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Unreal Engine 5.6, C++14, OpenCV + ONNX, Gemini XX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9EBAF60-8486-CFF0-4A5A-FD6BBA225408}"/>
                    </a:ext>
                  </a:extLst>
                </p:cNvPr>
                <p:cNvSpPr txBox="1"/>
                <p:nvPr/>
              </p:nvSpPr>
              <p:spPr>
                <a:xfrm>
                  <a:off x="6503238" y="1031913"/>
                  <a:ext cx="1202606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게임 개발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E712ABF-7EAB-5955-2906-0AE5E885C180}"/>
              </a:ext>
            </a:extLst>
          </p:cNvPr>
          <p:cNvGrpSpPr/>
          <p:nvPr/>
        </p:nvGrpSpPr>
        <p:grpSpPr>
          <a:xfrm>
            <a:off x="334408" y="860436"/>
            <a:ext cx="2422432" cy="400110"/>
            <a:chOff x="334408" y="1006575"/>
            <a:chExt cx="2422432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FFD866-1F71-4B4E-86A2-AB7F792FCB07}"/>
                </a:ext>
              </a:extLst>
            </p:cNvPr>
            <p:cNvSpPr txBox="1"/>
            <p:nvPr/>
          </p:nvSpPr>
          <p:spPr>
            <a:xfrm>
              <a:off x="712819" y="1006575"/>
              <a:ext cx="20440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1. Space Robber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D30003E-0567-6A22-008A-CD203E81F9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pic>
        <p:nvPicPr>
          <p:cNvPr id="2" name="그림 1">
            <a:hlinkClick r:id="rId5"/>
            <a:extLst>
              <a:ext uri="{FF2B5EF4-FFF2-40B4-BE49-F238E27FC236}">
                <a16:creationId xmlns:a16="http://schemas.microsoft.com/office/drawing/2014/main" id="{F12C432D-F5D7-75C8-29A2-4D400F9CDA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3519" y="1080306"/>
            <a:ext cx="785787" cy="785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EEE9FC-7CE4-88FB-8FC1-80D90326C9DE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4B117E5-6990-93ED-FF1A-89C4E9133E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6231" y="4976971"/>
            <a:ext cx="2826397" cy="15898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A354DA-97EE-FC0E-91DA-111330414AC9}"/>
              </a:ext>
            </a:extLst>
          </p:cNvPr>
          <p:cNvSpPr txBox="1"/>
          <p:nvPr/>
        </p:nvSpPr>
        <p:spPr>
          <a:xfrm>
            <a:off x="9560790" y="1198008"/>
            <a:ext cx="880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영상 찍고</a:t>
            </a:r>
            <a:endParaRPr lang="en-US" altLang="ko-KR" sz="1400" b="1" dirty="0">
              <a:solidFill>
                <a:srgbClr val="FF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1400" b="1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넣을 예정</a:t>
            </a:r>
            <a:endParaRPr lang="en-US" altLang="ko-KR" sz="1400" b="1" dirty="0">
              <a:solidFill>
                <a:srgbClr val="FF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136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AB49-138B-90E5-A38D-8D39778D0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2ED065E-6509-5F7C-2C51-10E9E4380FC5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2F07F6A-9D58-C29F-79B8-F9A875B3E6E9}"/>
              </a:ext>
            </a:extLst>
          </p:cNvPr>
          <p:cNvGrpSpPr/>
          <p:nvPr/>
        </p:nvGrpSpPr>
        <p:grpSpPr>
          <a:xfrm>
            <a:off x="985587" y="1260546"/>
            <a:ext cx="4507753" cy="4999883"/>
            <a:chOff x="712819" y="1874827"/>
            <a:chExt cx="4568779" cy="499988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BA347EB-1276-E2F1-F3A9-25089046CC47}"/>
                </a:ext>
              </a:extLst>
            </p:cNvPr>
            <p:cNvGrpSpPr/>
            <p:nvPr/>
          </p:nvGrpSpPr>
          <p:grpSpPr>
            <a:xfrm>
              <a:off x="750527" y="1874827"/>
              <a:ext cx="1761511" cy="466923"/>
              <a:chOff x="923924" y="2145247"/>
              <a:chExt cx="1761511" cy="46692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2B730587-D024-5A54-5137-C34E1DC2FF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924" y="2249006"/>
                <a:ext cx="242087" cy="288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8F9FE2-9567-98DE-05C8-F58D169175CC}"/>
                  </a:ext>
                </a:extLst>
              </p:cNvPr>
              <p:cNvSpPr txBox="1"/>
              <p:nvPr/>
            </p:nvSpPr>
            <p:spPr>
              <a:xfrm>
                <a:off x="1166011" y="2145247"/>
                <a:ext cx="1519424" cy="466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게임 구현 설명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D533B81C-241B-D3E4-90AC-46E8FD262FA1}"/>
                </a:ext>
              </a:extLst>
            </p:cNvPr>
            <p:cNvGrpSpPr/>
            <p:nvPr/>
          </p:nvGrpSpPr>
          <p:grpSpPr>
            <a:xfrm>
              <a:off x="712819" y="2291860"/>
              <a:ext cx="4568779" cy="4582850"/>
              <a:chOff x="712819" y="2282335"/>
              <a:chExt cx="4568779" cy="4582850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79CD8A-236C-DC54-1A11-BA105A33D6DC}"/>
                  </a:ext>
                </a:extLst>
              </p:cNvPr>
              <p:cNvSpPr txBox="1"/>
              <p:nvPr/>
            </p:nvSpPr>
            <p:spPr>
              <a:xfrm>
                <a:off x="819705" y="2612709"/>
                <a:ext cx="4461893" cy="1353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GameInstance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에서 네트워크 송수신 모듈을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(</a:t>
                </a:r>
                <a:r>
                  <a:rPr lang="en-US" altLang="ko-KR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GameNetwork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)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관리하고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게임 로직이 실행되는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Main Thread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와 별도로 </a:t>
                </a:r>
                <a:r>
                  <a:rPr lang="en-US" altLang="ko-KR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Recv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Thread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를 생성하여 네트워크 처리를 수행했습니다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45D021-9938-2310-7BE5-FFB4FA9D71A8}"/>
                  </a:ext>
                </a:extLst>
              </p:cNvPr>
              <p:cNvSpPr txBox="1"/>
              <p:nvPr/>
            </p:nvSpPr>
            <p:spPr>
              <a:xfrm>
                <a:off x="712819" y="2282335"/>
                <a:ext cx="1738759" cy="425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▼ 네트워크 동기화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874FD3-9760-298A-9E5C-69FC7484C3CE}"/>
                  </a:ext>
                </a:extLst>
              </p:cNvPr>
              <p:cNvSpPr txBox="1"/>
              <p:nvPr/>
            </p:nvSpPr>
            <p:spPr>
              <a:xfrm>
                <a:off x="819705" y="4219332"/>
                <a:ext cx="4461893" cy="2645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플레이어의 위치 동기화는 </a:t>
                </a:r>
                <a:r>
                  <a:rPr lang="en-US" altLang="ko-KR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MyPlayer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::Tick()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에서 수행하지만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매 프레임 패킷을 전송하지 않도록 최적화했습니다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일정 시간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(MOVE_PACKET_SEND_DELAY)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마다 전송 여부를 검사하고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현재 위치와 회전을 이전에 전송한 값과 비교합니다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위치와 회전에 실제 변화가 발생한 경우에만 패킷을 전송하도록 구현했습니다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이를 통해 불필요한 패킷 처리를 줄여 서버 부하와 네트워크 트래픽을 감소시켰습니다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7FABEB-76A1-C531-5E6F-FB86281E0257}"/>
                  </a:ext>
                </a:extLst>
              </p:cNvPr>
              <p:cNvSpPr txBox="1"/>
              <p:nvPr/>
            </p:nvSpPr>
            <p:spPr>
              <a:xfrm>
                <a:off x="712819" y="3888958"/>
                <a:ext cx="2154683" cy="425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▼ 플레이어 이동 동기화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15D4041-553B-212F-3937-C7F5F5931D32}"/>
              </a:ext>
            </a:extLst>
          </p:cNvPr>
          <p:cNvGrpSpPr/>
          <p:nvPr/>
        </p:nvGrpSpPr>
        <p:grpSpPr>
          <a:xfrm>
            <a:off x="334408" y="860436"/>
            <a:ext cx="2422432" cy="400110"/>
            <a:chOff x="334408" y="1006575"/>
            <a:chExt cx="2422432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2ED1DE-D33C-3CD3-A904-581C09E802AD}"/>
                </a:ext>
              </a:extLst>
            </p:cNvPr>
            <p:cNvSpPr txBox="1"/>
            <p:nvPr/>
          </p:nvSpPr>
          <p:spPr>
            <a:xfrm>
              <a:off x="712819" y="1006575"/>
              <a:ext cx="20440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1. Space Robber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9303AB4-C37C-ECE0-058A-D1424B31FB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ADF0877-78C7-D7A8-CC0C-0FAAD6832EE3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297DE83-6417-DB39-A7FA-76B17F9DE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408" y="2853141"/>
            <a:ext cx="6000542" cy="396635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4783A02-1E8A-2707-1B33-8D6130808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408" y="1291622"/>
            <a:ext cx="4301826" cy="104142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31B8E76-4315-1902-2B42-B1A5D3993438}"/>
              </a:ext>
            </a:extLst>
          </p:cNvPr>
          <p:cNvSpPr txBox="1"/>
          <p:nvPr/>
        </p:nvSpPr>
        <p:spPr>
          <a:xfrm>
            <a:off x="5706067" y="928074"/>
            <a:ext cx="4239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en-US" altLang="ko-KR" sz="14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GameInstance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 </a:t>
            </a:r>
            <a:r>
              <a:rPr lang="en-US" altLang="ko-KR" sz="14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GameNetwork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와 스레드 생성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36BF21-04AB-366E-2AC4-B84F82E11664}"/>
              </a:ext>
            </a:extLst>
          </p:cNvPr>
          <p:cNvSpPr txBox="1"/>
          <p:nvPr/>
        </p:nvSpPr>
        <p:spPr>
          <a:xfrm>
            <a:off x="5791408" y="2439204"/>
            <a:ext cx="5105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en-US" altLang="ko-KR" sz="14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MyPlayer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 일정 주기마다 위치 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회전 패킷 전송 처리</a:t>
            </a:r>
          </a:p>
        </p:txBody>
      </p:sp>
    </p:spTree>
    <p:extLst>
      <p:ext uri="{BB962C8B-B14F-4D97-AF65-F5344CB8AC3E}">
        <p14:creationId xmlns:p14="http://schemas.microsoft.com/office/powerpoint/2010/main" val="3209747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5B52C-B65D-6209-D646-0A3D4C96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237F8C3-EDCB-AEF1-B3D5-494DEC1334DD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AF0D8ED-838B-394F-51F5-A9D600C92210}"/>
              </a:ext>
            </a:extLst>
          </p:cNvPr>
          <p:cNvGrpSpPr/>
          <p:nvPr/>
        </p:nvGrpSpPr>
        <p:grpSpPr>
          <a:xfrm>
            <a:off x="985587" y="1260546"/>
            <a:ext cx="4507753" cy="2423763"/>
            <a:chOff x="712819" y="1874827"/>
            <a:chExt cx="4568779" cy="242376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336D97F-62BF-84E8-6A9E-3955B8D5695B}"/>
                </a:ext>
              </a:extLst>
            </p:cNvPr>
            <p:cNvGrpSpPr/>
            <p:nvPr/>
          </p:nvGrpSpPr>
          <p:grpSpPr>
            <a:xfrm>
              <a:off x="750527" y="1874827"/>
              <a:ext cx="1761511" cy="466923"/>
              <a:chOff x="923924" y="2145247"/>
              <a:chExt cx="1761511" cy="46692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52D656D4-D58C-EFED-3CEF-3EFBC3B60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924" y="2249006"/>
                <a:ext cx="242087" cy="288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0E89D3-5D9D-7912-F8D3-56B768DF84E1}"/>
                  </a:ext>
                </a:extLst>
              </p:cNvPr>
              <p:cNvSpPr txBox="1"/>
              <p:nvPr/>
            </p:nvSpPr>
            <p:spPr>
              <a:xfrm>
                <a:off x="1166011" y="2145247"/>
                <a:ext cx="1519424" cy="466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게임 구현 설명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E8411D67-37D7-FA2F-2CB9-70C07F19E8F1}"/>
                </a:ext>
              </a:extLst>
            </p:cNvPr>
            <p:cNvGrpSpPr/>
            <p:nvPr/>
          </p:nvGrpSpPr>
          <p:grpSpPr>
            <a:xfrm>
              <a:off x="712819" y="2291860"/>
              <a:ext cx="4568779" cy="2006730"/>
              <a:chOff x="712819" y="2282335"/>
              <a:chExt cx="4568779" cy="2006730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984D9-023F-219A-2028-8B36B119A883}"/>
                  </a:ext>
                </a:extLst>
              </p:cNvPr>
              <p:cNvSpPr txBox="1"/>
              <p:nvPr/>
            </p:nvSpPr>
            <p:spPr>
              <a:xfrm>
                <a:off x="819705" y="2612709"/>
                <a:ext cx="4461893" cy="1676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GameNetwork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클래스에서 </a:t>
                </a:r>
                <a:r>
                  <a:rPr lang="en-US" altLang="ko-KR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Recv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Thread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로 패킷을 수신하여 오브젝트에 반영했습니다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게임 월드 내의 플레이어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몬스터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아이템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건물과 문 등은 </a:t>
                </a:r>
                <a:r>
                  <a:rPr lang="en-US" altLang="ko-KR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GameInstance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에서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고유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ID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와 객체 포인터로 </a:t>
                </a:r>
                <a:r>
                  <a:rPr lang="ko-KR" altLang="en-US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매핑되어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관리됩니다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66C38D-EF98-BE70-A1E2-31F3F26E2CB8}"/>
                  </a:ext>
                </a:extLst>
              </p:cNvPr>
              <p:cNvSpPr txBox="1"/>
              <p:nvPr/>
            </p:nvSpPr>
            <p:spPr>
              <a:xfrm>
                <a:off x="712819" y="2282335"/>
                <a:ext cx="3953231" cy="414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▼ 서버가 보내준 패킷 게임 월드에 반영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A105236-859E-D805-C72A-7E040622DBAD}"/>
              </a:ext>
            </a:extLst>
          </p:cNvPr>
          <p:cNvGrpSpPr/>
          <p:nvPr/>
        </p:nvGrpSpPr>
        <p:grpSpPr>
          <a:xfrm>
            <a:off x="334408" y="860436"/>
            <a:ext cx="2422432" cy="400110"/>
            <a:chOff x="334408" y="1006575"/>
            <a:chExt cx="2422432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26BC9-1E6D-481D-C05A-D3BA7D8F1021}"/>
                </a:ext>
              </a:extLst>
            </p:cNvPr>
            <p:cNvSpPr txBox="1"/>
            <p:nvPr/>
          </p:nvSpPr>
          <p:spPr>
            <a:xfrm>
              <a:off x="712819" y="1006575"/>
              <a:ext cx="20440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1. Space Robber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4B175081-9A30-CA34-8756-214D4E103B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2ADE3A4-7D98-AA5E-B96B-2AAE2B176860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F5D804-B0FD-26BE-C586-FDF49AEE72E2}"/>
              </a:ext>
            </a:extLst>
          </p:cNvPr>
          <p:cNvSpPr txBox="1"/>
          <p:nvPr/>
        </p:nvSpPr>
        <p:spPr>
          <a:xfrm>
            <a:off x="5791408" y="897899"/>
            <a:ext cx="4239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로그인 처리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AD7D25-4AFE-52B0-A5F2-26BF36231B8F}"/>
              </a:ext>
            </a:extLst>
          </p:cNvPr>
          <p:cNvSpPr txBox="1"/>
          <p:nvPr/>
        </p:nvSpPr>
        <p:spPr>
          <a:xfrm>
            <a:off x="5791408" y="2086366"/>
            <a:ext cx="4475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객체 동기화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6120205-348E-498C-5982-D0867EB3DA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169"/>
          <a:stretch/>
        </p:blipFill>
        <p:spPr>
          <a:xfrm>
            <a:off x="1907508" y="3684309"/>
            <a:ext cx="2769367" cy="303633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825CE71-5882-AB34-AC31-E76559305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023" y="1205676"/>
            <a:ext cx="3762103" cy="76920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70DF013-BB62-FF33-2AD6-E97732ADC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408" y="2392882"/>
            <a:ext cx="3504351" cy="271815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660F75B-8336-D711-4941-9C9594B7E6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408" y="5536931"/>
            <a:ext cx="3944775" cy="93070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F82C36B-7477-7D6E-8BB6-9152CB4EB444}"/>
              </a:ext>
            </a:extLst>
          </p:cNvPr>
          <p:cNvSpPr txBox="1"/>
          <p:nvPr/>
        </p:nvSpPr>
        <p:spPr>
          <a:xfrm>
            <a:off x="5791408" y="5229154"/>
            <a:ext cx="4475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퀘스트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마이크</a:t>
            </a:r>
          </a:p>
        </p:txBody>
      </p:sp>
    </p:spTree>
    <p:extLst>
      <p:ext uri="{BB962C8B-B14F-4D97-AF65-F5344CB8AC3E}">
        <p14:creationId xmlns:p14="http://schemas.microsoft.com/office/powerpoint/2010/main" val="3482348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9834-0E8D-DD22-3D23-E48C6E0A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DF6015D-2A0A-F4A3-B14F-AAF2BD334099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D3772FC-5336-26AA-8E9E-9C59601DBB73}"/>
              </a:ext>
            </a:extLst>
          </p:cNvPr>
          <p:cNvGrpSpPr/>
          <p:nvPr/>
        </p:nvGrpSpPr>
        <p:grpSpPr>
          <a:xfrm>
            <a:off x="985587" y="778855"/>
            <a:ext cx="10115369" cy="5490777"/>
            <a:chOff x="712819" y="1393136"/>
            <a:chExt cx="10252310" cy="5490777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F2CEA6A-A804-AEE5-1790-EADDC7A9C347}"/>
                </a:ext>
              </a:extLst>
            </p:cNvPr>
            <p:cNvGrpSpPr/>
            <p:nvPr/>
          </p:nvGrpSpPr>
          <p:grpSpPr>
            <a:xfrm>
              <a:off x="750527" y="1874827"/>
              <a:ext cx="1761511" cy="466923"/>
              <a:chOff x="923924" y="2145247"/>
              <a:chExt cx="1761511" cy="46692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F447AD0D-3CBB-AC8B-35BE-3767E2F341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924" y="2249006"/>
                <a:ext cx="242087" cy="288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8E39DA-85A4-DCA2-E3A4-C8310BAE8C2C}"/>
                  </a:ext>
                </a:extLst>
              </p:cNvPr>
              <p:cNvSpPr txBox="1"/>
              <p:nvPr/>
            </p:nvSpPr>
            <p:spPr>
              <a:xfrm>
                <a:off x="1166011" y="2145247"/>
                <a:ext cx="1519424" cy="466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게임 구현 설명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D5605A1-1CC9-CD99-7E2F-CB18830C6F1C}"/>
                </a:ext>
              </a:extLst>
            </p:cNvPr>
            <p:cNvGrpSpPr/>
            <p:nvPr/>
          </p:nvGrpSpPr>
          <p:grpSpPr>
            <a:xfrm>
              <a:off x="712819" y="1393136"/>
              <a:ext cx="10252310" cy="5490777"/>
              <a:chOff x="712819" y="1383611"/>
              <a:chExt cx="10252310" cy="5490777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02F62C-27E2-9FE0-9667-4C27327BCEDE}"/>
                  </a:ext>
                </a:extLst>
              </p:cNvPr>
              <p:cNvSpPr txBox="1"/>
              <p:nvPr/>
            </p:nvSpPr>
            <p:spPr>
              <a:xfrm>
                <a:off x="819705" y="2612709"/>
                <a:ext cx="4461893" cy="4261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OpenCV </a:t>
                </a:r>
                <a:r>
                  <a:rPr lang="ko-KR" alt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라이브러리를 </a:t>
                </a:r>
                <a:r>
                  <a:rPr lang="en-US" altLang="ko-KR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Unreal Engine 5.6 </a:t>
                </a:r>
                <a:r>
                  <a:rPr lang="ko-KR" alt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프로젝트에 직접 연동하여 </a:t>
                </a:r>
                <a:r>
                  <a:rPr lang="ko-KR" altLang="en-US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웹캠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영상을 실시간으로 입력 받고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플레이어의 </a:t>
                </a:r>
                <a:r>
                  <a:rPr lang="ko-KR" alt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감정 상태를 분석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하는 기능을 구현했습니다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hlinkClick r:id="rId3"/>
                  </a:rPr>
                  <a:t>OpenCV </a:t>
                </a:r>
                <a:r>
                  <a:rPr lang="en-US" altLang="ko-KR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hlinkClick r:id="rId3"/>
                  </a:rPr>
                  <a:t>Haar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hlinkClick r:id="rId3"/>
                  </a:rPr>
                  <a:t> Cascade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를 이용해 </a:t>
                </a:r>
                <a:r>
                  <a:rPr lang="ko-KR" altLang="en-US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웹캠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영상에서 얼굴을 검출한 후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hlinkClick r:id="rId4"/>
                  </a:rPr>
                  <a:t>FER2013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데이터셋으로 학습된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  <a:hlinkClick r:id="rId5"/>
                  </a:rPr>
                  <a:t>ONNX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기반 감정 분류 모델을 추론 엔진에 연동하여 </a:t>
                </a:r>
                <a:r>
                  <a:rPr lang="en-US" altLang="ko-KR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Happy, Sad, Angry, Surprise, Fear, Disgust, Neutral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의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7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가지 감정을 실시간으로 분류했습니다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실시간 감정 인식 결과는 프레임마다 미세한 확률 변화가 발생하므로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1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초 주기로 감정을 추출하도록 구현했습니다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추출된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7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개의 감정 확률 중 가장 높은 값을 현재 감정으로 선택하고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이전에 전송한 감정 상태와 비교하여 변화가 발생한 경우에만 서버로 감정 패킷을 전송했습니다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0CB195-4488-6A11-0150-536FAD110332}"/>
                  </a:ext>
                </a:extLst>
              </p:cNvPr>
              <p:cNvSpPr txBox="1"/>
              <p:nvPr/>
            </p:nvSpPr>
            <p:spPr>
              <a:xfrm>
                <a:off x="712819" y="2282335"/>
                <a:ext cx="4044214" cy="425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▼ </a:t>
                </a:r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OpenCV </a:t>
                </a: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기반</a:t>
                </a:r>
                <a:r>
                  <a: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</a:t>
                </a: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실시간 감정 인식 시스템 구현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A98503-0067-31EE-65FF-615341AF389F}"/>
                  </a:ext>
                </a:extLst>
              </p:cNvPr>
              <p:cNvSpPr txBox="1"/>
              <p:nvPr/>
            </p:nvSpPr>
            <p:spPr>
              <a:xfrm>
                <a:off x="6503236" y="1383611"/>
                <a:ext cx="4461893" cy="1030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이를 통해 불필요한 네트워크 패킷을 최소화하면서도 플레이어의 감정 변화를 실시간으로 게임 시스템에 반영할 수 있도록 구현했습니다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  <a:endPara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8A78162-3C71-9762-5382-23045D73042B}"/>
              </a:ext>
            </a:extLst>
          </p:cNvPr>
          <p:cNvGrpSpPr/>
          <p:nvPr/>
        </p:nvGrpSpPr>
        <p:grpSpPr>
          <a:xfrm>
            <a:off x="334408" y="860436"/>
            <a:ext cx="2422432" cy="400110"/>
            <a:chOff x="334408" y="1006575"/>
            <a:chExt cx="2422432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A78EC09-92E1-7339-2655-823FF091E221}"/>
                </a:ext>
              </a:extLst>
            </p:cNvPr>
            <p:cNvSpPr txBox="1"/>
            <p:nvPr/>
          </p:nvSpPr>
          <p:spPr>
            <a:xfrm>
              <a:off x="712819" y="1006575"/>
              <a:ext cx="20440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1. Space Robber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3CF06C0-A9FA-B0DE-07CB-3B5D597175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8405F2E-EF78-3F81-64C1-8EBC83B65DC7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27" name="그림 26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2FA3BC62-AEBA-6878-165C-ED3FA4201A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820" y="5458126"/>
            <a:ext cx="2835178" cy="134951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546E722-C797-EFB1-7818-E64E3E5A62F1}"/>
              </a:ext>
            </a:extLst>
          </p:cNvPr>
          <p:cNvSpPr txBox="1"/>
          <p:nvPr/>
        </p:nvSpPr>
        <p:spPr>
          <a:xfrm>
            <a:off x="10266186" y="5978995"/>
            <a:ext cx="2719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감정 데이터 로그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EF75D8FD-7E12-2EC4-832E-D8A9CCE934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311" y="1818345"/>
            <a:ext cx="3990195" cy="352908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D30C2ED-8C24-D1A5-21C0-2AE699C27388}"/>
              </a:ext>
            </a:extLst>
          </p:cNvPr>
          <p:cNvSpPr txBox="1"/>
          <p:nvPr/>
        </p:nvSpPr>
        <p:spPr>
          <a:xfrm>
            <a:off x="10775853" y="3428999"/>
            <a:ext cx="3434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감정 추출 로직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DF2D6-9485-B873-4A56-4B89EA37A6AF}"/>
              </a:ext>
            </a:extLst>
          </p:cNvPr>
          <p:cNvSpPr txBox="1"/>
          <p:nvPr/>
        </p:nvSpPr>
        <p:spPr>
          <a:xfrm>
            <a:off x="8190271" y="3736776"/>
            <a:ext cx="196399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가독성</a:t>
            </a:r>
            <a:r>
              <a:rPr lang="en-US" altLang="ko-KR" dirty="0"/>
              <a:t> </a:t>
            </a:r>
            <a:r>
              <a:rPr lang="ko-KR" altLang="en-US" dirty="0"/>
              <a:t>수정 필요</a:t>
            </a:r>
          </a:p>
        </p:txBody>
      </p:sp>
    </p:spTree>
    <p:extLst>
      <p:ext uri="{BB962C8B-B14F-4D97-AF65-F5344CB8AC3E}">
        <p14:creationId xmlns:p14="http://schemas.microsoft.com/office/powerpoint/2010/main" val="241064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F1EB8-0B8F-15D9-D9DB-4502BEF8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98A918A-C689-A3CC-906C-1EEEA64A4B96}"/>
              </a:ext>
            </a:extLst>
          </p:cNvPr>
          <p:cNvCxnSpPr/>
          <p:nvPr/>
        </p:nvCxnSpPr>
        <p:spPr>
          <a:xfrm>
            <a:off x="360533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2E4E358-C165-F1BA-CE66-2837AC6946ED}"/>
              </a:ext>
            </a:extLst>
          </p:cNvPr>
          <p:cNvGrpSpPr/>
          <p:nvPr/>
        </p:nvGrpSpPr>
        <p:grpSpPr>
          <a:xfrm>
            <a:off x="1048915" y="1260546"/>
            <a:ext cx="10146422" cy="3567333"/>
            <a:chOff x="750526" y="1874827"/>
            <a:chExt cx="10283783" cy="356733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BCC8534-B22E-0C41-2D53-1DA42D671289}"/>
                </a:ext>
              </a:extLst>
            </p:cNvPr>
            <p:cNvGrpSpPr/>
            <p:nvPr/>
          </p:nvGrpSpPr>
          <p:grpSpPr>
            <a:xfrm>
              <a:off x="750527" y="1874827"/>
              <a:ext cx="1761511" cy="466923"/>
              <a:chOff x="923924" y="2145247"/>
              <a:chExt cx="1761511" cy="46692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E32DFE57-8BE8-4FA9-2D0D-7ACE644ABE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924" y="2249006"/>
                <a:ext cx="242087" cy="288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8B9EFA-FF0C-BD1F-3026-CEA8C2836D4F}"/>
                  </a:ext>
                </a:extLst>
              </p:cNvPr>
              <p:cNvSpPr txBox="1"/>
              <p:nvPr/>
            </p:nvSpPr>
            <p:spPr>
              <a:xfrm>
                <a:off x="1166011" y="2145247"/>
                <a:ext cx="1519424" cy="466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게임 구현 설명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F057BF7F-848D-8E65-7406-DE764F67FB66}"/>
                </a:ext>
              </a:extLst>
            </p:cNvPr>
            <p:cNvGrpSpPr/>
            <p:nvPr/>
          </p:nvGrpSpPr>
          <p:grpSpPr>
            <a:xfrm>
              <a:off x="750526" y="2370998"/>
              <a:ext cx="10283783" cy="3071162"/>
              <a:chOff x="750526" y="2361473"/>
              <a:chExt cx="10283783" cy="307116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2283C2-7A09-EA97-43A7-7BF0FAE44160}"/>
                  </a:ext>
                </a:extLst>
              </p:cNvPr>
              <p:cNvSpPr txBox="1"/>
              <p:nvPr/>
            </p:nvSpPr>
            <p:spPr>
              <a:xfrm>
                <a:off x="750526" y="2786782"/>
                <a:ext cx="4461893" cy="1676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추출된 감정 데이터를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UE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내부 게임 시스템과 연동하여 서버로 전송하였으며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,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향후 게임 시스템에 활용할 수 있도록 설계했습니다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감정 상태를 반영한 몬스터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AI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행동 변화</a:t>
                </a:r>
                <a:endPara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플레이어 감정에 따른 동적 난이도 조절</a:t>
                </a:r>
                <a:endPara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611FA51-7353-B047-9346-2EDE5EAE4806}"/>
                  </a:ext>
                </a:extLst>
              </p:cNvPr>
              <p:cNvSpPr txBox="1"/>
              <p:nvPr/>
            </p:nvSpPr>
            <p:spPr>
              <a:xfrm>
                <a:off x="750527" y="2395936"/>
                <a:ext cx="2391890" cy="425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▼ 감정 데이터 서버로 송신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4F90A94-82B4-B4BF-757F-7F2F9868B02F}"/>
                  </a:ext>
                </a:extLst>
              </p:cNvPr>
              <p:cNvSpPr txBox="1"/>
              <p:nvPr/>
            </p:nvSpPr>
            <p:spPr>
              <a:xfrm>
                <a:off x="6572416" y="2786782"/>
                <a:ext cx="4461893" cy="2645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OpenCV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기반 감정 인식 기능을 게임 환경에 적용한 연구 결과를 바탕으로 </a:t>
                </a:r>
                <a:r>
                  <a:rPr lang="ko-KR" alt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「</a:t>
                </a:r>
                <a:r>
                  <a:rPr lang="en-US" altLang="ko-KR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OpenCV </a:t>
                </a:r>
                <a:r>
                  <a:rPr lang="ko-KR" alt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기반 실시간 감정 인식을 활용한 몰입형 게임 환경 설계」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논문을 작성하여 </a:t>
                </a:r>
                <a:r>
                  <a:rPr lang="ko-KR" alt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한국게임학회 학술대회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에서 포스터 발표를 진행했습니다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연구에서는 감정 인식 기술을 게임 플레이와 연계하는 시스템 구조와 적용 방법을 발표하였습니다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연구를 통해 게임 분야에서 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AI </a:t>
                </a:r>
                <a:r>
                  <a:rPr lang="ko-KR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기반 감정 분석 기술의 활용성을 검증했습니다</a:t>
                </a:r>
                <a:r>
                  <a: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.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1A8F77-0118-2F78-6F40-071C48480CA7}"/>
                  </a:ext>
                </a:extLst>
              </p:cNvPr>
              <p:cNvSpPr txBox="1"/>
              <p:nvPr/>
            </p:nvSpPr>
            <p:spPr>
              <a:xfrm>
                <a:off x="6572416" y="2361473"/>
                <a:ext cx="2274911" cy="4253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▼ 한국게임학회 학술대회</a:t>
                </a:r>
                <a:endPara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8699AE-5E87-F208-7A40-D982E67A869B}"/>
              </a:ext>
            </a:extLst>
          </p:cNvPr>
          <p:cNvGrpSpPr/>
          <p:nvPr/>
        </p:nvGrpSpPr>
        <p:grpSpPr>
          <a:xfrm>
            <a:off x="360533" y="860436"/>
            <a:ext cx="2422432" cy="400110"/>
            <a:chOff x="334408" y="1006575"/>
            <a:chExt cx="2422432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A6787C-025B-E992-504C-238779DEA38F}"/>
                </a:ext>
              </a:extLst>
            </p:cNvPr>
            <p:cNvSpPr txBox="1"/>
            <p:nvPr/>
          </p:nvSpPr>
          <p:spPr>
            <a:xfrm>
              <a:off x="712819" y="1006575"/>
              <a:ext cx="20440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1. Space Robber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49F787-EF65-C836-9C76-A9501AE24C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0B25D36-3EC9-467A-C971-9534B52E1AE8}"/>
              </a:ext>
            </a:extLst>
          </p:cNvPr>
          <p:cNvSpPr txBox="1"/>
          <p:nvPr/>
        </p:nvSpPr>
        <p:spPr>
          <a:xfrm>
            <a:off x="312908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7C9192-6F60-CCC5-2E50-86C383566977}"/>
              </a:ext>
            </a:extLst>
          </p:cNvPr>
          <p:cNvSpPr txBox="1"/>
          <p:nvPr/>
        </p:nvSpPr>
        <p:spPr>
          <a:xfrm>
            <a:off x="697619" y="3953314"/>
            <a:ext cx="2029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서버</a:t>
            </a:r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클라이언트 흐름도</a:t>
            </a:r>
          </a:p>
        </p:txBody>
      </p:sp>
      <p:pic>
        <p:nvPicPr>
          <p:cNvPr id="3" name="그림 2" descr="텍스트, 스크린샷, 도표, 번호이(가) 표시된 사진&#10;&#10;자동 생성된 설명">
            <a:extLst>
              <a:ext uri="{FF2B5EF4-FFF2-40B4-BE49-F238E27FC236}">
                <a16:creationId xmlns:a16="http://schemas.microsoft.com/office/drawing/2014/main" id="{72EAB9BC-C0C4-9D5A-75D3-437311849D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06" y="4261091"/>
            <a:ext cx="2605818" cy="246520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920F48-00E6-9CB6-0913-56AF3AC54504}"/>
              </a:ext>
            </a:extLst>
          </p:cNvPr>
          <p:cNvSpPr txBox="1"/>
          <p:nvPr/>
        </p:nvSpPr>
        <p:spPr>
          <a:xfrm>
            <a:off x="3488444" y="4388103"/>
            <a:ext cx="2214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〮 </a:t>
            </a:r>
            <a:r>
              <a:rPr lang="ko-KR" altLang="en-US" sz="14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몬스터와의 상호작용</a:t>
            </a:r>
          </a:p>
        </p:txBody>
      </p:sp>
      <p:pic>
        <p:nvPicPr>
          <p:cNvPr id="6" name="그림 10" descr="텍스트, 스크린샷, 멀티미디어 소프트웨어, 소프트웨어이(가) 표시된 사진&#10;&#10;자동 생성된 설명">
            <a:extLst>
              <a:ext uri="{FF2B5EF4-FFF2-40B4-BE49-F238E27FC236}">
                <a16:creationId xmlns:a16="http://schemas.microsoft.com/office/drawing/2014/main" id="{797E3A42-7E12-9D34-0B1E-C22324062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5" t="12782" r="17712" b="16585"/>
          <a:stretch>
            <a:fillRect/>
          </a:stretch>
        </p:blipFill>
        <p:spPr bwMode="auto">
          <a:xfrm>
            <a:off x="3488444" y="4779862"/>
            <a:ext cx="2214581" cy="1436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>
            <a:hlinkClick r:id="rId6"/>
            <a:extLst>
              <a:ext uri="{FF2B5EF4-FFF2-40B4-BE49-F238E27FC236}">
                <a16:creationId xmlns:a16="http://schemas.microsoft.com/office/drawing/2014/main" id="{478F3A21-3D0E-0295-784C-A0B80B9DB677}"/>
              </a:ext>
            </a:extLst>
          </p:cNvPr>
          <p:cNvSpPr txBox="1"/>
          <p:nvPr/>
        </p:nvSpPr>
        <p:spPr>
          <a:xfrm>
            <a:off x="9862925" y="5185917"/>
            <a:ext cx="1332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논문 </a:t>
            </a:r>
            <a:r>
              <a:rPr lang="ko-KR" altLang="en-US" sz="1400" u="sng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보러가기</a:t>
            </a:r>
            <a:endParaRPr lang="ko-KR" altLang="en-US" sz="1400" u="sng" dirty="0">
              <a:solidFill>
                <a:schemeClr val="accent1">
                  <a:lumMod val="60000"/>
                  <a:lumOff val="4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1542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1D00-8CDA-FAA3-CECC-1DC045DD6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DD2BFDF-D4F8-23AB-C780-7617C729674B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7330C31-8A83-79DE-7673-52CD1407B489}"/>
              </a:ext>
            </a:extLst>
          </p:cNvPr>
          <p:cNvGrpSpPr/>
          <p:nvPr/>
        </p:nvGrpSpPr>
        <p:grpSpPr>
          <a:xfrm>
            <a:off x="985587" y="1260546"/>
            <a:ext cx="10220828" cy="3690447"/>
            <a:chOff x="712819" y="1874827"/>
            <a:chExt cx="10359198" cy="3690447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7199CE9-9267-BBE5-19A2-A59B594704DA}"/>
                </a:ext>
              </a:extLst>
            </p:cNvPr>
            <p:cNvGrpSpPr/>
            <p:nvPr/>
          </p:nvGrpSpPr>
          <p:grpSpPr>
            <a:xfrm>
              <a:off x="750527" y="1874827"/>
              <a:ext cx="1228607" cy="466923"/>
              <a:chOff x="923924" y="2145247"/>
              <a:chExt cx="1228607" cy="46692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8AF0AA38-3193-3AD6-1DE0-39AFDC1DFC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924" y="2249006"/>
                <a:ext cx="242087" cy="288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27C092-00FC-2748-865B-981A3D738869}"/>
                  </a:ext>
                </a:extLst>
              </p:cNvPr>
              <p:cNvSpPr txBox="1"/>
              <p:nvPr/>
            </p:nvSpPr>
            <p:spPr>
              <a:xfrm>
                <a:off x="1166011" y="2145247"/>
                <a:ext cx="986520" cy="466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프로젝트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AFC083C2-966D-5B7E-9300-9DF0EC38EBDF}"/>
                </a:ext>
              </a:extLst>
            </p:cNvPr>
            <p:cNvGrpSpPr/>
            <p:nvPr/>
          </p:nvGrpSpPr>
          <p:grpSpPr>
            <a:xfrm>
              <a:off x="712819" y="2291860"/>
              <a:ext cx="10359198" cy="3273414"/>
              <a:chOff x="712819" y="2282335"/>
              <a:chExt cx="10359198" cy="3273414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C4AC45C5-9B86-83DC-656B-34A6622746FC}"/>
                  </a:ext>
                </a:extLst>
              </p:cNvPr>
              <p:cNvGrpSpPr/>
              <p:nvPr/>
            </p:nvGrpSpPr>
            <p:grpSpPr>
              <a:xfrm>
                <a:off x="712819" y="2282335"/>
                <a:ext cx="4568779" cy="2329896"/>
                <a:chOff x="712819" y="2282335"/>
                <a:chExt cx="4568779" cy="2329896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FCC713B-FE26-399A-2C36-BF84083EDE8F}"/>
                    </a:ext>
                  </a:extLst>
                </p:cNvPr>
                <p:cNvSpPr txBox="1"/>
                <p:nvPr/>
              </p:nvSpPr>
              <p:spPr>
                <a:xfrm>
                  <a:off x="819705" y="2612709"/>
                  <a:ext cx="4461893" cy="19995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ko-KR" sz="14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WinAPI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2D </a:t>
                  </a:r>
                  <a:r>
                    <a:rPr lang="ko-KR" altLang="en-US" sz="14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횡스크롤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액션 어드벤처 게임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(C++)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액션 어드벤처 장르를 기반으로 제작한 싱글 플레이 게임으로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플레이어는 다양한 구조물과 상호작용하며 아이템을 수집하고 퍼즐을 해결해 나갑니다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</a:t>
                  </a:r>
                  <a:r>
                    <a:rPr lang="ko-KR" altLang="en-US" sz="14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맵에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배치된 몬스터를 처치하며 최종 보스를 물리치는 것을 목표로 하는 게임입니다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1362C51-B76E-51EA-238D-CFE00F08FA3F}"/>
                    </a:ext>
                  </a:extLst>
                </p:cNvPr>
                <p:cNvSpPr txBox="1"/>
                <p:nvPr/>
              </p:nvSpPr>
              <p:spPr>
                <a:xfrm>
                  <a:off x="712819" y="2282335"/>
                  <a:ext cx="1222103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게임 설명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7D23D5ED-B231-60E2-DE3A-4E40D12F6467}"/>
                  </a:ext>
                </a:extLst>
              </p:cNvPr>
              <p:cNvGrpSpPr/>
              <p:nvPr/>
            </p:nvGrpSpPr>
            <p:grpSpPr>
              <a:xfrm>
                <a:off x="6503238" y="2282335"/>
                <a:ext cx="4568779" cy="3273414"/>
                <a:chOff x="6503238" y="1040622"/>
                <a:chExt cx="4568779" cy="3273414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679EBA4-40CC-2347-19D1-13137657E810}"/>
                    </a:ext>
                  </a:extLst>
                </p:cNvPr>
                <p:cNvSpPr txBox="1"/>
                <p:nvPr/>
              </p:nvSpPr>
              <p:spPr>
                <a:xfrm>
                  <a:off x="6610123" y="1345018"/>
                  <a:ext cx="4461894" cy="29690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인원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3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(</a:t>
                  </a:r>
                  <a:r>
                    <a:rPr lang="ko-KR" alt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클라이언트 </a:t>
                  </a:r>
                  <a:r>
                    <a:rPr lang="en-US" altLang="ko-KR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2</a:t>
                  </a:r>
                  <a:r>
                    <a:rPr lang="ko-KR" alt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 </a:t>
                  </a:r>
                  <a:r>
                    <a:rPr lang="en-US" altLang="ko-KR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– </a:t>
                  </a:r>
                  <a:r>
                    <a:rPr lang="ko-KR" alt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본인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기획 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1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)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기간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2024.09 ~ 2025.07 (11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개월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)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담당 업무</a:t>
                  </a:r>
                  <a:endParaRPr lang="en-US" altLang="ko-KR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628650" lvl="1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클라이언트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(FSM 〮 Behavior Tree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시스템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아이템 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〮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인벤토리 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〮 UI,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사운드 시스템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퍼즐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)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목적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게임 클라이언트를 직접 구현하며 게임 엔진의 핵심 구조와 렌더링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입력 처리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게임 루프 등 게임 실행 원리를 이해하고 구현하는 것을 목표로 했습니다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기술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C++, </a:t>
                  </a:r>
                  <a:r>
                    <a:rPr lang="en-US" altLang="ko-KR" sz="14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WinAPI</a:t>
                  </a:r>
                  <a:endParaRPr lang="en-US" altLang="ko-K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F38069A-E0BF-0709-FA95-3965C7F3F413}"/>
                    </a:ext>
                  </a:extLst>
                </p:cNvPr>
                <p:cNvSpPr txBox="1"/>
                <p:nvPr/>
              </p:nvSpPr>
              <p:spPr>
                <a:xfrm>
                  <a:off x="6503238" y="1040622"/>
                  <a:ext cx="1222103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게임 개발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04B9429-CD01-0F6D-0CE9-092252106212}"/>
              </a:ext>
            </a:extLst>
          </p:cNvPr>
          <p:cNvGrpSpPr/>
          <p:nvPr/>
        </p:nvGrpSpPr>
        <p:grpSpPr>
          <a:xfrm>
            <a:off x="334408" y="860436"/>
            <a:ext cx="2681221" cy="400110"/>
            <a:chOff x="334408" y="1006575"/>
            <a:chExt cx="2681221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02AAE7-DC46-156F-C08D-AEF957B393E5}"/>
                </a:ext>
              </a:extLst>
            </p:cNvPr>
            <p:cNvSpPr txBox="1"/>
            <p:nvPr/>
          </p:nvSpPr>
          <p:spPr>
            <a:xfrm>
              <a:off x="712819" y="1006575"/>
              <a:ext cx="23028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2. Magical Subway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FB6F30E-8F73-FAB5-096B-2F55E60C76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pic>
        <p:nvPicPr>
          <p:cNvPr id="2" name="그림 1">
            <a:hlinkClick r:id="rId4"/>
            <a:extLst>
              <a:ext uri="{FF2B5EF4-FFF2-40B4-BE49-F238E27FC236}">
                <a16:creationId xmlns:a16="http://schemas.microsoft.com/office/drawing/2014/main" id="{0660CD29-FCBB-7DA2-571A-9E39C9A91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3519" y="1080306"/>
            <a:ext cx="785787" cy="785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C07CE8-685C-253F-2367-F0628C69D096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38434D4-9694-168C-C359-ACB93E723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631" y="4120320"/>
            <a:ext cx="3921121" cy="230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42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7928A-CABD-F7A7-B7CD-B238FDC0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2468157-DFEA-F266-F659-EDF30E1CFD00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A5C93B6-8506-1DA7-752C-3CE35AB973CA}"/>
              </a:ext>
            </a:extLst>
          </p:cNvPr>
          <p:cNvGrpSpPr/>
          <p:nvPr/>
        </p:nvGrpSpPr>
        <p:grpSpPr>
          <a:xfrm>
            <a:off x="985587" y="1260546"/>
            <a:ext cx="10220828" cy="4654813"/>
            <a:chOff x="712819" y="1874827"/>
            <a:chExt cx="10359198" cy="465481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F5D3978-C276-AA7E-55B4-0175EA5B09F2}"/>
                </a:ext>
              </a:extLst>
            </p:cNvPr>
            <p:cNvGrpSpPr/>
            <p:nvPr/>
          </p:nvGrpSpPr>
          <p:grpSpPr>
            <a:xfrm>
              <a:off x="750527" y="1874827"/>
              <a:ext cx="1761511" cy="466923"/>
              <a:chOff x="923924" y="2145247"/>
              <a:chExt cx="1761511" cy="46692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04CAA7D0-65E6-41C7-2446-2A2864C1D2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924" y="2249006"/>
                <a:ext cx="242087" cy="288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E37581-9AF9-1909-E940-654A4ADE07C4}"/>
                  </a:ext>
                </a:extLst>
              </p:cNvPr>
              <p:cNvSpPr txBox="1"/>
              <p:nvPr/>
            </p:nvSpPr>
            <p:spPr>
              <a:xfrm>
                <a:off x="1166011" y="2145247"/>
                <a:ext cx="1519424" cy="466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게임 구현 설명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4051079-381F-328C-9345-1D1001B85DF9}"/>
                </a:ext>
              </a:extLst>
            </p:cNvPr>
            <p:cNvGrpSpPr/>
            <p:nvPr/>
          </p:nvGrpSpPr>
          <p:grpSpPr>
            <a:xfrm>
              <a:off x="712819" y="2291860"/>
              <a:ext cx="10359198" cy="4237780"/>
              <a:chOff x="712819" y="2282335"/>
              <a:chExt cx="10359198" cy="4237780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109A59C5-687E-7B1D-A0D4-72D64C1662F8}"/>
                  </a:ext>
                </a:extLst>
              </p:cNvPr>
              <p:cNvGrpSpPr/>
              <p:nvPr/>
            </p:nvGrpSpPr>
            <p:grpSpPr>
              <a:xfrm>
                <a:off x="712819" y="2282335"/>
                <a:ext cx="4606486" cy="4237780"/>
                <a:chOff x="712819" y="2282335"/>
                <a:chExt cx="4606486" cy="4237780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FC39145-75D3-C142-B1D8-DECADAC809A0}"/>
                    </a:ext>
                  </a:extLst>
                </p:cNvPr>
                <p:cNvSpPr txBox="1"/>
                <p:nvPr/>
              </p:nvSpPr>
              <p:spPr>
                <a:xfrm>
                  <a:off x="819705" y="2612709"/>
                  <a:ext cx="4461893" cy="14416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상용 게임 엔진을 사용하지 않고 </a:t>
                  </a:r>
                  <a:r>
                    <a:rPr lang="en-US" altLang="ko-KR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WinAPI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를 기반으로 게임 루프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입력 처리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렌더링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오브젝트 관리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리소스 관리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행동 트리 처리 등 게임 실행의 핵심 구조를 직접 구현했습니다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이를 통해 게임 엔진의 내부 동작 방식과 클라이언트 핵심 구조를 이해했습니다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975C498-B7EB-9499-2A83-772D4E31E8FB}"/>
                    </a:ext>
                  </a:extLst>
                </p:cNvPr>
                <p:cNvSpPr txBox="1"/>
                <p:nvPr/>
              </p:nvSpPr>
              <p:spPr>
                <a:xfrm>
                  <a:off x="712819" y="2282335"/>
                  <a:ext cx="3252984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</a:t>
                  </a:r>
                  <a:r>
                    <a:rPr lang="en-US" altLang="ko-KR" sz="1600" b="1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WinAPI</a:t>
                  </a: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를 사용한 클라이언트 개발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37A1E35-7F2C-5E0D-CDDE-1093832FCF9E}"/>
                    </a:ext>
                  </a:extLst>
                </p:cNvPr>
                <p:cNvSpPr txBox="1"/>
                <p:nvPr/>
              </p:nvSpPr>
              <p:spPr>
                <a:xfrm>
                  <a:off x="857412" y="4524504"/>
                  <a:ext cx="4461893" cy="19956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CSV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파일을 활용하여 플레이어의 진행 상황을 저장하고 불러오는 기능을 구현하여 게임을 이어서 플레이할 수 있도록 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플레이어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몬스터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아이템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구조물 등의 </a:t>
                  </a:r>
                  <a:r>
                    <a:rPr lang="ko-KR" altLang="en-US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스탯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데이터를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CSV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에서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load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하도록 설계하여 데이터 수정 시 코드 변경 없이 기획 데이터만으로 조정할 수 있도록 데이터 구조를 정립했습니다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014BF6D-1295-1054-9CC2-0D935EE136A2}"/>
                    </a:ext>
                  </a:extLst>
                </p:cNvPr>
                <p:cNvSpPr txBox="1"/>
                <p:nvPr/>
              </p:nvSpPr>
              <p:spPr>
                <a:xfrm>
                  <a:off x="750527" y="4194130"/>
                  <a:ext cx="2833355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</a:t>
                  </a:r>
                  <a:r>
                    <a:rPr lang="en-US" altLang="ko-KR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CSV </a:t>
                  </a: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기반 파일 입출력 시스템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1D2FE6F5-54CF-BE40-B40F-DBAD0038C52A}"/>
                  </a:ext>
                </a:extLst>
              </p:cNvPr>
              <p:cNvGrpSpPr/>
              <p:nvPr/>
            </p:nvGrpSpPr>
            <p:grpSpPr>
              <a:xfrm>
                <a:off x="6503238" y="2282335"/>
                <a:ext cx="4568779" cy="4003760"/>
                <a:chOff x="6503238" y="1040622"/>
                <a:chExt cx="4568779" cy="4003760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F1AFD0E-9F41-00D7-3A4E-61337D1B5472}"/>
                    </a:ext>
                  </a:extLst>
                </p:cNvPr>
                <p:cNvSpPr txBox="1"/>
                <p:nvPr/>
              </p:nvSpPr>
              <p:spPr>
                <a:xfrm>
                  <a:off x="6610123" y="1345018"/>
                  <a:ext cx="4461894" cy="14416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플레이어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몬스터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구조물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투사체 등 게임 오브젝트의 공통 기능을 기반 클래스로 정의하고 상속 구조를 설계했습니다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FSM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을 기반으로 각 객체의 상태를 관리했으며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스탯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충돌 박스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애니메이션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(</a:t>
                  </a:r>
                  <a:r>
                    <a:rPr lang="ko-KR" altLang="en-US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플립북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)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등의 기능을 클래스 단위로 분리하여 유지보수성과 확장성을 높였습니다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18D56FC-F209-4164-B665-D398F1FA01E6}"/>
                    </a:ext>
                  </a:extLst>
                </p:cNvPr>
                <p:cNvSpPr txBox="1"/>
                <p:nvPr/>
              </p:nvSpPr>
              <p:spPr>
                <a:xfrm>
                  <a:off x="6503238" y="1040622"/>
                  <a:ext cx="2391890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클래스와 상속 구조 설계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BBF241B-ED2D-C9C6-7743-D648EC88CA95}"/>
                    </a:ext>
                  </a:extLst>
                </p:cNvPr>
                <p:cNvSpPr txBox="1"/>
                <p:nvPr/>
              </p:nvSpPr>
              <p:spPr>
                <a:xfrm>
                  <a:off x="6610123" y="3325770"/>
                  <a:ext cx="4461894" cy="17186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몬스터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AI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를 위해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Behavior Tree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를 직접 구현했습니다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Selector, Sequence, Action, Condition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노드를 설계하여 행동 트리를 구성하고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각 노드가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SUCCESS, FAIL, RUNNING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상태를 반환하도록 구현했습니다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이를 통해 조건에 따른 행동 선택과 우선순위 기반의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AI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로직을 유연하게 구성하도록 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975ABA8-9825-34EA-6AC0-3DAA24F975DC}"/>
                    </a:ext>
                  </a:extLst>
                </p:cNvPr>
                <p:cNvSpPr txBox="1"/>
                <p:nvPr/>
              </p:nvSpPr>
              <p:spPr>
                <a:xfrm>
                  <a:off x="6503238" y="3021374"/>
                  <a:ext cx="3362423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</a:t>
                  </a:r>
                  <a:r>
                    <a:rPr lang="en-US" altLang="ko-KR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Behavior Tree </a:t>
                  </a: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기반 </a:t>
                  </a:r>
                  <a:r>
                    <a:rPr lang="en-US" altLang="ko-KR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AI </a:t>
                  </a: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시스템 구현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784C06F-2DC9-B6D5-07D3-73B7E2621EF2}"/>
              </a:ext>
            </a:extLst>
          </p:cNvPr>
          <p:cNvGrpSpPr/>
          <p:nvPr/>
        </p:nvGrpSpPr>
        <p:grpSpPr>
          <a:xfrm>
            <a:off x="334408" y="860436"/>
            <a:ext cx="2681221" cy="400110"/>
            <a:chOff x="334408" y="1006575"/>
            <a:chExt cx="2681221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892717-2A5E-1B7B-4806-81611D1E2971}"/>
                </a:ext>
              </a:extLst>
            </p:cNvPr>
            <p:cNvSpPr txBox="1"/>
            <p:nvPr/>
          </p:nvSpPr>
          <p:spPr>
            <a:xfrm>
              <a:off x="712819" y="1006575"/>
              <a:ext cx="23028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2. Magical Subway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9F6D8C7-31E9-3623-7ADB-5B39D920B2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2063E69-E7FF-FF9F-F4C9-FA714F96F034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6099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57329-254C-90F2-F4A0-A029AD8F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33D2488-BA26-070D-C11F-448F97D8AB0D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97A5F92-8043-6841-14CF-C5B9B2601BB0}"/>
              </a:ext>
            </a:extLst>
          </p:cNvPr>
          <p:cNvGrpSpPr/>
          <p:nvPr/>
        </p:nvGrpSpPr>
        <p:grpSpPr>
          <a:xfrm>
            <a:off x="985587" y="1260546"/>
            <a:ext cx="10220828" cy="3460998"/>
            <a:chOff x="712819" y="1874827"/>
            <a:chExt cx="10359198" cy="3460998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3142E59-FEDA-6160-4360-079D94FFA11E}"/>
                </a:ext>
              </a:extLst>
            </p:cNvPr>
            <p:cNvGrpSpPr/>
            <p:nvPr/>
          </p:nvGrpSpPr>
          <p:grpSpPr>
            <a:xfrm>
              <a:off x="750527" y="1874827"/>
              <a:ext cx="1761511" cy="466923"/>
              <a:chOff x="923924" y="2145247"/>
              <a:chExt cx="1761511" cy="46692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9BD99A16-E368-44F6-D09B-30D574138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924" y="2249006"/>
                <a:ext cx="242087" cy="288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18A5C1-2117-6B92-AA0F-07350A6DE96D}"/>
                  </a:ext>
                </a:extLst>
              </p:cNvPr>
              <p:cNvSpPr txBox="1"/>
              <p:nvPr/>
            </p:nvSpPr>
            <p:spPr>
              <a:xfrm>
                <a:off x="1166011" y="2145247"/>
                <a:ext cx="1519424" cy="466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게임 구현 설명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BD5BC052-C35E-7309-CD1E-81CAC3A7F8B1}"/>
                </a:ext>
              </a:extLst>
            </p:cNvPr>
            <p:cNvGrpSpPr/>
            <p:nvPr/>
          </p:nvGrpSpPr>
          <p:grpSpPr>
            <a:xfrm>
              <a:off x="712819" y="2291860"/>
              <a:ext cx="10359198" cy="3043965"/>
              <a:chOff x="712819" y="2282335"/>
              <a:chExt cx="10359198" cy="3043965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61D88396-0D41-EE30-E9AB-D546EF90A1C3}"/>
                  </a:ext>
                </a:extLst>
              </p:cNvPr>
              <p:cNvGrpSpPr/>
              <p:nvPr/>
            </p:nvGrpSpPr>
            <p:grpSpPr>
              <a:xfrm>
                <a:off x="712819" y="2282335"/>
                <a:ext cx="4606486" cy="3043965"/>
                <a:chOff x="712819" y="2282335"/>
                <a:chExt cx="4606486" cy="3043965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B155A1A-0FBF-949D-14E4-2434334B9A2D}"/>
                    </a:ext>
                  </a:extLst>
                </p:cNvPr>
                <p:cNvSpPr txBox="1"/>
                <p:nvPr/>
              </p:nvSpPr>
              <p:spPr>
                <a:xfrm>
                  <a:off x="819705" y="2612709"/>
                  <a:ext cx="4461893" cy="10300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아이템 정보를 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CSV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에서 읽어와 인벤토리에 등록하고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선택한 아이템의 아이콘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설명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보유 개수를 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UI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에 출력하는 기능을 구현했습니다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8344EB5-60E5-194B-284C-7318C7CCA48D}"/>
                    </a:ext>
                  </a:extLst>
                </p:cNvPr>
                <p:cNvSpPr txBox="1"/>
                <p:nvPr/>
              </p:nvSpPr>
              <p:spPr>
                <a:xfrm>
                  <a:off x="712819" y="2282335"/>
                  <a:ext cx="1738759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인벤토리 시스템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8081DB7-ADCA-A2C6-ABF0-D7F5299D4160}"/>
                    </a:ext>
                  </a:extLst>
                </p:cNvPr>
                <p:cNvSpPr txBox="1"/>
                <p:nvPr/>
              </p:nvSpPr>
              <p:spPr>
                <a:xfrm>
                  <a:off x="857412" y="3973109"/>
                  <a:ext cx="4461893" cy="13531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사운드 매니저를 구현하여 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FMOD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라이브러리를 연동하였습니다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BGM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과 효과음을 관리하고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플레이어와 몬스터의 행동이나 게임 상황에 따라 적절한 사운드가 재생되도록 구현하였습니다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B9FE60-F719-977B-ABEB-9DF61822A77A}"/>
                    </a:ext>
                  </a:extLst>
                </p:cNvPr>
                <p:cNvSpPr txBox="1"/>
                <p:nvPr/>
              </p:nvSpPr>
              <p:spPr>
                <a:xfrm>
                  <a:off x="750527" y="3642735"/>
                  <a:ext cx="3400832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</a:t>
                  </a:r>
                  <a:r>
                    <a:rPr lang="en-US" altLang="ko-KR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FMOD</a:t>
                  </a: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를 활용한 사운드 시스템 구현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A95D7B86-BF7B-8573-CF3F-204DFD3C2251}"/>
                  </a:ext>
                </a:extLst>
              </p:cNvPr>
              <p:cNvGrpSpPr/>
              <p:nvPr/>
            </p:nvGrpSpPr>
            <p:grpSpPr>
              <a:xfrm>
                <a:off x="6503238" y="2282335"/>
                <a:ext cx="4568779" cy="1980752"/>
                <a:chOff x="6503238" y="1040622"/>
                <a:chExt cx="4568779" cy="1980752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D2B9AFC-3906-4666-2E33-3B791CDCCEBC}"/>
                    </a:ext>
                  </a:extLst>
                </p:cNvPr>
                <p:cNvSpPr txBox="1"/>
                <p:nvPr/>
              </p:nvSpPr>
              <p:spPr>
                <a:xfrm>
                  <a:off x="6610123" y="1345018"/>
                  <a:ext cx="4461894" cy="1676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4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짚라인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이동 발판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장애물 등 다양한 </a:t>
                  </a:r>
                  <a:r>
                    <a:rPr lang="ko-KR" altLang="en-US" sz="14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기믹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오브젝트와 플레이어 간의 상호작용 시스템을 구현했습니다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각 오브젝트의 상태와 동작을 독립적으로 관리하여 이동 및 퍼즐 요소를 구성하고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레벨 디자인에 맞는 콘텐츠를 개발했습니다</a:t>
                  </a:r>
                  <a:r>
                    <a:rPr lang="en-US" altLang="ko-KR" sz="14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89A4778-C254-CFB8-4A5C-DB36A0E93F0E}"/>
                    </a:ext>
                  </a:extLst>
                </p:cNvPr>
                <p:cNvSpPr txBox="1"/>
                <p:nvPr/>
              </p:nvSpPr>
              <p:spPr>
                <a:xfrm>
                  <a:off x="6503238" y="1040622"/>
                  <a:ext cx="2629097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콘텐츠 및 </a:t>
                  </a:r>
                  <a:r>
                    <a:rPr lang="ko-KR" altLang="en-US" sz="1600" b="1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기믹</a:t>
                  </a: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시스템 구현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7B4AAA-050C-64E4-29F5-33D712A1BCD7}"/>
              </a:ext>
            </a:extLst>
          </p:cNvPr>
          <p:cNvGrpSpPr/>
          <p:nvPr/>
        </p:nvGrpSpPr>
        <p:grpSpPr>
          <a:xfrm>
            <a:off x="334408" y="860436"/>
            <a:ext cx="2681221" cy="400110"/>
            <a:chOff x="334408" y="1006575"/>
            <a:chExt cx="2681221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AE079E9-FD75-6DBB-65A0-E9F8FA73AD5E}"/>
                </a:ext>
              </a:extLst>
            </p:cNvPr>
            <p:cNvSpPr txBox="1"/>
            <p:nvPr/>
          </p:nvSpPr>
          <p:spPr>
            <a:xfrm>
              <a:off x="712819" y="1006575"/>
              <a:ext cx="23028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2. Magical Subway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DD8030F-4219-F584-618F-29326AEF22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E1BBB11-95ED-939A-3380-02B46627C446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5856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1955C-6F04-CB41-F4D7-B2276C7A5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D652906-3D03-449F-9E0B-09B38E851D84}"/>
              </a:ext>
            </a:extLst>
          </p:cNvPr>
          <p:cNvCxnSpPr/>
          <p:nvPr/>
        </p:nvCxnSpPr>
        <p:spPr>
          <a:xfrm>
            <a:off x="334408" y="771525"/>
            <a:ext cx="1145754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BE62DF1-FB7F-46AB-44C4-807C82908A91}"/>
              </a:ext>
            </a:extLst>
          </p:cNvPr>
          <p:cNvGrpSpPr/>
          <p:nvPr/>
        </p:nvGrpSpPr>
        <p:grpSpPr>
          <a:xfrm>
            <a:off x="985587" y="1260546"/>
            <a:ext cx="10220828" cy="4102034"/>
            <a:chOff x="712819" y="1874827"/>
            <a:chExt cx="10359198" cy="410203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31DECC74-9441-7F69-A75A-3EF3AACEEAAF}"/>
                </a:ext>
              </a:extLst>
            </p:cNvPr>
            <p:cNvGrpSpPr/>
            <p:nvPr/>
          </p:nvGrpSpPr>
          <p:grpSpPr>
            <a:xfrm>
              <a:off x="750527" y="1874827"/>
              <a:ext cx="4092961" cy="466923"/>
              <a:chOff x="923924" y="2145247"/>
              <a:chExt cx="4092961" cy="466923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CB100E9C-A3BF-6ADD-3E42-758350581F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3924" y="2249006"/>
                <a:ext cx="242087" cy="288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2A3623-E78C-5020-ABBD-50F11326C124}"/>
                  </a:ext>
                </a:extLst>
              </p:cNvPr>
              <p:cNvSpPr txBox="1"/>
              <p:nvPr/>
            </p:nvSpPr>
            <p:spPr>
              <a:xfrm>
                <a:off x="1166011" y="2145247"/>
                <a:ext cx="3850874" cy="466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네트워크 게임 프로그래밍 최종 프로젝트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AF446C44-8CDE-2E84-1FF3-BB2D2DC33A8C}"/>
                </a:ext>
              </a:extLst>
            </p:cNvPr>
            <p:cNvGrpSpPr/>
            <p:nvPr/>
          </p:nvGrpSpPr>
          <p:grpSpPr>
            <a:xfrm>
              <a:off x="712819" y="2302201"/>
              <a:ext cx="10359198" cy="3674660"/>
              <a:chOff x="712819" y="2292676"/>
              <a:chExt cx="10359198" cy="3674660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00CD83A2-7EE7-4A15-0BA4-91447EBDE735}"/>
                  </a:ext>
                </a:extLst>
              </p:cNvPr>
              <p:cNvGrpSpPr/>
              <p:nvPr/>
            </p:nvGrpSpPr>
            <p:grpSpPr>
              <a:xfrm>
                <a:off x="712819" y="2292676"/>
                <a:ext cx="4568779" cy="2038645"/>
                <a:chOff x="712819" y="2292676"/>
                <a:chExt cx="4568779" cy="2038645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EE18770-F7A3-0DA4-EC27-474FB9FD82FF}"/>
                    </a:ext>
                  </a:extLst>
                </p:cNvPr>
                <p:cNvSpPr txBox="1"/>
                <p:nvPr/>
              </p:nvSpPr>
              <p:spPr>
                <a:xfrm>
                  <a:off x="819705" y="2612709"/>
                  <a:ext cx="4461893" cy="17186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ko-KR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WinAPI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2D </a:t>
                  </a:r>
                  <a:r>
                    <a:rPr lang="ko-KR" altLang="en-US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종스크롤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멀티플레이 아케이드 게임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(C++)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스타듀밸리의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아케이드 게임을 모방하여 제작한 멀티 플레이 게임으로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플레이어는 다양한 구조물과 상호작용하며 아이템을 수집하고 퍼즐을 해결해 나갑니다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 </a:t>
                  </a:r>
                  <a:r>
                    <a:rPr lang="ko-KR" altLang="en-US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맵에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배치된 몬스터를 처치하며 최종 보스를 물리치는 것을 목표로 하는 게임입니다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6C290C5-3A08-D2E7-9700-4F30B6CA9DF8}"/>
                    </a:ext>
                  </a:extLst>
                </p:cNvPr>
                <p:cNvSpPr txBox="1"/>
                <p:nvPr/>
              </p:nvSpPr>
              <p:spPr>
                <a:xfrm>
                  <a:off x="712819" y="2292676"/>
                  <a:ext cx="1202606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게임 설명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A125C9FB-0BCB-0223-1F24-2D80983D84E1}"/>
                  </a:ext>
                </a:extLst>
              </p:cNvPr>
              <p:cNvGrpSpPr/>
              <p:nvPr/>
            </p:nvGrpSpPr>
            <p:grpSpPr>
              <a:xfrm>
                <a:off x="6503238" y="2292676"/>
                <a:ext cx="4568779" cy="3674660"/>
                <a:chOff x="6503238" y="1050963"/>
                <a:chExt cx="4568779" cy="3674660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EC08CB8-99E1-EBD0-EB31-E529BF94E232}"/>
                    </a:ext>
                  </a:extLst>
                </p:cNvPr>
                <p:cNvSpPr txBox="1"/>
                <p:nvPr/>
              </p:nvSpPr>
              <p:spPr>
                <a:xfrm>
                  <a:off x="6610123" y="1345018"/>
                  <a:ext cx="4461894" cy="33806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인원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3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(</a:t>
                  </a: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클라이언트 </a:t>
                  </a:r>
                  <a:r>
                    <a:rPr lang="en-US" altLang="ko-KR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2</a:t>
                  </a: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 </a:t>
                  </a:r>
                  <a:r>
                    <a:rPr lang="en-US" altLang="ko-KR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– </a:t>
                  </a: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본인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서버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1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명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)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기간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2025.10 ~ 2025.12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담당 업무</a:t>
                  </a:r>
                  <a:endParaRPr lang="en-US" altLang="ko-KR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628650" lvl="1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클라이언트 네트워크 시스템 개발</a:t>
                  </a:r>
                  <a:endParaRPr lang="en-US" altLang="ko-K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628650" lvl="1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팀장 및 프로젝트 일정 관리</a:t>
                  </a:r>
                  <a:endParaRPr lang="en-US" altLang="ko-K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628650" lvl="1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설계 문서 및 진행 보고서 작성 관리</a:t>
                  </a:r>
                  <a:endParaRPr lang="en-US" altLang="ko-K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목적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</a:t>
                  </a:r>
                  <a:r>
                    <a:rPr lang="en-US" altLang="ko-KR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WinAPI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와 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Winsock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기반의 멀티플레이 게임 클라이언트를 개발하며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서버와의 네트워크 통신 및 객체 동기화 시스템을 구현하고 실시간 멀티플레이 게임의 동작 원리를 이해하는 것을 목표로 했습니다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.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ko-KR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기술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: C++, </a:t>
                  </a:r>
                  <a:r>
                    <a:rPr lang="en-US" altLang="ko-KR" sz="1200" dirty="0" err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WinAPI</a:t>
                  </a:r>
                  <a:r>
                    <a:rPr lang="en-US" altLang="ko-KR" sz="12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, Winsock(TCP/IP), Multi Thread</a:t>
                  </a:r>
                </a:p>
                <a:p>
                  <a:pPr marL="171450" indent="-1714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endParaRPr lang="en-US" altLang="ko-KR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5711470-3499-8943-A1A2-16223A592062}"/>
                    </a:ext>
                  </a:extLst>
                </p:cNvPr>
                <p:cNvSpPr txBox="1"/>
                <p:nvPr/>
              </p:nvSpPr>
              <p:spPr>
                <a:xfrm>
                  <a:off x="6503238" y="1050963"/>
                  <a:ext cx="1202606" cy="425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▼ 게임 개발</a:t>
                  </a:r>
                  <a:endParaRPr lang="en-US" altLang="ko-KR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92A2911-2E75-3685-3625-1461705F400F}"/>
              </a:ext>
            </a:extLst>
          </p:cNvPr>
          <p:cNvGrpSpPr/>
          <p:nvPr/>
        </p:nvGrpSpPr>
        <p:grpSpPr>
          <a:xfrm>
            <a:off x="334408" y="860436"/>
            <a:ext cx="2244628" cy="400110"/>
            <a:chOff x="334408" y="1006575"/>
            <a:chExt cx="2244628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FB81AAF-D130-81C5-DE35-7FA0FA4D1989}"/>
                </a:ext>
              </a:extLst>
            </p:cNvPr>
            <p:cNvSpPr txBox="1"/>
            <p:nvPr/>
          </p:nvSpPr>
          <p:spPr>
            <a:xfrm>
              <a:off x="712819" y="1006575"/>
              <a:ext cx="18662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3. </a:t>
              </a:r>
              <a:r>
                <a:rPr lang="ko-KR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대초원의 모험</a:t>
              </a:r>
              <a:endPara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6526A7E-95CD-950A-B4B5-88D090B4F3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97" t="29649" r="87837" b="67704"/>
            <a:stretch/>
          </p:blipFill>
          <p:spPr>
            <a:xfrm>
              <a:off x="334408" y="1007085"/>
              <a:ext cx="416119" cy="399600"/>
            </a:xfrm>
            <a:prstGeom prst="rect">
              <a:avLst/>
            </a:prstGeom>
          </p:spPr>
        </p:pic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6B60EDF1-986D-6FA9-4CAB-D50A1B4B1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858" y="4007475"/>
            <a:ext cx="3414280" cy="2690555"/>
          </a:xfrm>
          <a:prstGeom prst="rect">
            <a:avLst/>
          </a:prstGeom>
        </p:spPr>
      </p:pic>
      <p:pic>
        <p:nvPicPr>
          <p:cNvPr id="2" name="그림 1">
            <a:hlinkClick r:id="rId5"/>
            <a:extLst>
              <a:ext uri="{FF2B5EF4-FFF2-40B4-BE49-F238E27FC236}">
                <a16:creationId xmlns:a16="http://schemas.microsoft.com/office/drawing/2014/main" id="{8931DD9E-874C-76A8-7BE9-FFDB06A2B5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3519" y="1080306"/>
            <a:ext cx="785787" cy="785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7272D8-CED2-15DA-AD6B-66FE6CF83CAF}"/>
              </a:ext>
            </a:extLst>
          </p:cNvPr>
          <p:cNvSpPr txBox="1"/>
          <p:nvPr/>
        </p:nvSpPr>
        <p:spPr>
          <a:xfrm>
            <a:off x="286783" y="437615"/>
            <a:ext cx="4590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Profile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　　</a:t>
            </a:r>
            <a:r>
              <a:rPr lang="en-US" altLang="ko-KR" sz="14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Projects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4776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6630B-2995-37D1-78B9-03E86D464C1F}"/>
              </a:ext>
            </a:extLst>
          </p:cNvPr>
          <p:cNvSpPr txBox="1"/>
          <p:nvPr/>
        </p:nvSpPr>
        <p:spPr>
          <a:xfrm>
            <a:off x="4209105" y="2777192"/>
            <a:ext cx="37737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감사합니다</a:t>
            </a:r>
            <a:r>
              <a:rPr lang="en-US" altLang="ko-KR" sz="6000" dirty="0">
                <a:solidFill>
                  <a:srgbClr val="0A64F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en-US" altLang="ko-KR" sz="6000" dirty="0"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9B27AEF-E262-9000-5A71-112E73602E27}"/>
              </a:ext>
            </a:extLst>
          </p:cNvPr>
          <p:cNvGrpSpPr/>
          <p:nvPr/>
        </p:nvGrpSpPr>
        <p:grpSpPr>
          <a:xfrm>
            <a:off x="4277968" y="5779591"/>
            <a:ext cx="3636065" cy="664156"/>
            <a:chOff x="4277967" y="5779591"/>
            <a:chExt cx="3636065" cy="66415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76DAA6-1BA7-4C8B-E9E7-DD2CF03D05A6}"/>
                </a:ext>
              </a:extLst>
            </p:cNvPr>
            <p:cNvSpPr txBox="1"/>
            <p:nvPr/>
          </p:nvSpPr>
          <p:spPr>
            <a:xfrm>
              <a:off x="4277967" y="5779591"/>
              <a:ext cx="3636065" cy="664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Contact</a:t>
              </a:r>
            </a:p>
            <a:p>
              <a:pPr algn="ctr"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　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010-5744-2840 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 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　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ce0118ce@naver.com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E8EB5C5-391D-B166-8548-4EE980A5C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68256" y="6205776"/>
              <a:ext cx="100286" cy="18000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8C12254-9FEF-94F0-2359-F1C4CBF68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7302" y="6205776"/>
              <a:ext cx="270000" cy="1800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0518B06-7FB8-393E-1722-2C07269D3B75}"/>
              </a:ext>
            </a:extLst>
          </p:cNvPr>
          <p:cNvSpPr txBox="1"/>
          <p:nvPr/>
        </p:nvSpPr>
        <p:spPr>
          <a:xfrm rot="16200000">
            <a:off x="9771153" y="1574572"/>
            <a:ext cx="36671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>
                    <a:lumMod val="9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PORTFOLIO</a:t>
            </a:r>
          </a:p>
        </p:txBody>
      </p:sp>
    </p:spTree>
    <p:extLst>
      <p:ext uri="{BB962C8B-B14F-4D97-AF65-F5344CB8AC3E}">
        <p14:creationId xmlns:p14="http://schemas.microsoft.com/office/powerpoint/2010/main" val="1511767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1294</Words>
  <Application>Microsoft Office PowerPoint</Application>
  <PresentationFormat>와이드스크린</PresentationFormat>
  <Paragraphs>134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KoPub돋움체 Medium</vt:lpstr>
      <vt:lpstr>KoPub돋움체 Bold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다몬템플릿</dc:creator>
  <cp:lastModifiedBy>Nai Hoon Jung</cp:lastModifiedBy>
  <cp:revision>39</cp:revision>
  <dcterms:created xsi:type="dcterms:W3CDTF">2023-01-13T08:50:36Z</dcterms:created>
  <dcterms:modified xsi:type="dcterms:W3CDTF">2026-10-27T01:57:41Z</dcterms:modified>
</cp:coreProperties>
</file>