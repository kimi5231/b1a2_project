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0" r:id="rId3"/>
    <p:sldId id="288" r:id="rId4"/>
    <p:sldId id="276" r:id="rId5"/>
    <p:sldId id="283" r:id="rId6"/>
    <p:sldId id="289" r:id="rId7"/>
    <p:sldId id="286" r:id="rId8"/>
    <p:sldId id="28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D9D9D9"/>
    <a:srgbClr val="BFBFBF"/>
    <a:srgbClr val="8B5831"/>
    <a:srgbClr val="000000"/>
    <a:srgbClr val="0000FF"/>
    <a:srgbClr val="00FF00"/>
    <a:srgbClr val="00B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8" y="168"/>
      </p:cViewPr>
      <p:guideLst>
        <p:guide pos="3840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C0EC-84D4-B0F9-319F-CF5EA7E8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8819EC-1DBC-9FAC-1151-47E269277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139861-9902-1BC7-4631-47C79E734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06BE2-3E2B-DF09-04A6-964A75781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544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DBE4-2F21-F285-D374-F142186C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E4A408-9838-E9D8-BC18-A8C765B7D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92920C-2C86-2E2E-1B68-BDC9333BF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263E9-4260-0B33-99D0-1B318C140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79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ei2ckKSvwQ?si=N6bIcdzvxr5z_7Qs" TargetMode="External"/><Relationship Id="rId2" Type="http://schemas.openxmlformats.org/officeDocument/2006/relationships/hyperlink" Target="https://lethal-company.fandom.com/wiki/Ghost_Gir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dirty="0">
                <a:ea typeface="맑은 고딕"/>
              </a:rPr>
              <a:t>Ghost</a:t>
            </a:r>
            <a:endParaRPr lang="ko-KR" altLang="en-US" dirty="0" err="1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>
                <a:ea typeface="맑은 고딕"/>
              </a:rPr>
              <a:t>2026.05.10</a:t>
            </a:r>
            <a:endParaRPr lang="en-US" alt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A0CE61-FF2A-D923-1144-77488DC6CD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AC1B3E0-AEA6-FB11-B255-2B9524CF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ko-KR" altLang="en-US" dirty="0"/>
              <a:t>몬스터 사이즈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812DB0-BA26-A038-D3D2-D607D0358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1E3C93-D63E-EBA3-34FB-21A5E8865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7AD035-E9BF-E41F-A516-4A73B686F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18363"/>
            <a:ext cx="4181475" cy="4324350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AD85AA83-A5CB-FE0C-1156-D15A37765574}"/>
              </a:ext>
            </a:extLst>
          </p:cNvPr>
          <p:cNvSpPr txBox="1">
            <a:spLocks/>
          </p:cNvSpPr>
          <p:nvPr/>
        </p:nvSpPr>
        <p:spPr>
          <a:xfrm>
            <a:off x="6118227" y="340756"/>
            <a:ext cx="3094875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0" dirty="0"/>
              <a:t>72, 65, 108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195238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33C3F7-F721-7467-D619-FC48D47C5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308E31-523C-64F1-1866-56D40A67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참고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CF43D0-A000-F520-4A8E-82B4D926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https://lethal-company.fandom.com/wiki/Ghost_Girl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동영상 </a:t>
            </a:r>
            <a:r>
              <a:rPr lang="en-US" altLang="ko-KR" dirty="0"/>
              <a:t>&lt;The AI Behind Ghost Girl&gt;</a:t>
            </a:r>
            <a:br>
              <a:rPr lang="en-US" altLang="ko-KR" dirty="0">
                <a:hlinkClick r:id="rId3"/>
              </a:rPr>
            </a:br>
            <a:r>
              <a:rPr lang="en-US" altLang="ko-KR" dirty="0">
                <a:hlinkClick r:id="rId3"/>
              </a:rPr>
              <a:t>https://youtu.be/Hei2ckKSvwQ?si=N6bIcdzvxr5z_7Qs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E7F2B5-673E-6D96-C041-39613C77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48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7DB4F0-7EF5-5BB2-65C1-ABA4C77B3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79500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en-US" altLang="ko-KR" dirty="0">
                <a:ea typeface="맑은 고딕"/>
              </a:rPr>
              <a:t>State,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Stat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044AB5-EFEA-AEE6-07A5-3BDA3C0F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509026"/>
              </p:ext>
            </p:extLst>
          </p:nvPr>
        </p:nvGraphicFramePr>
        <p:xfrm>
          <a:off x="1892300" y="-51"/>
          <a:ext cx="5876424" cy="2829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24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9867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다른 상태가 실행되기 전까지 대기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94895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Absent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부재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타겟이 지정되어 있지 않다면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타겟을 지정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타겟이 지정되어 있으면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탐색에 성공할 때까지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초에 한 번씩 목적지를 탐색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Staring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주시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목적지에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스폰되어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타겟을 주시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Vanishing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증발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즉시 사라짐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위치에서 즉시 사라진다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맵에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특수한 효과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(Vanishing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상태가 된 방의 조명이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깜빡거림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 나타난다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Chase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추적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타겟을 쫓아간다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타겟에 닿으면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감소시킨다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F33489-AA9A-ED34-AA51-D1330E4A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620094"/>
              </p:ext>
            </p:extLst>
          </p:nvPr>
        </p:nvGraphicFramePr>
        <p:xfrm>
          <a:off x="1892300" y="2899627"/>
          <a:ext cx="8359254" cy="391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343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  <a:gridCol w="5423966">
                  <a:extLst>
                    <a:ext uri="{9D8B030D-6E8A-4147-A177-3AD203B41FA5}">
                      <a16:colId xmlns:a16="http://schemas.microsoft.com/office/drawing/2014/main" val="3693825494"/>
                    </a:ext>
                  </a:extLst>
                </a:gridCol>
              </a:tblGrid>
              <a:tr h="303433">
                <a:tc gridSpan="3"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610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97483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타겟 플레이어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타겟이 새로 지정될 때 갱신함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휴식시간을 보내면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초기값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-1)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97671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Staring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타이머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목격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STARING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 자신이 타겟 플레이어의 카메라 범위에 들어갈 때마다 증가함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A1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또는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A3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가 확률에 성공하면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휴식 시간을 보내면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초기값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비목격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횟수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STARING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 자신이 목격되지 않았다면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STARING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타이머가 종료될 때 증가함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A2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가 확률에 성공하면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휴식 시간을 보내면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초기값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Chase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종료 시간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66483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33249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휴식 시간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타겟이 죽거나 게임을 나가서 몬스터가 활동을 하지 않는 시간을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52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407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78CEE3-1A95-F54C-9C9E-25C429A19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b="1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FSM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8B003-ADFF-779A-C783-7EFDEC7A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D3E6EB6-D2D7-D827-3E79-448A225F5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167" y="0"/>
            <a:ext cx="7906466" cy="685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89EED0-E0CB-90EE-0CE8-89AF8E1B63B9}"/>
              </a:ext>
            </a:extLst>
          </p:cNvPr>
          <p:cNvSpPr txBox="1"/>
          <p:nvPr/>
        </p:nvSpPr>
        <p:spPr>
          <a:xfrm>
            <a:off x="3438167" y="2627700"/>
            <a:ext cx="6172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**</a:t>
            </a:r>
            <a:r>
              <a:rPr lang="ko-KR" altLang="en-US" sz="1050" dirty="0"/>
              <a:t>조건 </a:t>
            </a:r>
            <a:r>
              <a:rPr lang="en-US" altLang="ko-KR" sz="1050" dirty="0"/>
              <a:t>A1,2,3</a:t>
            </a:r>
            <a:r>
              <a:rPr lang="ko-KR" altLang="en-US" sz="1050" dirty="0"/>
              <a:t>는 현재 </a:t>
            </a:r>
            <a:r>
              <a:rPr lang="en-US" altLang="ko-KR" sz="1050" dirty="0"/>
              <a:t>Staring </a:t>
            </a:r>
            <a:r>
              <a:rPr lang="ko-KR" altLang="en-US" sz="1050" dirty="0"/>
              <a:t>상태 내에서 각 조건에 최초로 부합하는 순간 딱 한 번씩만 검사한다</a:t>
            </a:r>
            <a:r>
              <a:rPr lang="en-US" altLang="ko-KR" sz="1050" dirty="0"/>
              <a:t>. (</a:t>
            </a:r>
            <a:r>
              <a:rPr lang="ko-KR" altLang="en-US" sz="1050" dirty="0"/>
              <a:t>실패해도 상태가 바뀌기 전까지 해당 조건은 다시 검사하지 않는다</a:t>
            </a:r>
            <a:r>
              <a:rPr lang="en-US" altLang="ko-KR" sz="1050" dirty="0"/>
              <a:t>.)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18649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2D09FC-C5AA-2D1C-F75A-CE5689DF2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1600" dirty="0"/>
              <a:t>유령은 </a:t>
            </a:r>
            <a:r>
              <a:rPr lang="en-US" altLang="ko-KR" sz="1600" dirty="0"/>
              <a:t>Chase</a:t>
            </a:r>
            <a:r>
              <a:rPr lang="ko-KR" altLang="en-US" sz="1600" dirty="0"/>
              <a:t>할 때 문 통과할 수 있음</a:t>
            </a:r>
            <a:endParaRPr lang="en-US" altLang="ko-KR" sz="1600" dirty="0"/>
          </a:p>
          <a:p>
            <a:pPr latinLnBrk="0"/>
            <a:endParaRPr lang="en-US" altLang="ko-KR" sz="1600" dirty="0"/>
          </a:p>
          <a:p>
            <a:pPr latinLnBrk="0"/>
            <a:r>
              <a:rPr lang="en-US" altLang="ko-KR" sz="1600" dirty="0"/>
              <a:t>IDLE</a:t>
            </a:r>
            <a:r>
              <a:rPr lang="ko-KR" altLang="en-US" sz="1600" dirty="0"/>
              <a:t>에서 시작한다</a:t>
            </a:r>
            <a:r>
              <a:rPr lang="en-US" altLang="ko-KR" sz="1600" dirty="0"/>
              <a:t>. 15</a:t>
            </a:r>
            <a:r>
              <a:rPr lang="ko-KR" altLang="en-US" sz="1600" dirty="0"/>
              <a:t>초 후 </a:t>
            </a:r>
            <a:r>
              <a:rPr lang="en-US" altLang="ko-KR" sz="1600" dirty="0"/>
              <a:t>ABSENT</a:t>
            </a:r>
            <a:r>
              <a:rPr lang="ko-KR" altLang="en-US" sz="1600" dirty="0"/>
              <a:t>가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ABSENT</a:t>
            </a:r>
            <a:r>
              <a:rPr lang="ko-KR" altLang="en-US" sz="1600" dirty="0"/>
              <a:t>일 때</a:t>
            </a:r>
            <a:r>
              <a:rPr lang="en-US" altLang="ko-KR" sz="1600" dirty="0"/>
              <a:t>, </a:t>
            </a:r>
            <a:r>
              <a:rPr lang="ko-KR" altLang="en-US" sz="1600" dirty="0"/>
              <a:t>타겟이 지정되어 있지 않다면 타겟을 지정한다</a:t>
            </a:r>
            <a:r>
              <a:rPr lang="en-US" altLang="ko-KR" sz="1600" dirty="0"/>
              <a:t>. </a:t>
            </a:r>
            <a:r>
              <a:rPr lang="ko-KR" altLang="en-US" sz="1600" dirty="0"/>
              <a:t>타겟이 지정되어 있으면</a:t>
            </a:r>
            <a:r>
              <a:rPr lang="en-US" altLang="ko-KR" sz="1600" dirty="0"/>
              <a:t> </a:t>
            </a:r>
            <a:r>
              <a:rPr lang="ko-KR" altLang="en-US" sz="1600" dirty="0"/>
              <a:t>목적지를 탐색하고 탐색에 성공하면 </a:t>
            </a:r>
            <a:r>
              <a:rPr lang="en-US" altLang="ko-KR" sz="1600" dirty="0"/>
              <a:t>STAIRING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STAIRING</a:t>
            </a:r>
            <a:r>
              <a:rPr lang="ko-KR" altLang="en-US" sz="1600" dirty="0"/>
              <a:t>일 때</a:t>
            </a:r>
            <a:r>
              <a:rPr lang="en-US" altLang="ko-KR" sz="1600" dirty="0"/>
              <a:t>, ‘STARING </a:t>
            </a:r>
            <a:r>
              <a:rPr lang="ko-KR" altLang="en-US" sz="1600" dirty="0"/>
              <a:t>타이머가 종료</a:t>
            </a:r>
            <a:r>
              <a:rPr lang="en-US" altLang="ko-KR" sz="1600" dirty="0"/>
              <a:t>’</a:t>
            </a:r>
            <a:r>
              <a:rPr lang="ko-KR" altLang="en-US" sz="1600" dirty="0"/>
              <a:t>되거나 </a:t>
            </a:r>
            <a:r>
              <a:rPr lang="en-US" altLang="ko-KR" sz="1600" dirty="0"/>
              <a:t>‘</a:t>
            </a:r>
            <a:r>
              <a:rPr lang="ko-KR" altLang="en-US" sz="1600" dirty="0"/>
              <a:t>타겟이 쳐다본 횟수가 </a:t>
            </a:r>
            <a:r>
              <a:rPr lang="en-US" altLang="ko-KR" sz="1600" dirty="0"/>
              <a:t>1</a:t>
            </a:r>
            <a:r>
              <a:rPr lang="ko-KR" altLang="en-US" sz="1600" dirty="0"/>
              <a:t>회 이하이고 타겟과의 거리가 </a:t>
            </a:r>
            <a:r>
              <a:rPr lang="en-US" altLang="ko-KR" sz="1600" dirty="0"/>
              <a:t>2m </a:t>
            </a:r>
            <a:r>
              <a:rPr lang="ko-KR" altLang="en-US" sz="1600" dirty="0"/>
              <a:t>초과 </a:t>
            </a:r>
            <a:r>
              <a:rPr lang="en-US" altLang="ko-KR" sz="1600" dirty="0"/>
              <a:t>2.5m </a:t>
            </a:r>
            <a:r>
              <a:rPr lang="ko-KR" altLang="en-US" sz="1600" dirty="0"/>
              <a:t>이하</a:t>
            </a:r>
            <a:r>
              <a:rPr lang="en-US" altLang="ko-KR" sz="1600" dirty="0"/>
              <a:t>’</a:t>
            </a:r>
            <a:r>
              <a:rPr lang="ko-KR" altLang="en-US" sz="1600" dirty="0"/>
              <a:t>이거나 </a:t>
            </a:r>
            <a:r>
              <a:rPr lang="en-US" altLang="ko-KR" sz="1600" dirty="0"/>
              <a:t>‘</a:t>
            </a:r>
            <a:r>
              <a:rPr lang="ko-KR" altLang="en-US" sz="1600" dirty="0"/>
              <a:t>타겟과의 거리가 </a:t>
            </a:r>
            <a:r>
              <a:rPr lang="en-US" altLang="ko-KR" sz="1600" dirty="0"/>
              <a:t>10m </a:t>
            </a:r>
            <a:r>
              <a:rPr lang="ko-KR" altLang="en-US" sz="1600" dirty="0"/>
              <a:t>이상</a:t>
            </a:r>
            <a:r>
              <a:rPr lang="en-US" altLang="ko-KR" sz="1600" dirty="0"/>
              <a:t>’</a:t>
            </a:r>
            <a:r>
              <a:rPr lang="ko-KR" altLang="en-US" sz="1600" dirty="0"/>
              <a:t>이면 </a:t>
            </a:r>
            <a:r>
              <a:rPr lang="en-US" altLang="ko-KR" sz="1600" dirty="0"/>
              <a:t>VANISHING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STARING</a:t>
            </a:r>
            <a:r>
              <a:rPr lang="ko-KR" altLang="en-US" sz="1600" dirty="0"/>
              <a:t>일 때</a:t>
            </a:r>
            <a:r>
              <a:rPr lang="en-US" altLang="ko-KR" sz="1600" dirty="0"/>
              <a:t>, ‘</a:t>
            </a:r>
            <a:r>
              <a:rPr lang="ko-KR" altLang="en-US" sz="1600" dirty="0"/>
              <a:t>조건 </a:t>
            </a:r>
            <a:r>
              <a:rPr lang="en-US" altLang="ko-KR" sz="1600" dirty="0"/>
              <a:t>A1,2,3 </a:t>
            </a:r>
            <a:r>
              <a:rPr lang="ko-KR" altLang="en-US" sz="1600" dirty="0"/>
              <a:t>중 하나라도 성공</a:t>
            </a:r>
            <a:r>
              <a:rPr lang="en-US" altLang="ko-KR" sz="1600" dirty="0"/>
              <a:t>’</a:t>
            </a:r>
            <a:r>
              <a:rPr lang="ko-KR" altLang="en-US" sz="1600" dirty="0"/>
              <a:t>하거나 </a:t>
            </a:r>
            <a:r>
              <a:rPr lang="en-US" altLang="ko-KR" sz="1600" dirty="0"/>
              <a:t>‘</a:t>
            </a:r>
            <a:r>
              <a:rPr lang="ko-KR" altLang="en-US" sz="1600" dirty="0"/>
              <a:t>타겟과의 거리가 </a:t>
            </a:r>
            <a:r>
              <a:rPr lang="en-US" altLang="ko-KR" sz="1600" dirty="0"/>
              <a:t>1.5m</a:t>
            </a:r>
            <a:r>
              <a:rPr lang="ko-KR" altLang="en-US" sz="1600" dirty="0"/>
              <a:t>이하</a:t>
            </a:r>
            <a:r>
              <a:rPr lang="en-US" altLang="ko-KR" sz="1600" dirty="0"/>
              <a:t>’</a:t>
            </a:r>
            <a:r>
              <a:rPr lang="ko-KR" altLang="en-US" sz="1600" dirty="0"/>
              <a:t>이면 </a:t>
            </a:r>
            <a:r>
              <a:rPr lang="en-US" altLang="ko-KR" sz="1600" dirty="0"/>
              <a:t>CHASE</a:t>
            </a:r>
            <a:r>
              <a:rPr lang="ko-KR" altLang="en-US" sz="1600" dirty="0"/>
              <a:t>가 된다</a:t>
            </a:r>
            <a:r>
              <a:rPr lang="en-US" altLang="ko-KR" sz="1600" dirty="0"/>
              <a:t>. </a:t>
            </a:r>
            <a:r>
              <a:rPr lang="ko-KR" altLang="en-US" sz="1600" dirty="0"/>
              <a:t>조건 </a:t>
            </a:r>
            <a:r>
              <a:rPr lang="en-US" altLang="ko-KR" sz="1600" dirty="0"/>
              <a:t>A1,2,3</a:t>
            </a:r>
            <a:r>
              <a:rPr lang="ko-KR" altLang="en-US" sz="1600" dirty="0"/>
              <a:t>는 현재 </a:t>
            </a:r>
            <a:r>
              <a:rPr lang="en-US" altLang="ko-KR" sz="1600" dirty="0"/>
              <a:t>Staring </a:t>
            </a:r>
            <a:r>
              <a:rPr lang="ko-KR" altLang="en-US" sz="1600" dirty="0"/>
              <a:t>상태 내에서 각 조건에 최초로 부합하는 순간 딱 한 번씩만 검사한다</a:t>
            </a:r>
            <a:r>
              <a:rPr lang="en-US" altLang="ko-KR" sz="1600" dirty="0"/>
              <a:t>. (</a:t>
            </a:r>
            <a:r>
              <a:rPr lang="ko-KR" altLang="en-US" sz="1600" dirty="0"/>
              <a:t>실패해도 상태가 바뀌기 전까지 해당 조건은 다시 검사하지 않는다</a:t>
            </a:r>
            <a:r>
              <a:rPr lang="en-US" altLang="ko-KR" sz="1600" dirty="0"/>
              <a:t>.)</a:t>
            </a:r>
          </a:p>
          <a:p>
            <a:pPr latinLnBrk="0"/>
            <a:r>
              <a:rPr lang="en-US" altLang="ko-KR" sz="1600" dirty="0"/>
              <a:t>CHASE</a:t>
            </a:r>
            <a:r>
              <a:rPr lang="ko-KR" altLang="en-US" sz="1600" dirty="0"/>
              <a:t>일 때</a:t>
            </a:r>
            <a:r>
              <a:rPr lang="en-US" altLang="ko-KR" sz="1600" dirty="0"/>
              <a:t>, </a:t>
            </a:r>
            <a:r>
              <a:rPr lang="en-US" altLang="ko-KR" sz="1600" dirty="0">
                <a:solidFill>
                  <a:srgbClr val="000000"/>
                </a:solidFill>
                <a:latin typeface="Helvetica" panose="020B0604020202020204" pitchFamily="34" charset="0"/>
              </a:rPr>
              <a:t>‘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추적 종료 시간이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경과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’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하거나 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‘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타겟과의 거리가 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30m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이상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’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 되거나 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‘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타겟과 충돌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‘</a:t>
            </a:r>
            <a:r>
              <a:rPr lang="ko-KR" altLang="en-US" sz="1600" dirty="0">
                <a:solidFill>
                  <a:srgbClr val="000000"/>
                </a:solidFill>
                <a:latin typeface="Helvetica" panose="020B0604020202020204" pitchFamily="34" charset="0"/>
              </a:rPr>
              <a:t>하면 </a:t>
            </a:r>
            <a:r>
              <a:rPr lang="en-US" altLang="ko-KR" sz="1600" dirty="0">
                <a:solidFill>
                  <a:srgbClr val="000000"/>
                </a:solidFill>
                <a:latin typeface="Helvetica" panose="020B0604020202020204" pitchFamily="34" charset="0"/>
              </a:rPr>
              <a:t>VANISHING</a:t>
            </a:r>
            <a:r>
              <a:rPr lang="ko-KR" altLang="en-US" sz="1600" dirty="0">
                <a:solidFill>
                  <a:srgbClr val="000000"/>
                </a:solidFill>
                <a:latin typeface="Helvetica" panose="020B0604020202020204" pitchFamily="34" charset="0"/>
              </a:rPr>
              <a:t>이 된다</a:t>
            </a:r>
            <a:r>
              <a:rPr lang="en-US" altLang="ko-KR" sz="1600" dirty="0">
                <a:solidFill>
                  <a:srgbClr val="000000"/>
                </a:solidFill>
                <a:latin typeface="Helvetica" panose="020B0604020202020204" pitchFamily="34" charset="0"/>
              </a:rPr>
              <a:t>.</a:t>
            </a:r>
          </a:p>
          <a:p>
            <a:pPr latinLnBrk="0"/>
            <a:r>
              <a:rPr lang="en-US" altLang="ko-KR" sz="1600" dirty="0">
                <a:solidFill>
                  <a:srgbClr val="000000"/>
                </a:solidFill>
                <a:latin typeface="Helvetica" panose="020B0604020202020204" pitchFamily="34" charset="0"/>
              </a:rPr>
              <a:t>VANISHNG</a:t>
            </a:r>
            <a:r>
              <a:rPr lang="ko-KR" altLang="en-US" sz="1600" dirty="0">
                <a:solidFill>
                  <a:srgbClr val="000000"/>
                </a:solidFill>
                <a:latin typeface="Helvetica" panose="020B0604020202020204" pitchFamily="34" charset="0"/>
              </a:rPr>
              <a:t>이후 아무 조건 없이 </a:t>
            </a:r>
            <a:r>
              <a:rPr lang="en-US" altLang="ko-KR" sz="1600" dirty="0">
                <a:solidFill>
                  <a:srgbClr val="000000"/>
                </a:solidFill>
                <a:latin typeface="Helvetica" panose="020B0604020202020204" pitchFamily="34" charset="0"/>
              </a:rPr>
              <a:t>IDLE</a:t>
            </a:r>
            <a:r>
              <a:rPr lang="ko-KR" altLang="en-US" sz="1600" dirty="0">
                <a:solidFill>
                  <a:srgbClr val="000000"/>
                </a:solidFill>
                <a:latin typeface="Helvetica" panose="020B0604020202020204" pitchFamily="34" charset="0"/>
              </a:rPr>
              <a:t>이 된다</a:t>
            </a:r>
            <a:r>
              <a:rPr lang="en-US" altLang="ko-KR" sz="1600" dirty="0">
                <a:solidFill>
                  <a:srgbClr val="000000"/>
                </a:solidFill>
                <a:latin typeface="Helvetica" panose="020B0604020202020204" pitchFamily="34" charset="0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7EE312-4726-E011-B835-C0EF9952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2A46BF1A-3D59-9D17-50C8-2789794C9B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53328"/>
            <a:ext cx="1600200" cy="2349500"/>
          </a:xfrm>
        </p:spPr>
        <p:txBody>
          <a:bodyPr/>
          <a:lstStyle/>
          <a:p>
            <a:pPr latinLnBrk="0"/>
            <a:r>
              <a:rPr lang="en-US" altLang="ko-KR" b="1" dirty="0"/>
              <a:t>FSM </a:t>
            </a:r>
            <a:r>
              <a:rPr lang="ko-KR" altLang="en-US" b="1" dirty="0"/>
              <a:t>설명</a:t>
            </a:r>
            <a:endParaRPr lang="en-US" altLang="ko-KR" b="1" dirty="0"/>
          </a:p>
          <a:p>
            <a:pPr latinLnBrk="0"/>
            <a:r>
              <a:rPr lang="ko-KR" altLang="en-US" dirty="0"/>
              <a:t>타겟 지정 조건과 방식</a:t>
            </a:r>
            <a:endParaRPr lang="en-US" altLang="ko-KR" dirty="0"/>
          </a:p>
          <a:p>
            <a:pPr latinLnBrk="0"/>
            <a:r>
              <a:rPr lang="ko-KR" altLang="en-US" dirty="0"/>
              <a:t>목적지 탐색 방식</a:t>
            </a:r>
          </a:p>
          <a:p>
            <a:pPr latinLnBrk="0"/>
            <a:endParaRPr lang="ko-KR" altLang="en-US" dirty="0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807D3CDE-51FC-4237-6A79-20DD8AF1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DAB6D4-B28B-8A96-F843-760CA5FE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3890910"/>
            <a:ext cx="8740513" cy="127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7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4546C-ECF7-9744-CD19-CC835A95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060C8FB-1D5B-23A1-5A0F-EB7D1BAD7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53328"/>
            <a:ext cx="1600200" cy="2349500"/>
          </a:xfrm>
        </p:spPr>
        <p:txBody>
          <a:bodyPr/>
          <a:lstStyle/>
          <a:p>
            <a:pPr latinLnBrk="0"/>
            <a:r>
              <a:rPr lang="en-US" altLang="ko-KR" dirty="0"/>
              <a:t>FSM </a:t>
            </a:r>
            <a:r>
              <a:rPr lang="ko-KR" altLang="en-US" dirty="0"/>
              <a:t>설명</a:t>
            </a:r>
            <a:endParaRPr lang="en-US" altLang="ko-KR" dirty="0"/>
          </a:p>
          <a:p>
            <a:pPr latinLnBrk="0"/>
            <a:r>
              <a:rPr lang="ko-KR" altLang="en-US" b="1" dirty="0"/>
              <a:t>타겟 지정 조건과 방식</a:t>
            </a:r>
            <a:endParaRPr lang="en-US" altLang="ko-KR" b="1" dirty="0"/>
          </a:p>
          <a:p>
            <a:pPr latinLnBrk="0"/>
            <a:r>
              <a:rPr lang="ko-KR" altLang="en-US" dirty="0"/>
              <a:t>목적지 탐색 방식</a:t>
            </a:r>
          </a:p>
          <a:p>
            <a:pPr latinLnBrk="0"/>
            <a:endParaRPr lang="ko-KR" altLang="en-US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B0D78C3-2131-502D-B080-AFD5C7BF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9CE85B-EADC-8C6D-9DCB-FC409250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latinLnBrk="0">
              <a:buAutoNum type="arabicPeriod"/>
            </a:pPr>
            <a:r>
              <a:rPr lang="ko-KR" altLang="en-US" sz="1400" dirty="0">
                <a:ea typeface="+mn-lt"/>
                <a:cs typeface="+mn-lt"/>
              </a:rPr>
              <a:t>타겟이 지정되지 않았을 때</a:t>
            </a:r>
            <a:r>
              <a:rPr lang="en-US" altLang="ko-KR" sz="1400" dirty="0">
                <a:ea typeface="+mn-lt"/>
                <a:cs typeface="+mn-lt"/>
              </a:rPr>
              <a:t>, Absent </a:t>
            </a:r>
            <a:r>
              <a:rPr lang="ko-KR" altLang="en-US" sz="1400" dirty="0">
                <a:ea typeface="+mn-lt"/>
                <a:cs typeface="+mn-lt"/>
              </a:rPr>
              <a:t>가 된 순간을 기준으로</a:t>
            </a:r>
            <a:r>
              <a:rPr lang="en-US" altLang="ko-KR" sz="1400" dirty="0">
                <a:ea typeface="+mn-lt"/>
                <a:cs typeface="+mn-lt"/>
              </a:rPr>
              <a:t>, </a:t>
            </a:r>
            <a:r>
              <a:rPr lang="ko-KR" altLang="en-US" sz="1400" dirty="0">
                <a:ea typeface="+mn-lt"/>
                <a:cs typeface="+mn-lt"/>
              </a:rPr>
              <a:t>아래 조건을 하나라도 만족하는 플레이어는 </a:t>
            </a:r>
            <a:r>
              <a:rPr lang="en-US" altLang="ko-KR" sz="1400" dirty="0">
                <a:ea typeface="+mn-lt"/>
                <a:cs typeface="+mn-lt"/>
              </a:rPr>
              <a:t>‘</a:t>
            </a:r>
            <a:r>
              <a:rPr lang="ko-KR" altLang="en-US" sz="1400" dirty="0">
                <a:ea typeface="+mn-lt"/>
                <a:cs typeface="+mn-lt"/>
              </a:rPr>
              <a:t>타겟 후보</a:t>
            </a:r>
            <a:r>
              <a:rPr lang="en-US" altLang="ko-KR" sz="1400" dirty="0">
                <a:ea typeface="+mn-lt"/>
                <a:cs typeface="+mn-lt"/>
              </a:rPr>
              <a:t>’</a:t>
            </a:r>
            <a:r>
              <a:rPr lang="ko-KR" altLang="en-US" sz="1400" dirty="0">
                <a:ea typeface="+mn-lt"/>
                <a:cs typeface="+mn-lt"/>
              </a:rPr>
              <a:t>가 된다</a:t>
            </a:r>
            <a:r>
              <a:rPr lang="en-US" altLang="ko-KR" sz="1400" dirty="0">
                <a:ea typeface="+mn-lt"/>
                <a:cs typeface="+mn-lt"/>
              </a:rPr>
              <a:t>.</a:t>
            </a:r>
            <a:r>
              <a:rPr lang="ko-KR" altLang="en-US" sz="1400" dirty="0">
                <a:ea typeface="+mn-lt"/>
                <a:cs typeface="+mn-lt"/>
              </a:rPr>
              <a:t> 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400" dirty="0">
                <a:ea typeface="+mn-lt"/>
                <a:cs typeface="+mn-lt"/>
              </a:rPr>
              <a:t>타겟 후보 중 무작위로 선택된 </a:t>
            </a:r>
            <a:r>
              <a:rPr lang="en-US" altLang="ko-KR" sz="1400" dirty="0">
                <a:ea typeface="+mn-lt"/>
                <a:cs typeface="+mn-lt"/>
              </a:rPr>
              <a:t>1 </a:t>
            </a:r>
            <a:r>
              <a:rPr lang="ko-KR" altLang="en-US" sz="1400" dirty="0">
                <a:ea typeface="+mn-lt"/>
                <a:cs typeface="+mn-lt"/>
              </a:rPr>
              <a:t>인이 </a:t>
            </a:r>
            <a:r>
              <a:rPr lang="en-US" altLang="ko-KR" sz="1400" dirty="0">
                <a:ea typeface="+mn-lt"/>
                <a:cs typeface="+mn-lt"/>
              </a:rPr>
              <a:t>‘</a:t>
            </a:r>
            <a:r>
              <a:rPr lang="ko-KR" altLang="en-US" sz="1400" dirty="0">
                <a:ea typeface="+mn-lt"/>
                <a:cs typeface="+mn-lt"/>
              </a:rPr>
              <a:t>타겟</a:t>
            </a:r>
            <a:r>
              <a:rPr lang="en-US" altLang="ko-KR" sz="1400" dirty="0">
                <a:ea typeface="+mn-lt"/>
                <a:cs typeface="+mn-lt"/>
              </a:rPr>
              <a:t>’</a:t>
            </a:r>
            <a:r>
              <a:rPr lang="ko-KR" altLang="en-US" sz="1400" dirty="0">
                <a:ea typeface="+mn-lt"/>
                <a:cs typeface="+mn-lt"/>
              </a:rPr>
              <a:t>이 된다</a:t>
            </a:r>
            <a:r>
              <a:rPr lang="en-US" altLang="ko-KR" sz="1400" dirty="0">
                <a:ea typeface="+mn-lt"/>
                <a:cs typeface="+mn-lt"/>
              </a:rPr>
              <a:t>.</a:t>
            </a:r>
            <a:br>
              <a:rPr lang="en-US" altLang="ko-KR" sz="1400" dirty="0">
                <a:ea typeface="+mn-lt"/>
                <a:cs typeface="+mn-lt"/>
              </a:rPr>
            </a:b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400" dirty="0">
                <a:ea typeface="+mn-lt"/>
                <a:cs typeface="+mn-lt"/>
              </a:rPr>
              <a:t>조건 </a:t>
            </a:r>
            <a:r>
              <a:rPr lang="en-US" altLang="ko-KR" sz="1400" dirty="0">
                <a:ea typeface="+mn-lt"/>
                <a:cs typeface="+mn-lt"/>
              </a:rPr>
              <a:t>1. </a:t>
            </a:r>
            <a:r>
              <a:rPr lang="ko-KR" altLang="en-US" sz="1400" dirty="0">
                <a:ea typeface="+mn-lt"/>
                <a:cs typeface="+mn-lt"/>
              </a:rPr>
              <a:t>누적된 </a:t>
            </a:r>
            <a:r>
              <a:rPr lang="en-US" altLang="ko-KR" sz="1400" dirty="0">
                <a:ea typeface="+mn-lt"/>
                <a:cs typeface="+mn-lt"/>
              </a:rPr>
              <a:t>Fear </a:t>
            </a:r>
            <a:r>
              <a:rPr lang="ko-KR" altLang="en-US" sz="1400" dirty="0">
                <a:ea typeface="+mn-lt"/>
                <a:cs typeface="+mn-lt"/>
              </a:rPr>
              <a:t>값이 가장 높음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400" dirty="0">
                <a:ea typeface="+mn-lt"/>
                <a:cs typeface="+mn-lt"/>
              </a:rPr>
              <a:t>조건 </a:t>
            </a:r>
            <a:r>
              <a:rPr lang="en-US" altLang="ko-KR" sz="1400" dirty="0">
                <a:ea typeface="+mn-lt"/>
                <a:cs typeface="+mn-lt"/>
              </a:rPr>
              <a:t>2. </a:t>
            </a:r>
            <a:r>
              <a:rPr lang="ko-KR" altLang="en-US" sz="1400" dirty="0">
                <a:ea typeface="+mn-lt"/>
                <a:cs typeface="+mn-lt"/>
              </a:rPr>
              <a:t>누적된 </a:t>
            </a:r>
            <a:r>
              <a:rPr lang="en-US" altLang="ko-KR" sz="1400" dirty="0">
                <a:ea typeface="+mn-lt"/>
                <a:cs typeface="+mn-lt"/>
              </a:rPr>
              <a:t>Fear </a:t>
            </a:r>
            <a:r>
              <a:rPr lang="ko-KR" altLang="en-US" sz="1400" dirty="0">
                <a:ea typeface="+mn-lt"/>
                <a:cs typeface="+mn-lt"/>
              </a:rPr>
              <a:t>값이 가장 낮음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400" dirty="0">
                <a:ea typeface="+mn-lt"/>
                <a:cs typeface="+mn-lt"/>
              </a:rPr>
              <a:t>조건 </a:t>
            </a:r>
            <a:r>
              <a:rPr lang="en-US" altLang="ko-KR" sz="1400" dirty="0">
                <a:ea typeface="+mn-lt"/>
                <a:cs typeface="+mn-lt"/>
              </a:rPr>
              <a:t>3. </a:t>
            </a:r>
            <a:r>
              <a:rPr lang="ko-KR" altLang="en-US" sz="1400" dirty="0">
                <a:ea typeface="+mn-lt"/>
                <a:cs typeface="+mn-lt"/>
              </a:rPr>
              <a:t>습득한 스크랩들의 총 가격이 가장 높음</a:t>
            </a:r>
            <a:endParaRPr lang="en-US" altLang="ko-KR" sz="1400" dirty="0">
              <a:ea typeface="+mn-lt"/>
              <a:cs typeface="+mn-lt"/>
            </a:endParaRPr>
          </a:p>
          <a:p>
            <a:pPr marL="342900" indent="-342900" latinLnBrk="0">
              <a:buAutoNum type="arabicPeriod"/>
            </a:pPr>
            <a:r>
              <a:rPr lang="ko-KR" altLang="en-US" sz="1400" dirty="0">
                <a:ea typeface="+mn-lt"/>
                <a:cs typeface="+mn-lt"/>
              </a:rPr>
              <a:t>각 조건에 부합하는 플레이어가 여러 명일 경우</a:t>
            </a:r>
            <a:r>
              <a:rPr lang="en-US" altLang="ko-KR" sz="1400" dirty="0">
                <a:ea typeface="+mn-lt"/>
                <a:cs typeface="+mn-lt"/>
              </a:rPr>
              <a:t>, </a:t>
            </a:r>
            <a:r>
              <a:rPr lang="ko-KR" altLang="en-US" sz="1400" dirty="0">
                <a:ea typeface="+mn-lt"/>
                <a:cs typeface="+mn-lt"/>
              </a:rPr>
              <a:t>모두 타겟 후보가 된다</a:t>
            </a:r>
            <a:r>
              <a:rPr lang="en-US" altLang="ko-KR" sz="1400" dirty="0">
                <a:ea typeface="+mn-lt"/>
                <a:cs typeface="+mn-lt"/>
              </a:rPr>
              <a:t>.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en-US" altLang="ko-KR" sz="1400" dirty="0">
                <a:ea typeface="+mn-lt"/>
                <a:cs typeface="+mn-lt"/>
              </a:rPr>
              <a:t>(Ex. </a:t>
            </a:r>
            <a:r>
              <a:rPr lang="ko-KR" altLang="en-US" sz="1400" dirty="0">
                <a:ea typeface="+mn-lt"/>
                <a:cs typeface="+mn-lt"/>
              </a:rPr>
              <a:t>모든 플레이어의 누적된 </a:t>
            </a:r>
            <a:r>
              <a:rPr lang="en-US" altLang="ko-KR" sz="1400" dirty="0">
                <a:ea typeface="+mn-lt"/>
                <a:cs typeface="+mn-lt"/>
              </a:rPr>
              <a:t>Fear </a:t>
            </a:r>
            <a:r>
              <a:rPr lang="ko-KR" altLang="en-US" sz="1400" dirty="0">
                <a:ea typeface="+mn-lt"/>
                <a:cs typeface="+mn-lt"/>
              </a:rPr>
              <a:t>값이 동일할 경우</a:t>
            </a:r>
            <a:r>
              <a:rPr lang="en-US" altLang="ko-KR" sz="1400" dirty="0">
                <a:ea typeface="+mn-lt"/>
                <a:cs typeface="+mn-lt"/>
              </a:rPr>
              <a:t>, </a:t>
            </a:r>
            <a:r>
              <a:rPr lang="ko-KR" altLang="en-US" sz="1400" dirty="0">
                <a:ea typeface="+mn-lt"/>
                <a:cs typeface="+mn-lt"/>
              </a:rPr>
              <a:t>타겟 후보는 전원</a:t>
            </a:r>
            <a:r>
              <a:rPr lang="en-US" altLang="ko-KR" sz="1400" dirty="0">
                <a:ea typeface="+mn-lt"/>
                <a:cs typeface="+mn-lt"/>
              </a:rPr>
              <a:t>.)</a:t>
            </a:r>
          </a:p>
          <a:p>
            <a:pPr marL="342900" indent="-342900" latinLnBrk="0">
              <a:buAutoNum type="arabicPeriod"/>
            </a:pPr>
            <a:r>
              <a:rPr lang="ko-KR" altLang="en-US" sz="1400" dirty="0"/>
              <a:t>단</a:t>
            </a:r>
            <a:r>
              <a:rPr lang="en-US" altLang="ko-KR" sz="1400" dirty="0"/>
              <a:t>, </a:t>
            </a:r>
            <a:r>
              <a:rPr lang="ko-KR" altLang="en-US" sz="1400" dirty="0"/>
              <a:t>한 플레이어가 여러 조건을 동시에 만족하더라도 타겟 후보 목록에는 중복 없이 </a:t>
            </a:r>
            <a:r>
              <a:rPr lang="en-US" altLang="ko-KR" sz="1400" dirty="0"/>
              <a:t>1</a:t>
            </a:r>
            <a:r>
              <a:rPr lang="ko-KR" altLang="en-US" sz="1400" dirty="0"/>
              <a:t>번만 등록된다</a:t>
            </a:r>
            <a:endParaRPr lang="en-US" altLang="ko-KR" sz="1400" dirty="0">
              <a:ea typeface="+mn-lt"/>
              <a:cs typeface="+mn-lt"/>
            </a:endParaRPr>
          </a:p>
          <a:p>
            <a:pPr marL="342900" indent="-342900" latinLnBrk="0">
              <a:buAutoNum type="arabicPeriod"/>
            </a:pPr>
            <a:r>
              <a:rPr lang="ko-KR" altLang="en-US" sz="1400" dirty="0">
                <a:ea typeface="+mn-lt"/>
                <a:cs typeface="+mn-lt"/>
              </a:rPr>
              <a:t>게임 도중</a:t>
            </a:r>
            <a:r>
              <a:rPr lang="en-US" altLang="ko-KR" sz="1400" dirty="0">
                <a:ea typeface="+mn-lt"/>
                <a:cs typeface="+mn-lt"/>
              </a:rPr>
              <a:t>, </a:t>
            </a:r>
            <a:r>
              <a:rPr lang="ko-KR" altLang="en-US" sz="1400" dirty="0">
                <a:ea typeface="+mn-lt"/>
                <a:cs typeface="+mn-lt"/>
              </a:rPr>
              <a:t>타겟 플레이어가 게임을 나가거나 사망한다면</a:t>
            </a:r>
            <a:r>
              <a:rPr lang="en-US" altLang="ko-KR" sz="1400" dirty="0">
                <a:ea typeface="+mn-lt"/>
                <a:cs typeface="+mn-lt"/>
              </a:rPr>
              <a:t>, </a:t>
            </a:r>
            <a:r>
              <a:rPr lang="ko-KR" altLang="en-US" sz="1400" dirty="0">
                <a:ea typeface="+mn-lt"/>
                <a:cs typeface="+mn-lt"/>
              </a:rPr>
              <a:t>유령은 활동을 멈추고 즉시 사라진다</a:t>
            </a:r>
            <a:r>
              <a:rPr lang="en-US" altLang="ko-KR" sz="1400" dirty="0">
                <a:ea typeface="+mn-lt"/>
                <a:cs typeface="+mn-lt"/>
              </a:rPr>
              <a:t>. </a:t>
            </a:r>
            <a:r>
              <a:rPr lang="ko-KR" altLang="en-US" sz="1400" dirty="0" err="1">
                <a:ea typeface="+mn-lt"/>
                <a:cs typeface="+mn-lt"/>
              </a:rPr>
              <a:t>스탯을</a:t>
            </a:r>
            <a:r>
              <a:rPr lang="ko-KR" altLang="en-US" sz="1400" dirty="0">
                <a:ea typeface="+mn-lt"/>
                <a:cs typeface="+mn-lt"/>
              </a:rPr>
              <a:t> 초기화한다</a:t>
            </a:r>
            <a:r>
              <a:rPr lang="en-US" altLang="ko-KR" sz="1400" dirty="0">
                <a:ea typeface="+mn-lt"/>
                <a:cs typeface="+mn-lt"/>
              </a:rPr>
              <a:t>.</a:t>
            </a:r>
          </a:p>
          <a:p>
            <a:pPr marL="342900" indent="-342900" latinLnBrk="0">
              <a:buAutoNum type="arabicPeriod"/>
            </a:pPr>
            <a:r>
              <a:rPr lang="ko-KR" altLang="en-US" sz="1400" dirty="0">
                <a:ea typeface="+mn-lt"/>
                <a:cs typeface="+mn-lt"/>
              </a:rPr>
              <a:t>휴식 시간 후</a:t>
            </a:r>
            <a:r>
              <a:rPr lang="en-US" altLang="ko-KR" sz="1400" dirty="0">
                <a:ea typeface="+mn-lt"/>
                <a:cs typeface="+mn-lt"/>
              </a:rPr>
              <a:t>, </a:t>
            </a:r>
            <a:r>
              <a:rPr lang="ko-KR" altLang="en-US" sz="1400" dirty="0">
                <a:ea typeface="+mn-lt"/>
                <a:cs typeface="+mn-lt"/>
              </a:rPr>
              <a:t>유령은 </a:t>
            </a:r>
            <a:r>
              <a:rPr lang="en-US" altLang="ko-KR" sz="1400" dirty="0">
                <a:ea typeface="+mn-lt"/>
                <a:cs typeface="+mn-lt"/>
              </a:rPr>
              <a:t>Idle </a:t>
            </a:r>
            <a:r>
              <a:rPr lang="ko-KR" altLang="en-US" sz="1400" dirty="0">
                <a:ea typeface="+mn-lt"/>
                <a:cs typeface="+mn-lt"/>
              </a:rPr>
              <a:t>상태에서 다시 시작한다</a:t>
            </a:r>
            <a:r>
              <a:rPr lang="en-US" altLang="ko-KR" sz="1400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FA3E1F-37E2-3EE9-C745-D8FCBD61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19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F3CD-3C6A-4334-1694-89A98E2F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1A9D1B-F6F0-35AA-EDE6-9A279132D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53328"/>
            <a:ext cx="1600200" cy="2349500"/>
          </a:xfrm>
        </p:spPr>
        <p:txBody>
          <a:bodyPr/>
          <a:lstStyle/>
          <a:p>
            <a:pPr latinLnBrk="0"/>
            <a:r>
              <a:rPr lang="en-US" altLang="ko-KR" dirty="0"/>
              <a:t>FSM </a:t>
            </a:r>
            <a:r>
              <a:rPr lang="ko-KR" altLang="en-US" dirty="0"/>
              <a:t>설명</a:t>
            </a:r>
            <a:endParaRPr lang="en-US" altLang="ko-KR" dirty="0"/>
          </a:p>
          <a:p>
            <a:pPr latinLnBrk="0"/>
            <a:r>
              <a:rPr lang="ko-KR" altLang="en-US" dirty="0"/>
              <a:t>타겟 지정 조건과 방식</a:t>
            </a:r>
            <a:endParaRPr lang="en-US" altLang="ko-KR" dirty="0"/>
          </a:p>
          <a:p>
            <a:pPr latinLnBrk="0"/>
            <a:r>
              <a:rPr lang="ko-KR" altLang="en-US" b="1" dirty="0"/>
              <a:t>목적지 탐색 방식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AB249A-0CC1-9AC0-FDA8-04B7E272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C11541-C71F-8525-A499-A8CBE94B2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1600" b="1" dirty="0">
                <a:solidFill>
                  <a:srgbClr val="FF0000"/>
                </a:solidFill>
                <a:ea typeface="+mn-lt"/>
                <a:cs typeface="+mn-lt"/>
              </a:rPr>
              <a:t>플레이어와 동일한 큐브 안에서</a:t>
            </a:r>
            <a:r>
              <a:rPr lang="en-US" altLang="ko-KR" sz="1600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ea typeface="+mn-lt"/>
                <a:cs typeface="+mn-lt"/>
              </a:rPr>
              <a:t>플레이어 방향의 반대 방향 </a:t>
            </a:r>
            <a:r>
              <a:rPr lang="en-US" altLang="ko-KR" sz="1600" b="1" dirty="0">
                <a:solidFill>
                  <a:srgbClr val="FF0000"/>
                </a:solidFill>
                <a:ea typeface="+mn-lt"/>
                <a:cs typeface="+mn-lt"/>
              </a:rPr>
              <a:t>4m </a:t>
            </a:r>
            <a:r>
              <a:rPr lang="ko-KR" altLang="en-US" sz="1600" b="1" dirty="0">
                <a:solidFill>
                  <a:srgbClr val="FF0000"/>
                </a:solidFill>
                <a:ea typeface="+mn-lt"/>
                <a:cs typeface="+mn-lt"/>
              </a:rPr>
              <a:t>떨어진 빈 지점</a:t>
            </a:r>
            <a:r>
              <a:rPr lang="ko-KR" altLang="en-US" sz="1600" dirty="0">
                <a:ea typeface="+mn-lt"/>
                <a:cs typeface="+mn-lt"/>
              </a:rPr>
              <a:t>을 목적지로 설정한다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200" dirty="0">
                <a:ea typeface="+mn-lt"/>
                <a:cs typeface="+mn-lt"/>
              </a:rPr>
              <a:t>(*</a:t>
            </a:r>
            <a:r>
              <a:rPr lang="ko-KR" altLang="en-US" sz="1200" dirty="0">
                <a:ea typeface="+mn-lt"/>
                <a:cs typeface="+mn-lt"/>
              </a:rPr>
              <a:t>빈 지점</a:t>
            </a:r>
            <a:r>
              <a:rPr lang="en-US" altLang="ko-KR" sz="1200" dirty="0">
                <a:ea typeface="+mn-lt"/>
                <a:cs typeface="+mn-lt"/>
              </a:rPr>
              <a:t>: </a:t>
            </a:r>
            <a:r>
              <a:rPr lang="ko-KR" altLang="en-US" sz="1200" dirty="0">
                <a:ea typeface="+mn-lt"/>
                <a:cs typeface="+mn-lt"/>
              </a:rPr>
              <a:t>해당 위치에 벽</a:t>
            </a:r>
            <a:r>
              <a:rPr lang="en-US" altLang="ko-KR" sz="1200" dirty="0">
                <a:ea typeface="+mn-lt"/>
                <a:cs typeface="+mn-lt"/>
              </a:rPr>
              <a:t>, </a:t>
            </a:r>
            <a:r>
              <a:rPr lang="ko-KR" altLang="en-US" sz="1200" dirty="0">
                <a:ea typeface="+mn-lt"/>
                <a:cs typeface="+mn-lt"/>
              </a:rPr>
              <a:t>문</a:t>
            </a:r>
            <a:r>
              <a:rPr lang="en-US" altLang="ko-KR" sz="1200" dirty="0">
                <a:ea typeface="+mn-lt"/>
                <a:cs typeface="+mn-lt"/>
              </a:rPr>
              <a:t>, </a:t>
            </a:r>
            <a:r>
              <a:rPr lang="ko-KR" altLang="en-US" sz="1200" dirty="0">
                <a:ea typeface="+mn-lt"/>
                <a:cs typeface="+mn-lt"/>
              </a:rPr>
              <a:t>가구</a:t>
            </a:r>
            <a:r>
              <a:rPr lang="en-US" altLang="ko-KR" sz="1200" dirty="0">
                <a:ea typeface="+mn-lt"/>
                <a:cs typeface="+mn-lt"/>
              </a:rPr>
              <a:t>(</a:t>
            </a:r>
            <a:r>
              <a:rPr lang="ko-KR" altLang="en-US" sz="1200" dirty="0">
                <a:ea typeface="+mn-lt"/>
                <a:cs typeface="+mn-lt"/>
              </a:rPr>
              <a:t>선반</a:t>
            </a:r>
            <a:r>
              <a:rPr lang="en-US" altLang="ko-KR" sz="1200" dirty="0">
                <a:ea typeface="+mn-lt"/>
                <a:cs typeface="+mn-lt"/>
              </a:rPr>
              <a:t>, </a:t>
            </a:r>
            <a:r>
              <a:rPr lang="ko-KR" altLang="en-US" sz="1200" dirty="0">
                <a:ea typeface="+mn-lt"/>
                <a:cs typeface="+mn-lt"/>
              </a:rPr>
              <a:t>판매기 등</a:t>
            </a:r>
            <a:r>
              <a:rPr lang="en-US" altLang="ko-KR" sz="1200" dirty="0">
                <a:ea typeface="+mn-lt"/>
                <a:cs typeface="+mn-lt"/>
              </a:rPr>
              <a:t>), </a:t>
            </a:r>
            <a:r>
              <a:rPr lang="ko-KR" altLang="en-US" sz="1200" dirty="0">
                <a:ea typeface="+mn-lt"/>
                <a:cs typeface="+mn-lt"/>
              </a:rPr>
              <a:t>계단</a:t>
            </a:r>
            <a:r>
              <a:rPr lang="en-US" altLang="ko-KR" sz="1200" dirty="0">
                <a:ea typeface="+mn-lt"/>
                <a:cs typeface="+mn-lt"/>
              </a:rPr>
              <a:t>, </a:t>
            </a:r>
            <a:r>
              <a:rPr lang="ko-KR" altLang="en-US" sz="1200" dirty="0">
                <a:ea typeface="+mn-lt"/>
                <a:cs typeface="+mn-lt"/>
              </a:rPr>
              <a:t>다른 플레이어가 없는 지점</a:t>
            </a:r>
            <a:r>
              <a:rPr lang="en-US" altLang="ko-KR" sz="1200" dirty="0">
                <a:ea typeface="+mn-lt"/>
                <a:cs typeface="+mn-lt"/>
              </a:rPr>
              <a:t>)</a:t>
            </a:r>
          </a:p>
          <a:p>
            <a:pPr latinLnBrk="0"/>
            <a:r>
              <a:rPr lang="ko-KR" altLang="en-US" sz="1600" dirty="0">
                <a:ea typeface="+mn-lt"/>
                <a:cs typeface="+mn-lt"/>
              </a:rPr>
              <a:t>단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해당 지점은 플레이어와 같은 평면이어야 하고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바닥이 있어야 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8394D2-F0A3-5D22-260C-82EBDDC5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8CE6B5F-F6D0-A29E-A994-322AD36317E9}"/>
              </a:ext>
            </a:extLst>
          </p:cNvPr>
          <p:cNvGrpSpPr/>
          <p:nvPr/>
        </p:nvGrpSpPr>
        <p:grpSpPr>
          <a:xfrm>
            <a:off x="2351814" y="3061634"/>
            <a:ext cx="8787800" cy="3083671"/>
            <a:chOff x="1892300" y="1079500"/>
            <a:chExt cx="8385427" cy="294247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D82ED24-A6D3-91CF-0BD8-127AA35FD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833" r="67961" b="45208"/>
            <a:stretch>
              <a:fillRect/>
            </a:stretch>
          </p:blipFill>
          <p:spPr>
            <a:xfrm>
              <a:off x="1892300" y="1559765"/>
              <a:ext cx="1699133" cy="1643063"/>
            </a:xfrm>
            <a:prstGeom prst="rect">
              <a:avLst/>
            </a:prstGeom>
          </p:spPr>
        </p:pic>
        <p:sp>
          <p:nvSpPr>
            <p:cNvPr id="8" name="텍스트 개체 틀 1">
              <a:extLst>
                <a:ext uri="{FF2B5EF4-FFF2-40B4-BE49-F238E27FC236}">
                  <a16:creationId xmlns:a16="http://schemas.microsoft.com/office/drawing/2014/main" id="{25A9E452-9B49-B36C-D5B5-DBC8993CDDF6}"/>
                </a:ext>
              </a:extLst>
            </p:cNvPr>
            <p:cNvSpPr txBox="1">
              <a:spLocks/>
            </p:cNvSpPr>
            <p:nvPr/>
          </p:nvSpPr>
          <p:spPr>
            <a:xfrm>
              <a:off x="1892300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 dirty="0"/>
                <a:t>Case1</a:t>
              </a:r>
              <a:br>
                <a:rPr lang="en-US" altLang="ko-KR" sz="1400" b="1" dirty="0"/>
              </a:br>
              <a:r>
                <a:rPr lang="ko-KR" altLang="en-US" sz="1400" dirty="0"/>
                <a:t>유령 </a:t>
              </a:r>
              <a:r>
                <a:rPr lang="ko-KR" altLang="en-US" sz="1400" dirty="0" err="1"/>
                <a:t>스폰됨</a:t>
              </a:r>
              <a:endParaRPr lang="ko-KR" altLang="en-US" sz="1400" dirty="0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BE16385-8B12-D718-1CDE-4E35AA420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069" r="53353" b="9028"/>
            <a:stretch>
              <a:fillRect/>
            </a:stretch>
          </p:blipFill>
          <p:spPr>
            <a:xfrm>
              <a:off x="3883533" y="1559765"/>
              <a:ext cx="2473833" cy="2462212"/>
            </a:xfrm>
            <a:prstGeom prst="rect">
              <a:avLst/>
            </a:prstGeom>
          </p:spPr>
        </p:pic>
        <p:sp>
          <p:nvSpPr>
            <p:cNvPr id="11" name="텍스트 개체 틀 1">
              <a:extLst>
                <a:ext uri="{FF2B5EF4-FFF2-40B4-BE49-F238E27FC236}">
                  <a16:creationId xmlns:a16="http://schemas.microsoft.com/office/drawing/2014/main" id="{A87564E6-67D9-A51C-997C-CBE58A1E3823}"/>
                </a:ext>
              </a:extLst>
            </p:cNvPr>
            <p:cNvSpPr txBox="1">
              <a:spLocks/>
            </p:cNvSpPr>
            <p:nvPr/>
          </p:nvSpPr>
          <p:spPr>
            <a:xfrm>
              <a:off x="3883533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 dirty="0"/>
                <a:t>Case2</a:t>
              </a:r>
              <a:br>
                <a:rPr lang="en-US" altLang="ko-KR" sz="1400" b="1" dirty="0"/>
              </a:br>
              <a:r>
                <a:rPr lang="ko-KR" altLang="en-US" sz="1400" dirty="0"/>
                <a:t>유령 </a:t>
              </a:r>
              <a:r>
                <a:rPr lang="ko-KR" altLang="en-US" sz="1400" dirty="0" err="1"/>
                <a:t>스폰</a:t>
              </a:r>
              <a:r>
                <a:rPr lang="ko-KR" altLang="en-US" sz="1400" dirty="0"/>
                <a:t> 안됨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49013A6-1641-8983-A93C-1B54BC4CF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7" t="57639" r="28627" b="8472"/>
            <a:stretch>
              <a:fillRect/>
            </a:stretch>
          </p:blipFill>
          <p:spPr>
            <a:xfrm>
              <a:off x="6785227" y="1559765"/>
              <a:ext cx="1304926" cy="2324101"/>
            </a:xfrm>
            <a:prstGeom prst="rect">
              <a:avLst/>
            </a:prstGeom>
          </p:spPr>
        </p:pic>
        <p:sp>
          <p:nvSpPr>
            <p:cNvPr id="14" name="텍스트 개체 틀 1">
              <a:extLst>
                <a:ext uri="{FF2B5EF4-FFF2-40B4-BE49-F238E27FC236}">
                  <a16:creationId xmlns:a16="http://schemas.microsoft.com/office/drawing/2014/main" id="{B66B0BD6-F74D-4C9E-E119-C05C34134D93}"/>
                </a:ext>
              </a:extLst>
            </p:cNvPr>
            <p:cNvSpPr txBox="1">
              <a:spLocks/>
            </p:cNvSpPr>
            <p:nvPr/>
          </p:nvSpPr>
          <p:spPr>
            <a:xfrm>
              <a:off x="6785227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 dirty="0"/>
                <a:t>Case3</a:t>
              </a:r>
              <a:br>
                <a:rPr lang="en-US" altLang="ko-KR" sz="1400" b="1" dirty="0"/>
              </a:br>
              <a:r>
                <a:rPr lang="ko-KR" altLang="en-US" sz="1400" dirty="0"/>
                <a:t>유령 </a:t>
              </a:r>
              <a:r>
                <a:rPr lang="ko-KR" altLang="en-US" sz="1400" dirty="0" err="1"/>
                <a:t>스폰</a:t>
              </a:r>
              <a:r>
                <a:rPr lang="ko-KR" altLang="en-US" sz="1400" dirty="0"/>
                <a:t> 안됨</a:t>
              </a: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3F3F31C-83D3-1465-889B-F263AEC77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643" t="57083" b="21250"/>
            <a:stretch>
              <a:fillRect/>
            </a:stretch>
          </p:blipFill>
          <p:spPr>
            <a:xfrm>
              <a:off x="8696865" y="1559765"/>
              <a:ext cx="1503870" cy="1485901"/>
            </a:xfrm>
            <a:prstGeom prst="rect">
              <a:avLst/>
            </a:prstGeom>
          </p:spPr>
        </p:pic>
        <p:sp>
          <p:nvSpPr>
            <p:cNvPr id="17" name="텍스트 개체 틀 1">
              <a:extLst>
                <a:ext uri="{FF2B5EF4-FFF2-40B4-BE49-F238E27FC236}">
                  <a16:creationId xmlns:a16="http://schemas.microsoft.com/office/drawing/2014/main" id="{45DA32FC-3F06-96F7-59F6-384500102DE3}"/>
                </a:ext>
              </a:extLst>
            </p:cNvPr>
            <p:cNvSpPr txBox="1">
              <a:spLocks/>
            </p:cNvSpPr>
            <p:nvPr/>
          </p:nvSpPr>
          <p:spPr>
            <a:xfrm>
              <a:off x="8677527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 dirty="0"/>
                <a:t>Case4</a:t>
              </a:r>
              <a:br>
                <a:rPr lang="en-US" altLang="ko-KR" sz="1400" b="1" dirty="0"/>
              </a:br>
              <a:r>
                <a:rPr lang="ko-KR" altLang="en-US" sz="1400" dirty="0"/>
                <a:t>유령 </a:t>
              </a:r>
              <a:r>
                <a:rPr lang="ko-KR" altLang="en-US" sz="1400" dirty="0" err="1"/>
                <a:t>스폰</a:t>
              </a:r>
              <a:r>
                <a:rPr lang="ko-KR" altLang="en-US" sz="1400" dirty="0"/>
                <a:t> 안됨</a:t>
              </a: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1888834E-4353-E8E4-7990-C9C008BE3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50" t="29166" r="8420" b="48333"/>
          <a:stretch>
            <a:fillRect/>
          </a:stretch>
        </p:blipFill>
        <p:spPr>
          <a:xfrm>
            <a:off x="5650630" y="1334126"/>
            <a:ext cx="2592539" cy="16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3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몬스터 기획서_EmotionGame</Template>
  <TotalTime>1259</TotalTime>
  <Words>729</Words>
  <Application>Microsoft Office PowerPoint</Application>
  <PresentationFormat>와이드스크린</PresentationFormat>
  <Paragraphs>111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Helvetica</vt:lpstr>
      <vt:lpstr>Office 테마</vt:lpstr>
      <vt:lpstr>몬스터 기획 Ghost</vt:lpstr>
      <vt:lpstr>몬스터 사이즈</vt:lpstr>
      <vt:lpstr>참고</vt:lpstr>
      <vt:lpstr>State, Stat</vt:lpstr>
      <vt:lpstr>FSM</vt:lpstr>
      <vt:lpstr>설명</vt:lpstr>
      <vt:lpstr>설명</vt:lpstr>
      <vt:lpstr>설명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59</cp:revision>
  <dcterms:created xsi:type="dcterms:W3CDTF">2026-04-13T16:38:24Z</dcterms:created>
  <dcterms:modified xsi:type="dcterms:W3CDTF">2026-05-26T14:27:38Z</dcterms:modified>
</cp:coreProperties>
</file>