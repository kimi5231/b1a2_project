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75" r:id="rId4"/>
    <p:sldId id="276" r:id="rId5"/>
    <p:sldId id="283" r:id="rId6"/>
    <p:sldId id="280" r:id="rId7"/>
    <p:sldId id="282" r:id="rId8"/>
    <p:sldId id="285" r:id="rId9"/>
    <p:sldId id="278" r:id="rId10"/>
    <p:sldId id="277" r:id="rId11"/>
    <p:sldId id="27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FF0000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152" y="12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2:52.8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24575,'29'2'0,"0"2"0,-1 0 0,48 14 0,-16-3 0,-20-4 0,0 2 0,-1 2 0,-1 2 0,50 29 0,10 5 0,-65-38 0,56 16 0,-64-23 0,-1 1 0,-1 1 0,0 2 0,0 0 0,28 17 0,9 10 0,92 43 0,-16-11 0,-86-38 0,-31-19 0,0-1 0,34 16 0,-34-19 0,-1 2 0,0 0 0,-1 0 0,29 24 0,-1 0 0,-36-29 0,0 0 0,0-1 0,1 1 0,0-2 0,20 6 0,-21-7 0,1 1 0,-1 0 0,0 0 0,0 1 0,0 0 0,17 11 0,75 50 0,-68-46 0,46 35 0,-47-32 0,0-1 0,2-2 0,0-1 0,1-2 0,57 18 0,-79-28 0,0 0 0,0 2 0,-1-1 0,20 16 0,34 20 0,-38-28-1365,-5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05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24575,'11'1'0,"1"0"0,0 1 0,-1 0 0,0 1 0,1 0 0,-1 0 0,0 2 0,-1-1 0,1 1 0,-1 1 0,17 11 0,9 11 0,58 55 0,-6-4 0,-57-55 0,249 184 0,-103-99 0,-110-64 0,-36-23 0,44 23 0,-29-19 0,67 50 0,-75-49 0,0-1 0,67 33 0,-62-37 0,51 34 0,21 12 0,-80-48 0,-2 1 0,38 30 0,-38-26 0,63 37 0,84 43 0,-59-42-986,-81-44 1001,0 2 1,63 44-1,-72-44 214,1-1-1,61 29 1,-59-33-144,0 1 0,53 38-1,-48-29-84,1-1 0,1-3 0,0-1 0,82 28 0,-44-19 0,-54-18 0,0 2 0,0 0 0,22 19 0,-4-4 0,-9-6 0,-16-11 0,0 0 0,1-1 0,32 14 0,-42-22 0,1 1 0,-1 0 0,0 0 0,0 1 0,0 0 0,-1 0 0,0 1 0,0 1 0,0-1 0,13 15 0,-14-13 0,1 0 0,0-1 0,1 0 0,0 0 0,0-1 0,0 0 0,0-1 0,1 0 0,17 6 0,-15-6 0,0 0 0,0 0 0,-1 1 0,0 1 0,0 0 0,17 16 0,-10-9 0,0 0 0,2-1 0,-1-1 0,2-1 0,-1-1 0,1 0 0,1-2 0,31 9 0,58 25 0,-95-35 0,-1-1 0,0 1 0,0 0 0,-1 2 0,0-1 0,0 2 0,21 19 0,-23-17 0,0-1 0,1 1 0,0-2 0,1 0 0,0-1 0,0 0 0,1-1 0,0 0 0,25 7 0,-30-11 21,-1 1 0,0 0-1,0 0 1,-1 1 0,14 10-1,19 13-1509,-16-16-5337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24575,'53'0'0,"0"2"0,0 3 0,72 15 0,-88-13 0,57 2 0,-62-7 0,1 1 0,51 13 0,65 16 0,-41-10 0,6-5 0,-83-14 0,0 2 0,61 16 0,112 37 0,-21-13 0,-5-1 0,-154-38 0,-1 2 0,44 19 0,-46-17 0,2-1 0,-1-1 0,27 6 0,100 30 0,-101-28 0,67 14 0,-40-21 0,-55-8 0,-1 2 0,1 0 0,0 1 0,-1 0 0,0 2 0,19 8 0,-7-2 0,-1-1 0,1-2 0,1 0 0,48 5 0,-8 4-1365,-43-8-5461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49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2283 3 24575,'-33'0'0,"18"-1"0,-1 0 0,1 1 0,0 1 0,-1 0 0,1 1 0,0 0 0,0 2 0,0 0 0,0 0 0,1 1 0,-17 9 0,-62 38 0,-162 67 0,231-108 0,1 2 0,1 0 0,0 1 0,-28 25 0,26-20 0,-2 0 0,-40 22 0,-169 97 0,218-127 0,-59 30 0,51-30 0,2 2 0,-24 16 0,-81 52 0,77-50 0,-54 42 0,70-49 0,-56 33 0,-17 10 0,49-26 0,-2-2 0,-67 31 0,116-63 0,0 0 0,1 1 0,0 1 0,0 0 0,-11 12 0,10-9 0,0-1 0,-1 0 0,-19 11 0,-53 25-1365,60-34-5461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0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1448 1 24575,'-2'3'0,"1"1"0,-2-1 0,1 1 0,0-1 0,-1 0 0,1 0 0,-1 0 0,0 0 0,0-1 0,0 1 0,0-1 0,0 0 0,-1 0 0,1 0 0,-8 3 0,-7 7 0,-9 5 0,0 0 0,-1-1 0,-1-2 0,-39 14 0,34-15 0,-125 51 0,130-50 0,-44 27 0,52-27 0,-1-2 0,0 0 0,0-1 0,-25 7 0,-15 5 0,1 2 0,-92 52 0,6-1 0,102-59 0,36-15 0,1 1 0,-1 0 0,1 1 0,-1 0 0,1 0 0,0 1 0,-11 8 0,3 0 24,-1-2 0,0 0 0,-1-1-1,-37 15 1,-24 13-1508,56-23-5342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3T04:33:57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6687 1 24575,'-42'0'0,"-17"-1"0,-68 9 0,106-5 0,0 1 0,1 0 0,-1 2 0,1 0 0,1 2 0,0 0 0,-19 11 0,-25 13 0,-76 28 0,72-34 0,-66 38 0,74-35-250,-2-2 0,-104 30-1,-48 20-220,-125 62-1579,124-45 1268,28-11-862,9-25 1644,-20 8 0,-29 20-2582,-40 17 2436,-77 33-1050,104-43 730,-24 11-72,-6 7 538,46-20 0,-82 23 121,173-67-132,59-17 49,-94 55 1,96-47-2,-93 36 0,95-49 23,-144 59 799,147-55 434,-125 62-1192,132-63 1108,-109 37 0,106-43-8,-101 50-1,137-60-933,-45 16-1,-11 5 450,-1 8-406,-161 54-1,215-86-7135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1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17/06/relationships/model3d" Target="../media/model3d2.glb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9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80.png"/><Relationship Id="rId4" Type="http://schemas.openxmlformats.org/officeDocument/2006/relationships/image" Target="../media/image50.png"/><Relationship Id="rId9" Type="http://schemas.openxmlformats.org/officeDocument/2006/relationships/customXml" Target="../ink/ink4.xml"/><Relationship Id="rId1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2026.03.23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en-US" altLang="ko-KR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정보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 </a:t>
            </a:r>
            <a:r>
              <a:rPr lang="ko-KR" altLang="en-US" dirty="0" err="1">
                <a:ea typeface="맑은 고딕"/>
              </a:rPr>
              <a:t>스탯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- </a:t>
            </a:r>
            <a:r>
              <a:rPr lang="ko-KR" altLang="en-US" dirty="0">
                <a:ea typeface="맑은 고딕"/>
              </a:rPr>
              <a:t>거미줄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5" action="ppaction://hlinksldjump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rId5" action="ppaction://hlinksldjump"/>
            </a:endParaRPr>
          </a:p>
          <a:p>
            <a:r>
              <a:rPr lang="ko-KR" altLang="en-US" sz="1800" dirty="0">
                <a:hlinkClick r:id="rId5" action="ppaction://hlinksldjump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963395"/>
              </p:ext>
            </p:extLst>
          </p:nvPr>
        </p:nvGraphicFramePr>
        <p:xfrm>
          <a:off x="1892300" y="119158"/>
          <a:ext cx="7061199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61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4386858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1179180">
                  <a:extLst>
                    <a:ext uri="{9D8B030D-6E8A-4147-A177-3AD203B41FA5}">
                      <a16:colId xmlns:a16="http://schemas.microsoft.com/office/drawing/2014/main" val="83645228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애니메이션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Pause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멈춤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간 멈춘다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WebMake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지정된 거미줄 개수만큼 거미줄을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Roaming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끝난 위치에 설치한다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배회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동안 랜덤하게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 err="1">
                          <a:solidFill>
                            <a:schemeClr val="tx1"/>
                          </a:solidFill>
                        </a:rPr>
                        <a:t>DoorOpen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열기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플레이어가 문을 닫고 도망칠 경우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닫은 문을 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Idle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추적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인식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추적한다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거미줄에 닿으면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해당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플레이어에게 공격 당하면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 장소로 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Run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Attack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플레이어가 공격 범위에 들어오면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복귀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시작하기 전 장소로 돌아간다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Walk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01067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Hit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피격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Hit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61566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Dead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사망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이하로 감소한다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Die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3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C7CEBF-795D-0761-9D8F-010EDA560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8" y="6350"/>
            <a:ext cx="80435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  <a:endParaRPr lang="en-US" altLang="ko-KR" dirty="0">
              <a:ea typeface="맑은 고딕"/>
            </a:endParaRPr>
          </a:p>
          <a:p>
            <a:r>
              <a:rPr lang="ko-KR" altLang="en-US" b="1" dirty="0">
                <a:ea typeface="맑은 고딕"/>
              </a:rPr>
              <a:t>설명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‘Idle‘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 err="1">
                <a:ea typeface="+mn-lt"/>
                <a:cs typeface="+mn-lt"/>
              </a:rPr>
              <a:t>맵에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거미줄이 없으면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 개수를 충족할 때까지 </a:t>
            </a:r>
            <a:r>
              <a:rPr lang="en-US" altLang="ko-KR" sz="1600" dirty="0">
                <a:ea typeface="+mn-lt"/>
                <a:cs typeface="+mn-lt"/>
              </a:rPr>
              <a:t>‘Pause -&gt; Roam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en-US" altLang="ko-KR" sz="1600" dirty="0" err="1">
                <a:ea typeface="+mn-lt"/>
                <a:cs typeface="+mn-lt"/>
              </a:rPr>
              <a:t>WebMake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 </a:t>
            </a:r>
            <a:r>
              <a:rPr lang="ko-KR" altLang="en-US" sz="1600" dirty="0">
                <a:ea typeface="+mn-lt"/>
                <a:cs typeface="+mn-lt"/>
              </a:rPr>
              <a:t>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‘Pause’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더 이상 설치할 거미줄이 없으면 해당 위치에서 </a:t>
            </a:r>
            <a:r>
              <a:rPr lang="en-US" altLang="ko-KR" sz="1600" dirty="0">
                <a:ea typeface="+mn-lt"/>
                <a:cs typeface="+mn-lt"/>
              </a:rPr>
              <a:t>‘Idle’</a:t>
            </a:r>
            <a:r>
              <a:rPr lang="ko-KR" altLang="en-US" sz="1600" dirty="0">
                <a:ea typeface="+mn-lt"/>
                <a:cs typeface="+mn-lt"/>
              </a:rPr>
              <a:t>이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플레이어가 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인식 범위에 들어오면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2. </a:t>
            </a:r>
            <a:r>
              <a:rPr lang="ko-KR" altLang="en-US" sz="1600" dirty="0">
                <a:ea typeface="+mn-lt"/>
                <a:cs typeface="+mn-lt"/>
              </a:rPr>
              <a:t>거미를 공격할 때 플레이어가 인식 범위에 없어도</a:t>
            </a:r>
            <a:r>
              <a:rPr lang="en-US" altLang="ko-KR" sz="1600" dirty="0">
                <a:ea typeface="+mn-lt"/>
                <a:cs typeface="+mn-lt"/>
              </a:rPr>
              <a:t>(</a:t>
            </a:r>
            <a:r>
              <a:rPr lang="ko-KR" altLang="en-US" sz="1600" dirty="0">
                <a:ea typeface="+mn-lt"/>
                <a:cs typeface="+mn-lt"/>
              </a:rPr>
              <a:t>총으로 쏜 경우 등</a:t>
            </a:r>
            <a:r>
              <a:rPr lang="en-US" altLang="ko-KR" sz="1600" dirty="0">
                <a:ea typeface="+mn-lt"/>
                <a:cs typeface="+mn-lt"/>
              </a:rPr>
              <a:t>)</a:t>
            </a:r>
            <a:r>
              <a:rPr lang="ko-KR" altLang="en-US" sz="1600" dirty="0">
                <a:ea typeface="+mn-lt"/>
                <a:cs typeface="+mn-lt"/>
              </a:rPr>
              <a:t> 공격한 곳으로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br>
              <a:rPr lang="en-US" altLang="ko-KR" sz="1600" dirty="0">
                <a:ea typeface="+mn-lt"/>
                <a:cs typeface="+mn-lt"/>
              </a:rPr>
            </a:br>
            <a:r>
              <a:rPr lang="en-US" altLang="ko-KR" sz="1600" dirty="0">
                <a:ea typeface="+mn-lt"/>
                <a:cs typeface="+mn-lt"/>
              </a:rPr>
              <a:t>3. </a:t>
            </a:r>
            <a:r>
              <a:rPr lang="ko-KR" altLang="en-US" sz="1600" dirty="0">
                <a:ea typeface="+mn-lt"/>
                <a:cs typeface="+mn-lt"/>
              </a:rPr>
              <a:t>플레이어가 거미줄에 닿으면</a:t>
            </a:r>
            <a:r>
              <a:rPr lang="en-US" altLang="ko-KR" sz="1600" dirty="0">
                <a:ea typeface="+mn-lt"/>
                <a:cs typeface="+mn-lt"/>
              </a:rPr>
              <a:t>, 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문을 닫고 도망가면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en-US" altLang="ko-KR" sz="1600" dirty="0" err="1">
                <a:ea typeface="+mn-lt"/>
                <a:cs typeface="+mn-lt"/>
              </a:rPr>
              <a:t>OpenDoor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가 되어 문을 연 다음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일 때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‘Attack‘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‘Chase’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en-US" altLang="ko-KR" sz="1600" dirty="0">
                <a:ea typeface="맑은 고딕"/>
              </a:rPr>
              <a:t>‘Chase‘</a:t>
            </a:r>
            <a:r>
              <a:rPr lang="ko-KR" altLang="en-US" sz="1600" dirty="0">
                <a:ea typeface="맑은 고딕"/>
              </a:rPr>
              <a:t>일 때 플레이어가 인식 범위에서 사라진 뒤 추적 종료 시간이 경과하면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추적을 시작했던 장소로 </a:t>
            </a:r>
            <a:r>
              <a:rPr lang="en-US" altLang="ko-KR" sz="1600" dirty="0">
                <a:ea typeface="맑은 고딕"/>
              </a:rPr>
              <a:t>‘Return’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 ‘Return‘</a:t>
            </a:r>
            <a:r>
              <a:rPr lang="ko-KR" altLang="en-US" sz="1600" dirty="0">
                <a:ea typeface="맑은 고딕"/>
              </a:rPr>
              <a:t>일 때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‘Chase’</a:t>
            </a:r>
            <a:r>
              <a:rPr lang="ko-KR" altLang="en-US" sz="1600" dirty="0">
                <a:ea typeface="맑은 고딕"/>
              </a:rPr>
              <a:t>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‘Idle‘</a:t>
            </a:r>
            <a:r>
              <a:rPr lang="ko-KR" altLang="en-US" sz="1600" dirty="0">
                <a:ea typeface="맑은 고딕"/>
              </a:rPr>
              <a:t>이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파괴된 개수만큼 </a:t>
            </a:r>
            <a:r>
              <a:rPr lang="en-US" altLang="ko-KR" sz="1600" dirty="0">
                <a:ea typeface="+mn-lt"/>
                <a:cs typeface="+mn-lt"/>
              </a:rPr>
              <a:t>‘Pause 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Pause</a:t>
            </a:r>
            <a:r>
              <a:rPr lang="ko-KR" altLang="en-US" sz="1600" dirty="0">
                <a:ea typeface="+mn-lt"/>
                <a:cs typeface="+mn-lt"/>
              </a:rPr>
              <a:t> </a:t>
            </a:r>
            <a:r>
              <a:rPr lang="en-US" altLang="ko-KR" sz="1600" dirty="0">
                <a:ea typeface="+mn-lt"/>
                <a:cs typeface="+mn-lt"/>
              </a:rPr>
              <a:t>-&gt; …’ [</a:t>
            </a:r>
            <a:r>
              <a:rPr lang="ko-KR" altLang="en-US" sz="1600" dirty="0">
                <a:ea typeface="+mn-lt"/>
                <a:cs typeface="+mn-lt"/>
              </a:rPr>
              <a:t>거미줄 설치</a:t>
            </a:r>
            <a:r>
              <a:rPr lang="en-US" altLang="ko-KR" sz="1600" dirty="0">
                <a:ea typeface="+mn-lt"/>
                <a:cs typeface="+mn-lt"/>
              </a:rPr>
              <a:t>]</a:t>
            </a:r>
            <a:r>
              <a:rPr lang="ko-KR" altLang="en-US" sz="1600" dirty="0">
                <a:ea typeface="+mn-lt"/>
                <a:cs typeface="+mn-lt"/>
              </a:rPr>
              <a:t>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</a:p>
          <a:p>
            <a:r>
              <a:rPr lang="en-US" altLang="ko-KR" sz="1600" dirty="0">
                <a:ea typeface="+mn-lt"/>
                <a:cs typeface="+mn-lt"/>
              </a:rPr>
              <a:t>‘Die‘</a:t>
            </a:r>
            <a:r>
              <a:rPr lang="ko-KR" altLang="en-US" sz="1600" dirty="0">
                <a:ea typeface="+mn-lt"/>
                <a:cs typeface="+mn-lt"/>
              </a:rPr>
              <a:t>가 아닌 모든 상태에서 </a:t>
            </a:r>
            <a:r>
              <a:rPr lang="en-US" altLang="ko-KR" sz="1600" dirty="0">
                <a:ea typeface="+mn-lt"/>
                <a:cs typeface="+mn-lt"/>
              </a:rPr>
              <a:t>‘Hit’</a:t>
            </a:r>
            <a:r>
              <a:rPr lang="ko-KR" altLang="en-US" sz="1600" dirty="0">
                <a:ea typeface="+mn-lt"/>
                <a:cs typeface="+mn-lt"/>
              </a:rPr>
              <a:t>가 될 수 있다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endParaRPr lang="en-US" altLang="ko-KR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+mn-lt"/>
                <a:cs typeface="+mn-lt"/>
              </a:rPr>
              <a:t>거미가 죽어도 설치한 거미줄은 자동으로 삭제되지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(Chase) </a:t>
            </a:r>
            <a:r>
              <a:rPr lang="ko-KR" altLang="en-US" sz="1600" dirty="0">
                <a:ea typeface="+mn-lt"/>
                <a:cs typeface="+mn-lt"/>
              </a:rPr>
              <a:t>종료 시간 </a:t>
            </a:r>
            <a:r>
              <a:rPr lang="en-US" altLang="ko-KR" sz="1600" dirty="0">
                <a:ea typeface="+mn-lt"/>
                <a:cs typeface="+mn-lt"/>
              </a:rPr>
              <a:t>(s) : </a:t>
            </a:r>
            <a:r>
              <a:rPr lang="ko-KR" altLang="en-US" sz="1600" dirty="0" err="1">
                <a:ea typeface="+mn-lt"/>
                <a:cs typeface="+mn-lt"/>
              </a:rPr>
              <a:t>스탯에</a:t>
            </a:r>
            <a:r>
              <a:rPr lang="ko-KR" altLang="en-US" sz="1600" dirty="0">
                <a:ea typeface="+mn-lt"/>
                <a:cs typeface="+mn-lt"/>
              </a:rPr>
              <a:t> 있음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플레이어가 인식 범위에서 벗어난 채 이 시간만큼 지나면 포기하고 </a:t>
            </a:r>
            <a:r>
              <a:rPr lang="en-US" altLang="ko-KR" sz="1600" dirty="0">
                <a:ea typeface="+mn-lt"/>
                <a:cs typeface="+mn-lt"/>
              </a:rPr>
              <a:t>‘Return’</a:t>
            </a:r>
            <a:r>
              <a:rPr lang="ko-KR" altLang="en-US" sz="1600" dirty="0">
                <a:ea typeface="+mn-lt"/>
                <a:cs typeface="+mn-lt"/>
              </a:rPr>
              <a:t>함</a:t>
            </a:r>
            <a:endParaRPr lang="en-US" altLang="ko-KR" sz="1600" dirty="0">
              <a:ea typeface="+mn-lt"/>
              <a:cs typeface="+mn-lt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819074-039F-AF8D-412B-9CA5128585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b="1" dirty="0"/>
              <a:t>거미 </a:t>
            </a:r>
            <a:r>
              <a:rPr lang="ko-KR" altLang="en-US" b="1" dirty="0" err="1"/>
              <a:t>스탯</a:t>
            </a:r>
            <a:endParaRPr lang="en-US" altLang="ko-KR" b="1" dirty="0"/>
          </a:p>
          <a:p>
            <a:r>
              <a:rPr lang="ko-KR" altLang="en-US" dirty="0"/>
              <a:t>거미줄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C4D46401-B15B-3D59-2C0E-AA8887B9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pic>
        <p:nvPicPr>
          <p:cNvPr id="11" name="내용 개체 틀 10" descr="거미 단색으로 채워진">
            <a:extLst>
              <a:ext uri="{FF2B5EF4-FFF2-40B4-BE49-F238E27FC236}">
                <a16:creationId xmlns:a16="http://schemas.microsoft.com/office/drawing/2014/main" id="{46D86EA2-3CC4-5050-F1F6-03834D608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0768" y="5394445"/>
            <a:ext cx="914400" cy="914400"/>
          </a:xfr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51CAC3-DE83-BF9F-EB8A-5DF210E48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10D8A27-50A2-F86A-4498-9131E4239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293704"/>
              </p:ext>
            </p:extLst>
          </p:nvPr>
        </p:nvGraphicFramePr>
        <p:xfrm>
          <a:off x="1892299" y="119158"/>
          <a:ext cx="3502609" cy="600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071932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2777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이동 속도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(m/s)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종료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96956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딜레이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969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설치 시간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(s)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83791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거미줄 개수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851896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반경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1.5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7056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각도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205916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638578"/>
                  </a:ext>
                </a:extLst>
              </a:tr>
            </a:tbl>
          </a:graphicData>
        </a:graphic>
      </p:graphicFrame>
      <p:grpSp>
        <p:nvGrpSpPr>
          <p:cNvPr id="24" name="그룹 23">
            <a:extLst>
              <a:ext uri="{FF2B5EF4-FFF2-40B4-BE49-F238E27FC236}">
                <a16:creationId xmlns:a16="http://schemas.microsoft.com/office/drawing/2014/main" id="{8CACA201-4B8C-8636-7F3B-EC9D4ECBF586}"/>
              </a:ext>
            </a:extLst>
          </p:cNvPr>
          <p:cNvGrpSpPr/>
          <p:nvPr/>
        </p:nvGrpSpPr>
        <p:grpSpPr>
          <a:xfrm>
            <a:off x="9437618" y="3055327"/>
            <a:ext cx="3060700" cy="3060700"/>
            <a:chOff x="6711950" y="2565400"/>
            <a:chExt cx="3060700" cy="3060700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ED2E9801-1D43-C98F-6E96-A437EE59E7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2578100"/>
              <a:ext cx="0" cy="2326418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8FB0E81A-F982-64A3-7ECC-8F5ABA4AE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86600" y="30861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074C84D-4929-CB22-5029-63F0C1270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00" y="3073400"/>
              <a:ext cx="1155700" cy="181841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6BF1318E-39AE-E3A0-4C82-5FAFF8EE1FA4}"/>
                </a:ext>
              </a:extLst>
            </p:cNvPr>
            <p:cNvSpPr/>
            <p:nvPr/>
          </p:nvSpPr>
          <p:spPr>
            <a:xfrm rot="18900000">
              <a:off x="6711950" y="2565400"/>
              <a:ext cx="3060700" cy="3060700"/>
            </a:xfrm>
            <a:prstGeom prst="arc">
              <a:avLst>
                <a:gd name="adj1" fmla="val 15958322"/>
                <a:gd name="adj2" fmla="val 266414"/>
              </a:avLst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56ECE54-BF98-C42C-788D-274361737326}"/>
              </a:ext>
            </a:extLst>
          </p:cNvPr>
          <p:cNvGrpSpPr/>
          <p:nvPr/>
        </p:nvGrpSpPr>
        <p:grpSpPr>
          <a:xfrm>
            <a:off x="7078431" y="-168676"/>
            <a:ext cx="4930325" cy="4565194"/>
            <a:chOff x="7057863" y="339324"/>
            <a:chExt cx="4930325" cy="4565194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20877126"/>
                    </p:ext>
                  </p:extLst>
                </p:nvPr>
              </p:nvGraphicFramePr>
              <p:xfrm>
                <a:off x="7813259" y="339324"/>
                <a:ext cx="4174929" cy="3189078"/>
              </p:xfrm>
              <a:graphic>
                <a:graphicData uri="http://schemas.microsoft.com/office/drawing/2017/model3d">
                  <am3d:model3d r:embed="rId3">
                    <am3d:spPr>
                      <a:xfrm>
                        <a:off x="0" y="0"/>
                        <a:ext cx="4174929" cy="3189078"/>
                      </a:xfrm>
                      <a:prstGeom prst="rect">
                        <a:avLst/>
                      </a:prstGeom>
                    </am3d:spPr>
                    <am3d:camera>
                      <am3d:pos x="0" y="0" z="6850851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6284259" d="1000000"/>
                      <am3d:preTrans dx="-103008" dy="-11011706" dz="-5212029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1316876" ay="-1617928" az="-621306"/>
                      <am3d:postTrans dx="0" dy="0" dz="0"/>
                    </am3d:trans>
                    <am3d:raster rName="Office3DRenderer" rVer="16.0.8326">
                      <am3d:blip r:embed="rId4"/>
                    </am3d:raster>
                    <am3d:objViewport viewportSz="5169162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5" name="3D 모델 24" descr="Dark Gray Triangular Prism">
                  <a:extLst>
                    <a:ext uri="{FF2B5EF4-FFF2-40B4-BE49-F238E27FC236}">
                      <a16:creationId xmlns:a16="http://schemas.microsoft.com/office/drawing/2014/main" id="{A061C282-CD91-4ACA-FF0F-F3B81D332653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33827" y="-168676"/>
                  <a:ext cx="4174929" cy="3189078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5DB0A306-39DA-1CBD-9E1C-4D9318FA63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66097" y="749300"/>
              <a:ext cx="1587603" cy="495300"/>
            </a:xfrm>
            <a:prstGeom prst="line">
              <a:avLst/>
            </a:prstGeom>
            <a:ln w="3810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73CE2ABA-CEBB-AAF0-93A1-A8DE5E9582F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22706" y="636798"/>
              <a:ext cx="2665482" cy="23600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D3DE605A-22C0-EFDF-57B6-4B2799CEC8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60752" y="1244600"/>
              <a:ext cx="119748" cy="228380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8827809"/>
                    </p:ext>
                  </p:extLst>
                </p:nvPr>
              </p:nvGraphicFramePr>
              <p:xfrm>
                <a:off x="7057863" y="2578100"/>
                <a:ext cx="3373987" cy="2326418"/>
              </p:xfrm>
              <a:graphic>
                <a:graphicData uri="http://schemas.microsoft.com/office/drawing/2017/model3d">
                  <am3d:model3d r:embed="rId5">
                    <am3d:spPr>
                      <a:xfrm>
                        <a:off x="0" y="0"/>
                        <a:ext cx="3373987" cy="2326418"/>
                      </a:xfrm>
                      <a:prstGeom prst="rect">
                        <a:avLst/>
                      </a:prstGeom>
                    </am3d:spPr>
                    <am3d:camera>
                      <am3d:pos x="0" y="0" z="61122084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1048852" d="1000000"/>
                      <am3d:preTrans dx="-375216" dy="-8847833" dz="98159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9790826" ay="3322256" az="9961908"/>
                      <am3d:postTrans dx="0" dy="0" dz="0"/>
                    </am3d:trans>
                    <am3d:raster rName="Office3DRenderer" rVer="16.0.8326">
                      <am3d:blip r:embed="rId6"/>
                    </am3d:raster>
                    <am3d:objViewport viewportSz="3795735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26" name="3D 모델 25" descr="Spider">
                  <a:extLst>
                    <a:ext uri="{FF2B5EF4-FFF2-40B4-BE49-F238E27FC236}">
                      <a16:creationId xmlns:a16="http://schemas.microsoft.com/office/drawing/2014/main" id="{D5DF95D8-E581-FF6F-D1F0-45D749FAB40E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78431" y="2070100"/>
                  <a:ext cx="3373987" cy="2326418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5066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280961E-7482-B98F-5241-8E0115BED4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/>
              <a:t>거미 </a:t>
            </a:r>
            <a:r>
              <a:rPr lang="ko-KR" altLang="en-US" dirty="0" err="1"/>
              <a:t>스탯</a:t>
            </a:r>
            <a:endParaRPr lang="en-US" altLang="ko-KR" dirty="0"/>
          </a:p>
          <a:p>
            <a:r>
              <a:rPr lang="ko-KR" altLang="en-US" b="1" dirty="0"/>
              <a:t>거미줄</a:t>
            </a:r>
          </a:p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1A659670-FC97-2EC3-A0D4-8A8702BBC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정보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FB9E5F-B3FF-CBB7-D109-56B5D5CBB0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92301" y="119158"/>
            <a:ext cx="5106240" cy="4072698"/>
          </a:xfrm>
        </p:spPr>
        <p:txBody>
          <a:bodyPr>
            <a:normAutofit/>
          </a:bodyPr>
          <a:lstStyle/>
          <a:p>
            <a:r>
              <a:rPr lang="en-US" altLang="ko-KR" dirty="0"/>
              <a:t>HP: 10</a:t>
            </a:r>
          </a:p>
          <a:p>
            <a:r>
              <a:rPr lang="ko-KR" altLang="en-US" dirty="0"/>
              <a:t>사이즈</a:t>
            </a:r>
            <a:r>
              <a:rPr lang="en-US" altLang="ko-KR" dirty="0"/>
              <a:t>: 200*240*10</a:t>
            </a:r>
            <a:br>
              <a:rPr lang="en-US" altLang="ko-KR" dirty="0"/>
            </a:br>
            <a:r>
              <a:rPr lang="ko-KR" altLang="en-US" dirty="0">
                <a:solidFill>
                  <a:srgbClr val="FF00FF"/>
                </a:solidFill>
              </a:rPr>
              <a:t>얇은 직육면체</a:t>
            </a:r>
            <a:r>
              <a:rPr lang="ko-KR" altLang="en-US" dirty="0"/>
              <a:t>를 </a:t>
            </a:r>
            <a:r>
              <a:rPr lang="en-US" altLang="ko-KR" dirty="0"/>
              <a:t>&lt;</a:t>
            </a:r>
            <a:r>
              <a:rPr lang="ko-KR" altLang="en-US" dirty="0"/>
              <a:t>사진</a:t>
            </a:r>
            <a:r>
              <a:rPr lang="en-US" altLang="ko-KR" dirty="0"/>
              <a:t>1&gt;</a:t>
            </a:r>
            <a:r>
              <a:rPr lang="ko-KR" altLang="en-US" dirty="0"/>
              <a:t>처럼 대각선으로 배치</a:t>
            </a:r>
            <a:endParaRPr lang="en-US" altLang="ko-KR" dirty="0"/>
          </a:p>
          <a:p>
            <a:r>
              <a:rPr lang="ko-KR" altLang="en-US" dirty="0" err="1"/>
              <a:t>디버프</a:t>
            </a:r>
            <a:r>
              <a:rPr lang="en-US" altLang="ko-KR" dirty="0"/>
              <a:t>: </a:t>
            </a:r>
            <a:r>
              <a:rPr lang="ko-KR" altLang="en-US" dirty="0"/>
              <a:t>이동 속도 </a:t>
            </a:r>
            <a:r>
              <a:rPr lang="en-US" altLang="ko-KR" dirty="0"/>
              <a:t>20% </a:t>
            </a:r>
            <a:r>
              <a:rPr lang="ko-KR" altLang="en-US" dirty="0"/>
              <a:t>감속</a:t>
            </a:r>
            <a:endParaRPr lang="en-US" altLang="ko-KR" dirty="0"/>
          </a:p>
          <a:p>
            <a:r>
              <a:rPr lang="ko-KR" altLang="en-US" dirty="0"/>
              <a:t>거미줄 설치</a:t>
            </a:r>
            <a:r>
              <a:rPr lang="en-US" altLang="ko-KR" dirty="0"/>
              <a:t>: </a:t>
            </a:r>
            <a:r>
              <a:rPr lang="ko-KR" altLang="en-US" dirty="0"/>
              <a:t>벽에서 바닥으로 대각선으로 설치됨</a:t>
            </a:r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불가능하면 </a:t>
            </a:r>
            <a:r>
              <a:rPr lang="en-US" altLang="ko-KR" dirty="0"/>
              <a:t>170*170*130 </a:t>
            </a:r>
            <a:r>
              <a:rPr lang="ko-KR" altLang="en-US" dirty="0"/>
              <a:t>큐브로 마크처럼 설치</a:t>
            </a:r>
            <a:r>
              <a:rPr lang="en-US" altLang="ko-KR" dirty="0"/>
              <a:t>,</a:t>
            </a:r>
            <a:r>
              <a:rPr lang="ko-KR" altLang="en-US" dirty="0"/>
              <a:t> 네모나게</a:t>
            </a:r>
            <a:r>
              <a:rPr lang="en-US" altLang="ko-KR" dirty="0"/>
              <a:t>..)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23D902-0C46-7D18-C21E-DC41B41F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B9AA65-22E5-21EF-77FC-64992CC22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607" y="6350"/>
            <a:ext cx="4263081" cy="6858000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F9710BCB-D190-DE49-8C9A-22A8058EC17A}"/>
              </a:ext>
            </a:extLst>
          </p:cNvPr>
          <p:cNvSpPr/>
          <p:nvPr/>
        </p:nvSpPr>
        <p:spPr>
          <a:xfrm>
            <a:off x="9693274" y="5676899"/>
            <a:ext cx="752475" cy="304599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05C483-90DC-6530-67E8-0685D758EC90}"/>
              </a:ext>
            </a:extLst>
          </p:cNvPr>
          <p:cNvSpPr txBox="1"/>
          <p:nvPr/>
        </p:nvSpPr>
        <p:spPr>
          <a:xfrm>
            <a:off x="9972675" y="5900434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200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1C7BEADC-718B-E63E-66BE-BE971A6B47FC}"/>
              </a:ext>
            </a:extLst>
          </p:cNvPr>
          <p:cNvSpPr/>
          <p:nvPr/>
        </p:nvSpPr>
        <p:spPr>
          <a:xfrm rot="3469307">
            <a:off x="9141082" y="5671087"/>
            <a:ext cx="556963" cy="228804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BB90CD-581D-AB50-FF73-B9C58A4DBDE5}"/>
              </a:ext>
            </a:extLst>
          </p:cNvPr>
          <p:cNvSpPr txBox="1"/>
          <p:nvPr/>
        </p:nvSpPr>
        <p:spPr>
          <a:xfrm>
            <a:off x="9006680" y="5769629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180</a:t>
            </a:r>
            <a:endParaRPr lang="ko-KR" altLang="en-US" sz="1100" b="1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1A66D4E-A7EB-8024-AAD1-6170F6D8F308}"/>
              </a:ext>
            </a:extLst>
          </p:cNvPr>
          <p:cNvSpPr/>
          <p:nvPr/>
        </p:nvSpPr>
        <p:spPr>
          <a:xfrm rot="17564201">
            <a:off x="10260491" y="5400185"/>
            <a:ext cx="378667" cy="147201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D08558-1A8D-4BEB-B9C3-5AF8F44B6B2E}"/>
              </a:ext>
            </a:extLst>
          </p:cNvPr>
          <p:cNvSpPr txBox="1"/>
          <p:nvPr/>
        </p:nvSpPr>
        <p:spPr>
          <a:xfrm>
            <a:off x="10445749" y="5358053"/>
            <a:ext cx="444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b="1" dirty="0">
                <a:solidFill>
                  <a:srgbClr val="00B0F0"/>
                </a:solidFill>
              </a:rPr>
              <a:t>130</a:t>
            </a:r>
            <a:endParaRPr lang="ko-KR" altLang="en-US" sz="1100" b="1" dirty="0">
              <a:solidFill>
                <a:srgbClr val="00B0F0"/>
              </a:solidFill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248958A2-CF3E-35EC-E658-0C603E8C3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546" y="3848100"/>
            <a:ext cx="5145196" cy="2908733"/>
          </a:xfrm>
          <a:prstGeom prst="rect">
            <a:avLst/>
          </a:prstGeom>
        </p:spPr>
      </p:pic>
      <p:sp>
        <p:nvSpPr>
          <p:cNvPr id="26" name="타원 25">
            <a:extLst>
              <a:ext uri="{FF2B5EF4-FFF2-40B4-BE49-F238E27FC236}">
                <a16:creationId xmlns:a16="http://schemas.microsoft.com/office/drawing/2014/main" id="{2E264274-CD05-9E51-F18A-77684422FB7B}"/>
              </a:ext>
            </a:extLst>
          </p:cNvPr>
          <p:cNvSpPr/>
          <p:nvPr/>
        </p:nvSpPr>
        <p:spPr>
          <a:xfrm rot="19743251">
            <a:off x="3404612" y="4949615"/>
            <a:ext cx="983419" cy="1985490"/>
          </a:xfrm>
          <a:prstGeom prst="ellipse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98E087C4-0AFD-B50E-BA8C-5DD18DC0025B}"/>
              </a:ext>
            </a:extLst>
          </p:cNvPr>
          <p:cNvGrpSpPr/>
          <p:nvPr/>
        </p:nvGrpSpPr>
        <p:grpSpPr>
          <a:xfrm>
            <a:off x="9193725" y="4933560"/>
            <a:ext cx="1252024" cy="1022234"/>
            <a:chOff x="9193725" y="4933560"/>
            <a:chExt cx="1252024" cy="1022234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CCC09B08-7980-3E55-0327-7751FB5EA53A}"/>
                </a:ext>
              </a:extLst>
            </p:cNvPr>
            <p:cNvCxnSpPr>
              <a:cxnSpLocks/>
            </p:cNvCxnSpPr>
            <p:nvPr/>
          </p:nvCxnSpPr>
          <p:spPr>
            <a:xfrm>
              <a:off x="9923003" y="4936014"/>
              <a:ext cx="522746" cy="32200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B75011D7-9C89-2CC4-8E01-7DD6BDB85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05913" y="4933560"/>
              <a:ext cx="757644" cy="672594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678CC73-178E-E478-3819-AC3CCDC3B7C2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 flipH="1">
              <a:off x="9659332" y="5258018"/>
              <a:ext cx="786417" cy="697776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21668EDB-5984-DDDE-C103-81BDA98CC458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>
              <a:off x="9193725" y="5605464"/>
              <a:ext cx="465607" cy="350330"/>
            </a:xfrm>
            <a:prstGeom prst="line">
              <a:avLst/>
            </a:prstGeom>
            <a:ln w="38100">
              <a:solidFill>
                <a:srgbClr val="FF00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1133EAE6-053C-05D3-4C74-6E7AF4C2698E}"/>
              </a:ext>
            </a:extLst>
          </p:cNvPr>
          <p:cNvSpPr/>
          <p:nvPr/>
        </p:nvSpPr>
        <p:spPr>
          <a:xfrm rot="9958893">
            <a:off x="9106383" y="5036555"/>
            <a:ext cx="908528" cy="472953"/>
          </a:xfrm>
          <a:custGeom>
            <a:avLst/>
            <a:gdLst>
              <a:gd name="csX0" fmla="*/ 0 w 1368884"/>
              <a:gd name="csY0" fmla="*/ 365519 h 378018"/>
              <a:gd name="csX1" fmla="*/ 685800 w 1368884"/>
              <a:gd name="csY1" fmla="*/ 340119 h 378018"/>
              <a:gd name="csX2" fmla="*/ 1282700 w 1368884"/>
              <a:gd name="csY2" fmla="*/ 48019 h 378018"/>
              <a:gd name="csX3" fmla="*/ 1352550 w 1368884"/>
              <a:gd name="csY3" fmla="*/ 3569 h 3780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68884" h="378018">
                <a:moveTo>
                  <a:pt x="0" y="365519"/>
                </a:moveTo>
                <a:cubicBezTo>
                  <a:pt x="236008" y="379277"/>
                  <a:pt x="472017" y="393036"/>
                  <a:pt x="685800" y="340119"/>
                </a:cubicBezTo>
                <a:cubicBezTo>
                  <a:pt x="899583" y="287202"/>
                  <a:pt x="1171575" y="104111"/>
                  <a:pt x="1282700" y="48019"/>
                </a:cubicBezTo>
                <a:cubicBezTo>
                  <a:pt x="1393825" y="-8073"/>
                  <a:pt x="1373187" y="-2252"/>
                  <a:pt x="1352550" y="3569"/>
                </a:cubicBezTo>
              </a:path>
            </a:pathLst>
          </a:cu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AC0123-D5AD-D0D1-241B-A42D42470305}"/>
              </a:ext>
            </a:extLst>
          </p:cNvPr>
          <p:cNvSpPr txBox="1"/>
          <p:nvPr/>
        </p:nvSpPr>
        <p:spPr>
          <a:xfrm>
            <a:off x="9110805" y="4763965"/>
            <a:ext cx="444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>
                <a:solidFill>
                  <a:srgbClr val="FF00FF"/>
                </a:solidFill>
              </a:rPr>
              <a:t>약 </a:t>
            </a:r>
            <a:r>
              <a:rPr lang="en-US" altLang="ko-KR" sz="1100" b="1" dirty="0">
                <a:solidFill>
                  <a:srgbClr val="FF00FF"/>
                </a:solidFill>
              </a:rPr>
              <a:t>240</a:t>
            </a:r>
            <a:endParaRPr lang="ko-KR" altLang="en-US" sz="1100" b="1" dirty="0">
              <a:solidFill>
                <a:srgbClr val="FF00FF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3ECDD1-D835-B4B8-3757-2BEBD4A3B0C7}"/>
              </a:ext>
            </a:extLst>
          </p:cNvPr>
          <p:cNvSpPr txBox="1"/>
          <p:nvPr/>
        </p:nvSpPr>
        <p:spPr>
          <a:xfrm>
            <a:off x="7720920" y="256117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1&gt;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0CD38F-4601-E4D5-82B4-F25404013D9E}"/>
              </a:ext>
            </a:extLst>
          </p:cNvPr>
          <p:cNvSpPr txBox="1"/>
          <p:nvPr/>
        </p:nvSpPr>
        <p:spPr>
          <a:xfrm>
            <a:off x="2451297" y="3874965"/>
            <a:ext cx="19723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</a:rPr>
              <a:t>&lt;</a:t>
            </a:r>
            <a:r>
              <a:rPr lang="ko-KR" altLang="en-US" sz="2400" b="1" dirty="0">
                <a:solidFill>
                  <a:schemeClr val="bg1"/>
                </a:solidFill>
              </a:rPr>
              <a:t>사진</a:t>
            </a:r>
            <a:r>
              <a:rPr lang="en-US" altLang="ko-KR" sz="2400" b="1" dirty="0">
                <a:solidFill>
                  <a:schemeClr val="bg1"/>
                </a:solidFill>
              </a:rPr>
              <a:t>2&gt;</a:t>
            </a:r>
            <a:endParaRPr lang="ko-KR" alt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054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DDB9ED-808C-681C-F2E4-0E5A3AFA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C8AF963-3D17-3040-33A4-4B1C046E6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B2950EE-FFC6-45B1-F655-04B0D707A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09C412-F298-D112-F5ED-BC6C42B76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F7B71A-B83D-854F-A702-EBC44D78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8" name="그림 7" descr="텍스트, 도표, 폰트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7FF2D-6CCF-5BC4-D9B3-B69C58253F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715" y="0"/>
            <a:ext cx="970237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8676E9D-7A24-7B6E-75F4-72DAEC8E4B6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215314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066381-4ECE-8DDB-3090-B647A5B2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630C39-24E5-81FD-8915-F70F8FFDB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866E99-D205-8C2B-7D61-A01FF43B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스탯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ED8474-56D6-2372-5488-FAF75927B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예상 스탯 및 설명</a:t>
            </a:r>
            <a:br>
              <a:rPr lang="en-US" altLang="ko-KR" sz="1600" b="1" dirty="0"/>
            </a:br>
            <a:r>
              <a:rPr lang="en-US" altLang="ko-KR" sz="1600" b="1" dirty="0"/>
              <a:t>: </a:t>
            </a:r>
            <a:r>
              <a:rPr lang="ko-KR" altLang="en-US" sz="1600" b="1" dirty="0"/>
              <a:t>해당 표는 </a:t>
            </a:r>
            <a:r>
              <a:rPr lang="ko-KR" altLang="en-US" sz="1600" b="1" dirty="0" err="1"/>
              <a:t>리썰</a:t>
            </a:r>
            <a:r>
              <a:rPr lang="ko-KR" altLang="en-US" sz="1600" b="1" dirty="0"/>
              <a:t> 컴퍼니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벙커 거미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기반으로 작성됨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이후 기획이 진행됨에 따라 추가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삭제될 수 있음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5CF3DB-6B73-BBD3-48B3-A1A33E87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F8CD6A2-3726-2AB4-C825-347CEE56F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778339"/>
              </p:ext>
            </p:extLst>
          </p:nvPr>
        </p:nvGraphicFramePr>
        <p:xfrm>
          <a:off x="1358901" y="673322"/>
          <a:ext cx="5256000" cy="606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활동 장소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실내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택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레이더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000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1641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95560"/>
                  </a:ext>
                </a:extLst>
              </a:tr>
              <a:tr h="77313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무기별 스턴 유지 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FSM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에 스턴 관련 내용 넣는 것을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깜빡함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나중에 수정할 때 추가하겠음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현재는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시킬 수 있는 무기가 몇 종 추가될지 잘 모르겠음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4156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속도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몇 초에 한 번 공격하는지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646873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 공격할 때 들어가는 데미지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105730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DPS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초당 공격력</a:t>
                      </a:r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DPS =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공격력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815463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78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5124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거미줄의 개수는 최소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최대 사이에서 랜덤으로 결정된다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1915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90920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F342C0-4607-40F6-DB07-3290C35B8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352101"/>
              </p:ext>
            </p:extLst>
          </p:nvPr>
        </p:nvGraphicFramePr>
        <p:xfrm>
          <a:off x="6614901" y="673322"/>
          <a:ext cx="5256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범위 안에 플레이어가 있으면 플레이어를 인식한다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6495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상태일 때 이 범위 안에 플레이어가 들어오면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0315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47277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지속 시간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상태가 지속되면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포기하고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상태가 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4137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101B4FF2-E956-08F4-CDB7-C17023C77DDD}"/>
              </a:ext>
            </a:extLst>
          </p:cNvPr>
          <p:cNvGrpSpPr/>
          <p:nvPr/>
        </p:nvGrpSpPr>
        <p:grpSpPr>
          <a:xfrm>
            <a:off x="6787700" y="3769753"/>
            <a:ext cx="4680400" cy="2895600"/>
            <a:chOff x="6787700" y="3769753"/>
            <a:chExt cx="3401199" cy="21042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B2D7218-045C-1764-B6BF-F1138DB82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583" t="3820" r="4356" b="1518"/>
            <a:stretch>
              <a:fillRect/>
            </a:stretch>
          </p:blipFill>
          <p:spPr>
            <a:xfrm>
              <a:off x="6787700" y="3769753"/>
              <a:ext cx="1915901" cy="21042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CC26DA-D4FC-14DB-F9F1-3A0A558B6928}"/>
                </a:ext>
              </a:extLst>
            </p:cNvPr>
            <p:cNvSpPr txBox="1"/>
            <p:nvPr/>
          </p:nvSpPr>
          <p:spPr>
            <a:xfrm>
              <a:off x="8703601" y="5404274"/>
              <a:ext cx="1485298" cy="4696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: </a:t>
              </a:r>
              <a:r>
                <a:rPr lang="ko-KR" altLang="en-US" dirty="0"/>
                <a:t>인식</a:t>
              </a:r>
              <a:r>
                <a:rPr lang="en-US" altLang="ko-KR" dirty="0"/>
                <a:t>/</a:t>
              </a:r>
              <a:r>
                <a:rPr lang="ko-KR" altLang="en-US" dirty="0"/>
                <a:t>공격 범위 예상도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14:cNvPr>
              <p14:cNvContentPartPr/>
              <p14:nvPr/>
            </p14:nvContentPartPr>
            <p14:xfrm>
              <a:off x="1989164" y="1090509"/>
              <a:ext cx="842040" cy="40896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39BF3270-3052-172B-F5E5-395AE60A083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80524" y="1081509"/>
                <a:ext cx="859680" cy="42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14:cNvPr>
              <p14:cNvContentPartPr/>
              <p14:nvPr/>
            </p14:nvContentPartPr>
            <p14:xfrm>
              <a:off x="1539884" y="2855589"/>
              <a:ext cx="1590480" cy="95868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BABE2B89-BA60-852F-3609-6762C50760C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31244" y="2846589"/>
                <a:ext cx="1608120" cy="97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그룹 16">
            <a:extLst>
              <a:ext uri="{FF2B5EF4-FFF2-40B4-BE49-F238E27FC236}">
                <a16:creationId xmlns:a16="http://schemas.microsoft.com/office/drawing/2014/main" id="{10263DB5-7F77-A7AE-F4EB-A9B2641C76C3}"/>
              </a:ext>
            </a:extLst>
          </p:cNvPr>
          <p:cNvGrpSpPr/>
          <p:nvPr/>
        </p:nvGrpSpPr>
        <p:grpSpPr>
          <a:xfrm>
            <a:off x="1972964" y="1041549"/>
            <a:ext cx="983160" cy="846360"/>
            <a:chOff x="1972964" y="1041549"/>
            <a:chExt cx="983160" cy="84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14:cNvPr>
                <p14:cNvContentPartPr/>
                <p14:nvPr/>
              </p14:nvContentPartPr>
              <p14:xfrm>
                <a:off x="1972964" y="1668309"/>
                <a:ext cx="983160" cy="219600"/>
              </p14:xfrm>
            </p:contentPart>
          </mc:Choice>
          <mc:Fallback xmlns=""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59B25BE5-A76F-E945-DF41-8D542C93DA9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963964" y="1659309"/>
                  <a:ext cx="1000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14:cNvPr>
                <p14:cNvContentPartPr/>
                <p14:nvPr/>
              </p14:nvContentPartPr>
              <p14:xfrm>
                <a:off x="2001764" y="1041549"/>
                <a:ext cx="821880" cy="46116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25EDF1EA-EB7E-8AEE-3839-EFC71270DA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3124" y="1032909"/>
                  <a:ext cx="83952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14:cNvPr>
                <p14:cNvContentPartPr/>
                <p14:nvPr/>
              </p14:nvContentPartPr>
              <p14:xfrm>
                <a:off x="2221724" y="1555989"/>
                <a:ext cx="521640" cy="262800"/>
              </p14:xfrm>
            </p:contentPart>
          </mc:Choice>
          <mc:Fallback xmlns=""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6DD167-8CEC-163E-EF95-477E0F47095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12724" y="1547349"/>
                  <a:ext cx="539280" cy="28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14:cNvPr>
              <p14:cNvContentPartPr/>
              <p14:nvPr/>
            </p14:nvContentPartPr>
            <p14:xfrm>
              <a:off x="961364" y="2919669"/>
              <a:ext cx="2407680" cy="945000"/>
            </p14:xfrm>
          </p:contentPart>
        </mc:Choice>
        <mc:Fallback xmlns=""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ABC68DE9-852F-7222-C1A9-424FFAF93A3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52724" y="2910669"/>
                <a:ext cx="2425320" cy="96264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6D8C364E-ED5A-E737-9D7D-E8578E90CDC0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2746183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4B72E07-7E70-4996-7B43-4A53127609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AB9521A-5EED-1BEE-9B68-3460F6378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2F3F5E-72BC-8AEB-21C5-341DEE4A1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거미가 거미줄을 설치할 때</a:t>
            </a:r>
            <a:r>
              <a:rPr lang="en-US" altLang="ko-KR" b="1" dirty="0"/>
              <a:t> </a:t>
            </a:r>
            <a:r>
              <a:rPr lang="ko-KR" altLang="en-US" b="1" dirty="0"/>
              <a:t>무한정 </a:t>
            </a:r>
            <a:r>
              <a:rPr lang="ko-KR" altLang="en-US" b="1" dirty="0" err="1"/>
              <a:t>맵을</a:t>
            </a:r>
            <a:r>
              <a:rPr lang="ko-KR" altLang="en-US" b="1" dirty="0"/>
              <a:t> 돌아다니게 둘 수는 없음</a:t>
            </a:r>
            <a:r>
              <a:rPr lang="en-US" altLang="ko-KR" b="1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/>
              <a:t>거미줄을 </a:t>
            </a:r>
            <a:r>
              <a:rPr lang="en-US" altLang="ko-KR" dirty="0"/>
              <a:t>n</a:t>
            </a:r>
            <a:r>
              <a:rPr lang="ko-KR" altLang="en-US" dirty="0"/>
              <a:t>초에 한 번씩 설치하게 제한</a:t>
            </a:r>
            <a:br>
              <a:rPr lang="en-US" altLang="ko-KR" dirty="0"/>
            </a:br>
            <a:r>
              <a:rPr lang="ko-KR" altLang="en-US" dirty="0"/>
              <a:t>조금 </a:t>
            </a:r>
            <a:r>
              <a:rPr lang="ko-KR" altLang="en-US" dirty="0" err="1"/>
              <a:t>애매한게</a:t>
            </a:r>
            <a:r>
              <a:rPr lang="en-US" altLang="ko-KR" dirty="0"/>
              <a:t>, </a:t>
            </a:r>
            <a:r>
              <a:rPr lang="ko-KR" altLang="en-US" dirty="0"/>
              <a:t>문을 여는데 시간이 걸리거나 다른 몬스터와 충돌해서 움직이지 못하는 상황에서는 거미줄이 한 곳에 여러 개 설치될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거미의 이동 범위 제한</a:t>
            </a:r>
            <a:endParaRPr lang="en-US" altLang="ko-KR" dirty="0"/>
          </a:p>
          <a:p>
            <a:pPr lvl="1"/>
            <a:r>
              <a:rPr lang="en-US" altLang="ko-KR" sz="1800" dirty="0"/>
              <a:t>2-1. </a:t>
            </a:r>
            <a:r>
              <a:rPr lang="ko-KR" altLang="en-US" sz="1800" dirty="0"/>
              <a:t>미터</a:t>
            </a:r>
            <a:r>
              <a:rPr lang="en-US" altLang="ko-KR" sz="1800" dirty="0"/>
              <a:t>(m) </a:t>
            </a:r>
            <a:r>
              <a:rPr lang="ko-KR" altLang="en-US" sz="1800" dirty="0"/>
              <a:t>등의 거리 단위로 측정하여 제한한다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2-2. </a:t>
            </a:r>
            <a:r>
              <a:rPr lang="ko-KR" altLang="en-US" sz="1800" dirty="0"/>
              <a:t>시설에 존재하는 </a:t>
            </a:r>
            <a:r>
              <a:rPr lang="en-US" altLang="ko-KR" sz="1800" dirty="0"/>
              <a:t>‘</a:t>
            </a:r>
            <a:r>
              <a:rPr lang="ko-KR" altLang="en-US" sz="1800" dirty="0"/>
              <a:t>문</a:t>
            </a:r>
            <a:r>
              <a:rPr lang="en-US" altLang="ko-KR" sz="1800" dirty="0"/>
              <a:t>’</a:t>
            </a:r>
            <a:r>
              <a:rPr lang="ko-KR" altLang="en-US" sz="1800" dirty="0"/>
              <a:t>을 이용하여</a:t>
            </a:r>
            <a:r>
              <a:rPr lang="en-US" altLang="ko-KR" sz="1800" dirty="0"/>
              <a:t>, </a:t>
            </a:r>
            <a:r>
              <a:rPr lang="ko-KR" altLang="en-US" sz="1800" dirty="0"/>
              <a:t>거미줄 설치 루틴 중인 거미가 문을 </a:t>
            </a:r>
            <a:r>
              <a:rPr lang="en-US" altLang="ko-KR" sz="1800" dirty="0"/>
              <a:t>n</a:t>
            </a:r>
            <a:r>
              <a:rPr lang="ko-KR" altLang="en-US" sz="1800" dirty="0"/>
              <a:t>개만 통과할 수 있도록 지정한다</a:t>
            </a:r>
            <a:r>
              <a:rPr lang="en-US" altLang="ko-KR" sz="1800" dirty="0"/>
              <a:t>. </a:t>
            </a:r>
            <a:r>
              <a:rPr lang="ko-KR" altLang="en-US" sz="1800" dirty="0"/>
              <a:t>거미에게 </a:t>
            </a:r>
            <a:r>
              <a:rPr lang="en-US" altLang="ko-KR" sz="1800" dirty="0"/>
              <a:t>‘</a:t>
            </a:r>
            <a:r>
              <a:rPr lang="ko-KR" altLang="en-US" sz="1800" dirty="0" err="1"/>
              <a:t>스폰된</a:t>
            </a:r>
            <a:r>
              <a:rPr lang="ko-KR" altLang="en-US" sz="1800" dirty="0"/>
              <a:t>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와 </a:t>
            </a:r>
            <a:r>
              <a:rPr lang="en-US" altLang="ko-KR" sz="1800" dirty="0"/>
              <a:t>‘</a:t>
            </a:r>
            <a:r>
              <a:rPr lang="ko-KR" altLang="en-US" sz="1800" dirty="0"/>
              <a:t>배회하며 마지막 문을 통과한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를 저장하여</a:t>
            </a:r>
            <a:r>
              <a:rPr lang="en-US" altLang="ko-KR" sz="1800" dirty="0"/>
              <a:t>, </a:t>
            </a:r>
            <a:r>
              <a:rPr lang="ko-KR" altLang="en-US" sz="1800" dirty="0"/>
              <a:t>그 사이에서만 거미줄을 설치할 수 있도록 한다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거미줄 설치 루틴일 때</a:t>
            </a:r>
            <a:r>
              <a:rPr lang="en-US" altLang="ko-KR" b="1" dirty="0"/>
              <a:t>, </a:t>
            </a:r>
            <a:r>
              <a:rPr lang="ko-KR" altLang="en-US" b="1" dirty="0"/>
              <a:t>플레이어가 거미줄에 닿거나</a:t>
            </a:r>
            <a:r>
              <a:rPr lang="en-US" altLang="ko-KR" b="1" dirty="0"/>
              <a:t>/</a:t>
            </a:r>
            <a:r>
              <a:rPr lang="ko-KR" altLang="en-US" b="1" dirty="0"/>
              <a:t>파괴하거나</a:t>
            </a:r>
            <a:r>
              <a:rPr lang="en-US" altLang="ko-KR" b="1" dirty="0"/>
              <a:t>/</a:t>
            </a:r>
            <a:r>
              <a:rPr lang="ko-KR" altLang="en-US" b="1" dirty="0"/>
              <a:t>거미와 만난다면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 err="1"/>
              <a:t>리썰처럼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리썰의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거미줄을 설치 중일 때는 플레이어가 공격하는 것 외에는 플레이어의 존재를 인식하지 못하게끔 함</a:t>
            </a:r>
            <a:r>
              <a:rPr lang="en-US" altLang="ko-KR" dirty="0"/>
              <a:t>. (</a:t>
            </a:r>
            <a:r>
              <a:rPr lang="ko-KR" altLang="en-US" dirty="0"/>
              <a:t>인게임에서 몇 번 더 확인해보긴 해야 될 듯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추적 상태가 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</a:t>
            </a:r>
            <a:r>
              <a:rPr lang="en-US" altLang="ko-KR" dirty="0"/>
              <a:t>Return -&gt; Waiting </a:t>
            </a:r>
            <a:r>
              <a:rPr lang="ko-KR" altLang="en-US" dirty="0"/>
              <a:t>상태가 되면</a:t>
            </a:r>
            <a:r>
              <a:rPr lang="en-US" altLang="ko-KR" dirty="0"/>
              <a:t>, </a:t>
            </a:r>
            <a:r>
              <a:rPr lang="ko-KR" altLang="en-US" dirty="0"/>
              <a:t>다시 거미줄을 지정된 개수만큼 설치하는 거미줄 설치 루틴을 시작한다</a:t>
            </a:r>
            <a:r>
              <a:rPr lang="en-US" altLang="ko-KR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0E13-747A-0622-5BBF-9821D6D1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B49ADE-9D1C-3364-86D5-1A8469DF774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FF0000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0" b="1" dirty="0"/>
              <a:t>사용 </a:t>
            </a:r>
            <a:r>
              <a:rPr lang="en-US" altLang="ko-KR" sz="6000" b="1" dirty="0"/>
              <a:t>X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97536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3776</TotalTime>
  <Words>1101</Words>
  <Application>Microsoft Office PowerPoint</Application>
  <PresentationFormat>와이드스크린</PresentationFormat>
  <Paragraphs>208</Paragraphs>
  <Slides>11</Slides>
  <Notes>0</Notes>
  <HiddenSlides>3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실내 몬스터 기획 Spider (거미)</vt:lpstr>
      <vt:lpstr>목차</vt:lpstr>
      <vt:lpstr>설명</vt:lpstr>
      <vt:lpstr>FSM</vt:lpstr>
      <vt:lpstr>FSM</vt:lpstr>
      <vt:lpstr>FSM</vt:lpstr>
      <vt:lpstr>정보</vt:lpstr>
      <vt:lpstr>정보</vt:lpstr>
      <vt:lpstr>FSM</vt:lpstr>
      <vt:lpstr>스탯</vt:lpstr>
      <vt:lpstr>추후 결정 사항 (언젠가는 정해야 할 것들)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143</cp:revision>
  <dcterms:created xsi:type="dcterms:W3CDTF">2025-07-11T11:24:26Z</dcterms:created>
  <dcterms:modified xsi:type="dcterms:W3CDTF">2026-05-17T23:18:35Z</dcterms:modified>
</cp:coreProperties>
</file>