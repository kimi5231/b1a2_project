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86" r:id="rId3"/>
    <p:sldId id="257" r:id="rId4"/>
    <p:sldId id="275" r:id="rId5"/>
    <p:sldId id="276" r:id="rId6"/>
    <p:sldId id="283" r:id="rId7"/>
    <p:sldId id="280" r:id="rId8"/>
    <p:sldId id="282" r:id="rId9"/>
    <p:sldId id="28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F0000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4660"/>
  </p:normalViewPr>
  <p:slideViewPr>
    <p:cSldViewPr snapToGrid="0">
      <p:cViewPr varScale="1">
        <p:scale>
          <a:sx n="63" d="100"/>
          <a:sy n="63" d="100"/>
        </p:scale>
        <p:origin x="102" y="6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lethal-company.fandom.com/wiki/Bunker_Spider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microsoft.com/office/2017/06/relationships/model3d" Target="../media/model3d2.glb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실내 몬스터 기획</a:t>
            </a:r>
            <a:br>
              <a:rPr lang="ko-KR" altLang="en-US" dirty="0">
                <a:ea typeface="맑은 고딕"/>
              </a:rPr>
            </a:br>
            <a:r>
              <a:rPr lang="ko-KR" altLang="en-US" dirty="0" err="1">
                <a:ea typeface="맑은 고딕"/>
              </a:rPr>
              <a:t>Spider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거미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2026.03.23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C254C40-EC83-5338-C2E8-AAE530593F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CFB0F0C-8FA4-53B2-F4A9-901394D22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ko-KR" altLang="en-US" dirty="0"/>
              <a:t>몬스터 사이즈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F8D0B37-6417-254E-854E-64ADC2C7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F5AA350-ACE5-1E9E-85A9-18028BE7F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E11A6FE-C60B-4D7F-884B-DFD81B8E6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300" y="119158"/>
            <a:ext cx="4229100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D56BA17-3A8C-F632-44EE-BB75CA3021F7}"/>
              </a:ext>
            </a:extLst>
          </p:cNvPr>
          <p:cNvSpPr txBox="1"/>
          <p:nvPr/>
        </p:nvSpPr>
        <p:spPr>
          <a:xfrm>
            <a:off x="6121400" y="1097887"/>
            <a:ext cx="3703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dirty="0"/>
              <a:t>138, 118, 46</a:t>
            </a:r>
            <a:endParaRPr lang="ko-KR" altLang="en-US" sz="3600" dirty="0"/>
          </a:p>
        </p:txBody>
      </p:sp>
    </p:spTree>
    <p:extLst>
      <p:ext uri="{BB962C8B-B14F-4D97-AF65-F5344CB8AC3E}">
        <p14:creationId xmlns:p14="http://schemas.microsoft.com/office/powerpoint/2010/main" val="1892862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>
                <a:solidFill>
                  <a:srgbClr val="000000"/>
                </a:solidFill>
                <a:ea typeface="맑은 고딕"/>
                <a:hlinkClick r:id="rId2" action="ppaction://hlinksldjump"/>
              </a:rPr>
              <a:t>설명</a:t>
            </a:r>
            <a:endParaRPr lang="ko-KR" altLang="en-US" dirty="0">
              <a:solidFill>
                <a:srgbClr val="000000"/>
              </a:solidFill>
              <a:ea typeface="맑은 고딕"/>
            </a:endParaRPr>
          </a:p>
          <a:p>
            <a:endParaRPr lang="ko-KR" altLang="en-US" sz="1800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3" action="ppaction://hlinksldjump"/>
              </a:rPr>
              <a:t>FSM</a:t>
            </a:r>
            <a:endParaRPr lang="en-US" altLang="ko-KR" dirty="0">
              <a:ea typeface="맑은 고딕"/>
            </a:endParaRPr>
          </a:p>
          <a:p>
            <a:endParaRPr lang="ko-KR" altLang="en-US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4" action="ppaction://hlinksldjump"/>
              </a:rPr>
              <a:t>정보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 </a:t>
            </a:r>
            <a:r>
              <a:rPr lang="ko-KR" altLang="en-US" dirty="0" err="1">
                <a:ea typeface="맑은 고딕"/>
              </a:rPr>
              <a:t>스탯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거미줄</a:t>
            </a:r>
            <a:endParaRPr lang="en-US" altLang="ko-KR" dirty="0">
              <a:ea typeface="맑은 고딕"/>
            </a:endParaRPr>
          </a:p>
          <a:p>
            <a:endParaRPr lang="en-US" altLang="ko-KR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" action="ppaction://noaction"/>
              </a:rPr>
              <a:t>추후 결정 사항</a:t>
            </a:r>
            <a:r>
              <a:rPr lang="en-US" altLang="ko-KR" dirty="0">
                <a:ea typeface="맑은 고딕"/>
              </a:rPr>
              <a:t>(==</a:t>
            </a:r>
            <a:r>
              <a:rPr lang="ko-KR" altLang="en-US" dirty="0">
                <a:ea typeface="맑은 고딕"/>
              </a:rPr>
              <a:t>언젠가는 정해야 할 것들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endParaRPr lang="en-US" altLang="ko-KR" dirty="0">
              <a:hlinkClick r:id="" action="ppaction://noaction"/>
            </a:endParaRPr>
          </a:p>
          <a:p>
            <a:r>
              <a:rPr lang="ko-KR" altLang="en-US" sz="1800" dirty="0">
                <a:hlinkClick r:id="" action="ppaction://noaction"/>
              </a:rPr>
              <a:t>로그</a:t>
            </a:r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2A324E-C438-DA80-FB5C-73415EC1AA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BF2BCB-9D67-967A-0472-3BD857D70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D4D502-4079-659A-54E3-558D0571F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>
                <a:ea typeface="맑은 고딕"/>
              </a:rPr>
              <a:t>참고: </a:t>
            </a:r>
            <a:r>
              <a:rPr lang="ko-KR" dirty="0">
                <a:ea typeface="+mn-lt"/>
                <a:cs typeface="+mn-lt"/>
                <a:hlinkClick r:id="rId2"/>
              </a:rPr>
              <a:t>https://lethal-company.fandom.com/wiki/Bunker_Spider</a:t>
            </a:r>
            <a:endParaRPr lang="en-US" altLang="ko-KR" dirty="0">
              <a:ea typeface="+mn-lt"/>
              <a:cs typeface="+mn-lt"/>
            </a:endParaRP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dirty="0">
                <a:ea typeface="+mn-lt"/>
                <a:cs typeface="+mn-lt"/>
              </a:rPr>
              <a:t>거미는 실내에 </a:t>
            </a:r>
            <a:r>
              <a:rPr lang="ko-KR" altLang="en-US" dirty="0" err="1">
                <a:ea typeface="+mn-lt"/>
                <a:cs typeface="+mn-lt"/>
              </a:rPr>
              <a:t>스폰되는</a:t>
            </a:r>
            <a:r>
              <a:rPr lang="ko-KR" altLang="en-US" dirty="0">
                <a:ea typeface="+mn-lt"/>
                <a:cs typeface="+mn-lt"/>
              </a:rPr>
              <a:t> 몬스터이다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 err="1">
                <a:ea typeface="+mn-lt"/>
                <a:cs typeface="+mn-lt"/>
              </a:rPr>
              <a:t>리썰</a:t>
            </a:r>
            <a:r>
              <a:rPr lang="ko-KR" altLang="en-US" dirty="0">
                <a:ea typeface="+mn-lt"/>
                <a:cs typeface="+mn-lt"/>
              </a:rPr>
              <a:t> 컴퍼니의 </a:t>
            </a:r>
            <a:r>
              <a:rPr lang="en-US" altLang="ko-KR" dirty="0">
                <a:ea typeface="+mn-lt"/>
                <a:cs typeface="+mn-lt"/>
              </a:rPr>
              <a:t>‘</a:t>
            </a:r>
            <a:r>
              <a:rPr lang="ko-KR" altLang="en-US" dirty="0">
                <a:ea typeface="+mn-lt"/>
                <a:cs typeface="+mn-lt"/>
              </a:rPr>
              <a:t>벙커 거미</a:t>
            </a:r>
            <a:r>
              <a:rPr lang="en-US" altLang="ko-KR" dirty="0">
                <a:ea typeface="+mn-lt"/>
                <a:cs typeface="+mn-lt"/>
              </a:rPr>
              <a:t>‘(</a:t>
            </a:r>
            <a:r>
              <a:rPr lang="ko-KR" altLang="en-US" dirty="0">
                <a:ea typeface="+mn-lt"/>
                <a:cs typeface="+mn-lt"/>
              </a:rPr>
              <a:t>위 링크에 있음</a:t>
            </a:r>
            <a:r>
              <a:rPr lang="en-US" altLang="ko-KR" dirty="0">
                <a:ea typeface="+mn-lt"/>
                <a:cs typeface="+mn-lt"/>
              </a:rPr>
              <a:t>)</a:t>
            </a:r>
            <a:r>
              <a:rPr lang="ko-KR" altLang="en-US" dirty="0">
                <a:ea typeface="+mn-lt"/>
                <a:cs typeface="+mn-lt"/>
              </a:rPr>
              <a:t>와 유사하다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B015FB-4F5D-19FB-C960-CF3B0EA12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7331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b="1" dirty="0">
                <a:ea typeface="맑은 고딕"/>
              </a:rPr>
              <a:t>State</a:t>
            </a:r>
            <a:endParaRPr lang="ko-KR" altLang="en-US" b="1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7FE4-E16E-CD29-9BCC-5AAD16BC0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963395"/>
              </p:ext>
            </p:extLst>
          </p:nvPr>
        </p:nvGraphicFramePr>
        <p:xfrm>
          <a:off x="1892300" y="119158"/>
          <a:ext cx="7061199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161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4386858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1179180">
                  <a:extLst>
                    <a:ext uri="{9D8B030D-6E8A-4147-A177-3AD203B41FA5}">
                      <a16:colId xmlns:a16="http://schemas.microsoft.com/office/drawing/2014/main" val="83645228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애니메이션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Pause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멈춤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간 멈춘다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WebMake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지정된 거미줄 개수만큼 거미줄을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Roaming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끝난 위치에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배회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동안 랜덤하게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Walk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DoorOpen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열기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플레이어가 문을 닫고 도망칠 경우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닫은 문을 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인식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추적한다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거미줄에 닿으면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해당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플레이어에게 공격 당하면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Run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Attack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공격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복귀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시작하기 전 장소로 돌아간다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Walk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01067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Hit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피격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Hit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61566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Dead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사망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이하로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Die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73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C7CEBF-795D-0761-9D8F-010EDA560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8" y="6350"/>
            <a:ext cx="80435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345F4-1B9E-3D98-D198-69219F493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1D09935-CF8B-E811-6811-9B56A8F56F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  <a:endParaRPr lang="en-US" altLang="ko-KR" dirty="0">
              <a:ea typeface="맑은 고딕"/>
            </a:endParaRPr>
          </a:p>
          <a:p>
            <a:r>
              <a:rPr lang="ko-KR" altLang="en-US" b="1" dirty="0">
                <a:ea typeface="맑은 고딕"/>
              </a:rPr>
              <a:t>설명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1E7373C-E1BE-9A80-CA7B-082A5B32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C7F065B-A13E-B2C3-1B07-3D0AACF31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sz="1600" dirty="0">
                <a:ea typeface="+mn-lt"/>
                <a:cs typeface="+mn-lt"/>
              </a:rPr>
              <a:t>거미는 시설에 </a:t>
            </a:r>
            <a:r>
              <a:rPr lang="ko-KR" altLang="en-US" sz="1600" dirty="0" err="1">
                <a:ea typeface="+mn-lt"/>
                <a:cs typeface="+mn-lt"/>
              </a:rPr>
              <a:t>스폰된</a:t>
            </a:r>
            <a:r>
              <a:rPr lang="ko-KR" altLang="en-US" sz="1600" dirty="0">
                <a:ea typeface="+mn-lt"/>
                <a:cs typeface="+mn-lt"/>
              </a:rPr>
              <a:t> 직후</a:t>
            </a:r>
            <a:r>
              <a:rPr lang="en-US" altLang="ko-KR" sz="1600" dirty="0">
                <a:ea typeface="+mn-lt"/>
                <a:cs typeface="+mn-lt"/>
              </a:rPr>
              <a:t>, ‘Idle‘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 err="1">
                <a:ea typeface="+mn-lt"/>
                <a:cs typeface="+mn-lt"/>
              </a:rPr>
              <a:t>맵에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지정된 개수의 거미줄이 없으면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거미줄 개수를 충족할 때까지 </a:t>
            </a:r>
            <a:r>
              <a:rPr lang="en-US" altLang="ko-KR" sz="1600" dirty="0">
                <a:ea typeface="+mn-lt"/>
                <a:cs typeface="+mn-lt"/>
              </a:rPr>
              <a:t>‘Pause -&gt; Roam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en-US" altLang="ko-KR" sz="1600" dirty="0" err="1">
                <a:ea typeface="+mn-lt"/>
                <a:cs typeface="+mn-lt"/>
              </a:rPr>
              <a:t>WebMake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 </a:t>
            </a:r>
            <a:r>
              <a:rPr lang="ko-KR" altLang="en-US" sz="1600" dirty="0">
                <a:ea typeface="+mn-lt"/>
                <a:cs typeface="+mn-lt"/>
              </a:rPr>
              <a:t>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마지막 거미줄을 설치한 위치에서 </a:t>
            </a:r>
            <a:r>
              <a:rPr lang="en-US" altLang="ko-KR" sz="1600" dirty="0">
                <a:ea typeface="+mn-lt"/>
                <a:cs typeface="+mn-lt"/>
              </a:rPr>
              <a:t>‘Pause’</a:t>
            </a:r>
            <a:r>
              <a:rPr lang="ko-KR" altLang="en-US" sz="1600" dirty="0">
                <a:ea typeface="+mn-lt"/>
                <a:cs typeface="+mn-lt"/>
              </a:rPr>
              <a:t>한 후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더 이상 설치할 거미줄이 없으면 해당 위치에서 </a:t>
            </a:r>
            <a:r>
              <a:rPr lang="en-US" altLang="ko-KR" sz="1600" dirty="0">
                <a:ea typeface="+mn-lt"/>
                <a:cs typeface="+mn-lt"/>
              </a:rPr>
              <a:t>‘Idle’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플레이어가 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1. </a:t>
            </a:r>
            <a:r>
              <a:rPr lang="ko-KR" altLang="en-US" sz="1600" dirty="0">
                <a:ea typeface="+mn-lt"/>
                <a:cs typeface="+mn-lt"/>
              </a:rPr>
              <a:t>거미의 인식 범위에 들어오면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2. </a:t>
            </a:r>
            <a:r>
              <a:rPr lang="ko-KR" altLang="en-US" sz="1600" dirty="0">
                <a:ea typeface="+mn-lt"/>
                <a:cs typeface="+mn-lt"/>
              </a:rPr>
              <a:t>거미를 공격할 때 플레이어가 인식 범위에 없어도</a:t>
            </a:r>
            <a:r>
              <a:rPr lang="en-US" altLang="ko-KR" sz="1600" dirty="0">
                <a:ea typeface="+mn-lt"/>
                <a:cs typeface="+mn-lt"/>
              </a:rPr>
              <a:t>(</a:t>
            </a:r>
            <a:r>
              <a:rPr lang="ko-KR" altLang="en-US" sz="1600" dirty="0">
                <a:ea typeface="+mn-lt"/>
                <a:cs typeface="+mn-lt"/>
              </a:rPr>
              <a:t>총으로 쏜 경우 등</a:t>
            </a:r>
            <a:r>
              <a:rPr lang="en-US" altLang="ko-KR" sz="1600" dirty="0">
                <a:ea typeface="+mn-lt"/>
                <a:cs typeface="+mn-lt"/>
              </a:rPr>
              <a:t>)</a:t>
            </a:r>
            <a:r>
              <a:rPr lang="ko-KR" altLang="en-US" sz="1600" dirty="0">
                <a:ea typeface="+mn-lt"/>
                <a:cs typeface="+mn-lt"/>
              </a:rPr>
              <a:t> 공격한 곳으로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3. </a:t>
            </a:r>
            <a:r>
              <a:rPr lang="ko-KR" altLang="en-US" sz="1600" dirty="0">
                <a:ea typeface="+mn-lt"/>
                <a:cs typeface="+mn-lt"/>
              </a:rPr>
              <a:t>플레이어가 거미줄에 닿으면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문을 닫고 도망가면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en-US" altLang="ko-KR" sz="1600" dirty="0" err="1">
                <a:ea typeface="+mn-lt"/>
                <a:cs typeface="+mn-lt"/>
              </a:rPr>
              <a:t>OpenDoor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가 되어 문을 연 다음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공격 범위에 들어오면 </a:t>
            </a:r>
            <a:r>
              <a:rPr lang="en-US" altLang="ko-KR" sz="1600" dirty="0">
                <a:ea typeface="+mn-lt"/>
                <a:cs typeface="+mn-lt"/>
              </a:rPr>
              <a:t>‘Attack‘</a:t>
            </a:r>
            <a:r>
              <a:rPr lang="ko-KR" altLang="en-US" sz="1600" dirty="0">
                <a:ea typeface="+mn-lt"/>
                <a:cs typeface="+mn-lt"/>
              </a:rPr>
              <a:t>하고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공격 모션이 끝나면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endParaRPr lang="ko-KR" altLang="en-US" sz="1600" dirty="0">
              <a:ea typeface="+mn-lt"/>
              <a:cs typeface="+mn-lt"/>
            </a:endParaRPr>
          </a:p>
          <a:p>
            <a:r>
              <a:rPr lang="en-US" altLang="ko-KR" sz="1600" dirty="0">
                <a:ea typeface="맑은 고딕"/>
              </a:rPr>
              <a:t>‘Chase‘</a:t>
            </a:r>
            <a:r>
              <a:rPr lang="ko-KR" altLang="en-US" sz="1600" dirty="0">
                <a:ea typeface="맑은 고딕"/>
              </a:rPr>
              <a:t>일 때 플레이어가 인식 범위에서 사라진 뒤 추적 종료 시간이 경과하면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추적을 시작했던 장소로 </a:t>
            </a:r>
            <a:r>
              <a:rPr lang="en-US" altLang="ko-KR" sz="1600" dirty="0">
                <a:ea typeface="맑은 고딕"/>
              </a:rPr>
              <a:t>‘Return’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 ‘Return‘</a:t>
            </a:r>
            <a:r>
              <a:rPr lang="ko-KR" altLang="en-US" sz="1600" dirty="0">
                <a:ea typeface="맑은 고딕"/>
              </a:rPr>
              <a:t>일 때 플레이어가 시야에 들어오면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다시 </a:t>
            </a:r>
            <a:r>
              <a:rPr lang="en-US" altLang="ko-KR" sz="1600" dirty="0">
                <a:ea typeface="맑은 고딕"/>
              </a:rPr>
              <a:t>‘Chase’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</a:t>
            </a:r>
          </a:p>
          <a:p>
            <a:r>
              <a:rPr lang="ko-KR" altLang="en-US" sz="1600" dirty="0">
                <a:ea typeface="맑은 고딕"/>
              </a:rPr>
              <a:t>거미줄이 </a:t>
            </a:r>
            <a:r>
              <a:rPr lang="en-US" altLang="ko-KR" sz="1600" dirty="0">
                <a:ea typeface="맑은 고딕"/>
              </a:rPr>
              <a:t>1</a:t>
            </a:r>
            <a:r>
              <a:rPr lang="ko-KR" altLang="en-US" sz="1600" dirty="0">
                <a:ea typeface="맑은 고딕"/>
              </a:rPr>
              <a:t>개 이상 파괴된 후</a:t>
            </a:r>
            <a:r>
              <a:rPr lang="en-US" altLang="ko-KR" sz="1600" dirty="0">
                <a:ea typeface="맑은 고딕"/>
              </a:rPr>
              <a:t> </a:t>
            </a:r>
            <a:r>
              <a:rPr lang="ko-KR" altLang="en-US" sz="1600" dirty="0">
                <a:ea typeface="맑은 고딕"/>
              </a:rPr>
              <a:t>거미가 </a:t>
            </a:r>
            <a:r>
              <a:rPr lang="en-US" altLang="ko-KR" sz="1600" dirty="0">
                <a:ea typeface="맑은 고딕"/>
              </a:rPr>
              <a:t>‘Idle‘</a:t>
            </a:r>
            <a:r>
              <a:rPr lang="ko-KR" altLang="en-US" sz="1600" dirty="0">
                <a:ea typeface="맑은 고딕"/>
              </a:rPr>
              <a:t>이 되었다면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파괴된 개수만큼 </a:t>
            </a:r>
            <a:r>
              <a:rPr lang="en-US" altLang="ko-KR" sz="1600" dirty="0">
                <a:ea typeface="+mn-lt"/>
                <a:cs typeface="+mn-lt"/>
              </a:rPr>
              <a:t>‘Pause 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 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</a:t>
            </a:r>
            <a:r>
              <a:rPr lang="ko-KR" altLang="en-US" sz="1600" dirty="0">
                <a:ea typeface="+mn-lt"/>
                <a:cs typeface="+mn-lt"/>
              </a:rPr>
              <a:t> 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</a:p>
          <a:p>
            <a:r>
              <a:rPr lang="en-US" altLang="ko-KR" sz="1600" dirty="0">
                <a:ea typeface="+mn-lt"/>
                <a:cs typeface="+mn-lt"/>
              </a:rPr>
              <a:t>‘Die‘</a:t>
            </a:r>
            <a:r>
              <a:rPr lang="ko-KR" altLang="en-US" sz="1600" dirty="0">
                <a:ea typeface="+mn-lt"/>
                <a:cs typeface="+mn-lt"/>
              </a:rPr>
              <a:t>가 아닌 모든 상태에서 </a:t>
            </a:r>
            <a:r>
              <a:rPr lang="en-US" altLang="ko-KR" sz="1600" dirty="0">
                <a:ea typeface="+mn-lt"/>
                <a:cs typeface="+mn-lt"/>
              </a:rPr>
              <a:t>‘Hit’</a:t>
            </a:r>
            <a:r>
              <a:rPr lang="ko-KR" altLang="en-US" sz="1600" dirty="0">
                <a:ea typeface="+mn-lt"/>
                <a:cs typeface="+mn-lt"/>
              </a:rPr>
              <a:t>가 될 수 있다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endParaRPr lang="en-US" altLang="ko-KR" sz="1600" dirty="0">
              <a:ea typeface="+mn-lt"/>
              <a:cs typeface="+mn-lt"/>
            </a:endParaRPr>
          </a:p>
          <a:p>
            <a:r>
              <a:rPr lang="ko-KR" altLang="en-US" sz="1600" dirty="0">
                <a:ea typeface="+mn-lt"/>
                <a:cs typeface="+mn-lt"/>
              </a:rPr>
              <a:t>거미가 죽어도 설치한 거미줄은 자동으로 삭제되지 않는다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(Chase) </a:t>
            </a:r>
            <a:r>
              <a:rPr lang="ko-KR" altLang="en-US" sz="1600" dirty="0">
                <a:ea typeface="+mn-lt"/>
                <a:cs typeface="+mn-lt"/>
              </a:rPr>
              <a:t>종료 시간 </a:t>
            </a:r>
            <a:r>
              <a:rPr lang="en-US" altLang="ko-KR" sz="1600" dirty="0">
                <a:ea typeface="+mn-lt"/>
                <a:cs typeface="+mn-lt"/>
              </a:rPr>
              <a:t>(s) : </a:t>
            </a:r>
            <a:r>
              <a:rPr lang="ko-KR" altLang="en-US" sz="1600" dirty="0" err="1">
                <a:ea typeface="+mn-lt"/>
                <a:cs typeface="+mn-lt"/>
              </a:rPr>
              <a:t>스탯에</a:t>
            </a:r>
            <a:r>
              <a:rPr lang="ko-KR" altLang="en-US" sz="1600" dirty="0">
                <a:ea typeface="+mn-lt"/>
                <a:cs typeface="+mn-lt"/>
              </a:rPr>
              <a:t> 있음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플레이어가 인식 범위에서 벗어난 채 이 시간만큼 지나면 포기하고 </a:t>
            </a:r>
            <a:r>
              <a:rPr lang="en-US" altLang="ko-KR" sz="1600" dirty="0">
                <a:ea typeface="+mn-lt"/>
                <a:cs typeface="+mn-lt"/>
              </a:rPr>
              <a:t>‘Return’</a:t>
            </a:r>
            <a:r>
              <a:rPr lang="ko-KR" altLang="en-US" sz="1600" dirty="0">
                <a:ea typeface="+mn-lt"/>
                <a:cs typeface="+mn-lt"/>
              </a:rPr>
              <a:t>함</a:t>
            </a:r>
            <a:endParaRPr lang="en-US" altLang="ko-KR" sz="1600" dirty="0">
              <a:ea typeface="+mn-lt"/>
              <a:cs typeface="+mn-lt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A20B3E-5EAF-1C5C-66E0-A00DB49AD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7800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819074-039F-AF8D-412B-9CA512858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거미 </a:t>
            </a:r>
            <a:r>
              <a:rPr lang="ko-KR" altLang="en-US" b="1" dirty="0" err="1"/>
              <a:t>스탯</a:t>
            </a:r>
            <a:endParaRPr lang="en-US" altLang="ko-KR" b="1" dirty="0"/>
          </a:p>
          <a:p>
            <a:r>
              <a:rPr lang="ko-KR" altLang="en-US" dirty="0"/>
              <a:t>거미줄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4D46401-B15B-3D59-2C0E-AA8887B9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pic>
        <p:nvPicPr>
          <p:cNvPr id="11" name="내용 개체 틀 10" descr="거미 단색으로 채워진">
            <a:extLst>
              <a:ext uri="{FF2B5EF4-FFF2-40B4-BE49-F238E27FC236}">
                <a16:creationId xmlns:a16="http://schemas.microsoft.com/office/drawing/2014/main" id="{46D86EA2-3CC4-5050-F1F6-03834D608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0768" y="5394445"/>
            <a:ext cx="914400" cy="914400"/>
          </a:xfr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51CAC3-DE83-BF9F-EB8A-5DF210E4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10D8A27-50A2-F86A-4498-9131E4239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293704"/>
              </p:ext>
            </p:extLst>
          </p:nvPr>
        </p:nvGraphicFramePr>
        <p:xfrm>
          <a:off x="1892299" y="119158"/>
          <a:ext cx="3502609" cy="600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071932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52777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종료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96956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딜레이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969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83791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개수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8518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7056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05916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638578"/>
                  </a:ext>
                </a:extLst>
              </a:tr>
            </a:tbl>
          </a:graphicData>
        </a:graphic>
      </p:graphicFrame>
      <p:grpSp>
        <p:nvGrpSpPr>
          <p:cNvPr id="24" name="그룹 23">
            <a:extLst>
              <a:ext uri="{FF2B5EF4-FFF2-40B4-BE49-F238E27FC236}">
                <a16:creationId xmlns:a16="http://schemas.microsoft.com/office/drawing/2014/main" id="{8CACA201-4B8C-8636-7F3B-EC9D4ECBF586}"/>
              </a:ext>
            </a:extLst>
          </p:cNvPr>
          <p:cNvGrpSpPr/>
          <p:nvPr/>
        </p:nvGrpSpPr>
        <p:grpSpPr>
          <a:xfrm>
            <a:off x="9437618" y="3055327"/>
            <a:ext cx="3060700" cy="3060700"/>
            <a:chOff x="6711950" y="2565400"/>
            <a:chExt cx="3060700" cy="3060700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ED2E9801-1D43-C98F-6E96-A437EE59E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2578100"/>
              <a:ext cx="0" cy="2326418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8FB0E81A-F982-64A3-7ECC-8F5ABA4AE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86600" y="30861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074C84D-4929-CB22-5029-63F0C12704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30734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원호 21">
              <a:extLst>
                <a:ext uri="{FF2B5EF4-FFF2-40B4-BE49-F238E27FC236}">
                  <a16:creationId xmlns:a16="http://schemas.microsoft.com/office/drawing/2014/main" id="{6BF1318E-39AE-E3A0-4C82-5FAFF8EE1FA4}"/>
                </a:ext>
              </a:extLst>
            </p:cNvPr>
            <p:cNvSpPr/>
            <p:nvPr/>
          </p:nvSpPr>
          <p:spPr>
            <a:xfrm rot="18900000">
              <a:off x="6711950" y="2565400"/>
              <a:ext cx="3060700" cy="3060700"/>
            </a:xfrm>
            <a:prstGeom prst="arc">
              <a:avLst>
                <a:gd name="adj1" fmla="val 15958322"/>
                <a:gd name="adj2" fmla="val 266414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56ECE54-BF98-C42C-788D-274361737326}"/>
              </a:ext>
            </a:extLst>
          </p:cNvPr>
          <p:cNvGrpSpPr/>
          <p:nvPr/>
        </p:nvGrpSpPr>
        <p:grpSpPr>
          <a:xfrm>
            <a:off x="7078431" y="-168676"/>
            <a:ext cx="4930325" cy="4565194"/>
            <a:chOff x="7057863" y="339324"/>
            <a:chExt cx="4930325" cy="4565194"/>
          </a:xfrm>
        </p:grpSpPr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520877126"/>
                    </p:ext>
                  </p:extLst>
                </p:nvPr>
              </p:nvGraphicFramePr>
              <p:xfrm>
                <a:off x="7813259" y="339324"/>
                <a:ext cx="4174929" cy="3189078"/>
              </p:xfrm>
              <a:graphic>
                <a:graphicData uri="http://schemas.microsoft.com/office/drawing/2017/model3d">
                  <am3d:model3d r:embed="rId3">
                    <am3d:spPr>
                      <a:xfrm>
                        <a:off x="0" y="0"/>
                        <a:ext cx="4174929" cy="3189078"/>
                      </a:xfrm>
                      <a:prstGeom prst="rect">
                        <a:avLst/>
                      </a:prstGeom>
                    </am3d:spPr>
                    <am3d:camera>
                      <am3d:pos x="0" y="0" z="6850851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6284259" d="1000000"/>
                      <am3d:preTrans dx="-103008" dy="-11011706" dz="-5212029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1316876" ay="-1617928" az="-621306"/>
                      <am3d:postTrans dx="0" dy="0" dz="0"/>
                    </am3d:trans>
                    <am3d:raster rName="Office3DRenderer" rVer="16.0.8326">
                      <am3d:blip r:embed="rId4"/>
                    </am3d:raster>
                    <am3d:objViewport viewportSz="5169162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33827" y="-168676"/>
                  <a:ext cx="4174929" cy="3189078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5DB0A306-39DA-1CBD-9E1C-4D9318FA63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6097" y="749300"/>
              <a:ext cx="1587603" cy="495300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73CE2ABA-CEBB-AAF0-93A1-A8DE5E9582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22706" y="636798"/>
              <a:ext cx="2665482" cy="23600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D3DE605A-22C0-EFDF-57B6-4B2799CEC8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60752" y="1244600"/>
              <a:ext cx="119748" cy="2283802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98827809"/>
                    </p:ext>
                  </p:extLst>
                </p:nvPr>
              </p:nvGraphicFramePr>
              <p:xfrm>
                <a:off x="7057863" y="2578100"/>
                <a:ext cx="3373987" cy="2326418"/>
              </p:xfrm>
              <a:graphic>
                <a:graphicData uri="http://schemas.microsoft.com/office/drawing/2017/model3d">
                  <am3d:model3d r:embed="rId5">
                    <am3d:spPr>
                      <a:xfrm>
                        <a:off x="0" y="0"/>
                        <a:ext cx="3373987" cy="2326418"/>
                      </a:xfrm>
                      <a:prstGeom prst="rect">
                        <a:avLst/>
                      </a:prstGeom>
                    </am3d:spPr>
                    <am3d:camera>
                      <am3d:pos x="0" y="0" z="6112208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1048852" d="1000000"/>
                      <am3d:preTrans dx="-375216" dy="-8847833" dz="981590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9790826" ay="3322256" az="9961908"/>
                      <am3d:postTrans dx="0" dy="0" dz="0"/>
                    </am3d:trans>
                    <am3d:raster rName="Office3DRenderer" rVer="16.0.8326">
                      <am3d:blip r:embed="rId6"/>
                    </am3d:raster>
                    <am3d:objViewport viewportSz="3795735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78431" y="2070100"/>
                  <a:ext cx="3373987" cy="2326418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5066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280961E-7482-B98F-5241-8E0115BED4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거미 </a:t>
            </a:r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ko-KR" altLang="en-US" b="1" dirty="0"/>
              <a:t>거미줄</a:t>
            </a:r>
          </a:p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A659670-FC97-2EC3-A0D4-8A8702BBC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FB9E5F-B3FF-CBB7-D109-56B5D5CBB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2301" y="119158"/>
            <a:ext cx="5106240" cy="4072698"/>
          </a:xfrm>
        </p:spPr>
        <p:txBody>
          <a:bodyPr>
            <a:normAutofit/>
          </a:bodyPr>
          <a:lstStyle/>
          <a:p>
            <a:r>
              <a:rPr lang="en-US" altLang="ko-KR" dirty="0"/>
              <a:t>HP: 10</a:t>
            </a:r>
          </a:p>
          <a:p>
            <a:r>
              <a:rPr lang="ko-KR" altLang="en-US" dirty="0"/>
              <a:t>사이즈</a:t>
            </a:r>
            <a:r>
              <a:rPr lang="en-US" altLang="ko-KR" dirty="0"/>
              <a:t>: 200*240*10</a:t>
            </a:r>
            <a:br>
              <a:rPr lang="en-US" altLang="ko-KR" dirty="0"/>
            </a:br>
            <a:r>
              <a:rPr lang="ko-KR" altLang="en-US" dirty="0">
                <a:solidFill>
                  <a:srgbClr val="FF00FF"/>
                </a:solidFill>
              </a:rPr>
              <a:t>얇은 직육면체</a:t>
            </a:r>
            <a:r>
              <a:rPr lang="ko-KR" altLang="en-US" dirty="0"/>
              <a:t>를 </a:t>
            </a:r>
            <a:r>
              <a:rPr lang="en-US" altLang="ko-KR" dirty="0"/>
              <a:t>&lt;</a:t>
            </a:r>
            <a:r>
              <a:rPr lang="ko-KR" altLang="en-US" dirty="0"/>
              <a:t>사진</a:t>
            </a:r>
            <a:r>
              <a:rPr lang="en-US" altLang="ko-KR" dirty="0"/>
              <a:t>1&gt;</a:t>
            </a:r>
            <a:r>
              <a:rPr lang="ko-KR" altLang="en-US" dirty="0"/>
              <a:t>처럼 대각선으로 배치</a:t>
            </a:r>
            <a:endParaRPr lang="en-US" altLang="ko-KR" dirty="0"/>
          </a:p>
          <a:p>
            <a:r>
              <a:rPr lang="ko-KR" altLang="en-US" dirty="0" err="1"/>
              <a:t>디버프</a:t>
            </a:r>
            <a:r>
              <a:rPr lang="en-US" altLang="ko-KR" dirty="0"/>
              <a:t>: </a:t>
            </a:r>
            <a:r>
              <a:rPr lang="ko-KR" altLang="en-US" dirty="0"/>
              <a:t>이동 속도 </a:t>
            </a:r>
            <a:r>
              <a:rPr lang="en-US" altLang="ko-KR" dirty="0"/>
              <a:t>20% </a:t>
            </a:r>
            <a:r>
              <a:rPr lang="ko-KR" altLang="en-US" dirty="0"/>
              <a:t>감속</a:t>
            </a:r>
            <a:endParaRPr lang="en-US" altLang="ko-KR" dirty="0"/>
          </a:p>
          <a:p>
            <a:r>
              <a:rPr lang="ko-KR" altLang="en-US" dirty="0"/>
              <a:t>거미줄 설치</a:t>
            </a:r>
            <a:r>
              <a:rPr lang="en-US" altLang="ko-KR" dirty="0"/>
              <a:t>: </a:t>
            </a:r>
            <a:r>
              <a:rPr lang="ko-KR" altLang="en-US" dirty="0"/>
              <a:t>벽에서 바닥으로 대각선으로 설치됨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불가능하면 </a:t>
            </a:r>
            <a:r>
              <a:rPr lang="en-US" altLang="ko-KR" dirty="0"/>
              <a:t>170*170*130 </a:t>
            </a:r>
            <a:r>
              <a:rPr lang="ko-KR" altLang="en-US" dirty="0"/>
              <a:t>큐브로 마크처럼 설치</a:t>
            </a:r>
            <a:r>
              <a:rPr lang="en-US" altLang="ko-KR" dirty="0"/>
              <a:t>,</a:t>
            </a:r>
            <a:r>
              <a:rPr lang="ko-KR" altLang="en-US" dirty="0"/>
              <a:t> 네모나게</a:t>
            </a:r>
            <a:r>
              <a:rPr lang="en-US" altLang="ko-KR" dirty="0"/>
              <a:t>..)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23D902-0C46-7D18-C21E-DC41B41F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7B9AA65-22E5-21EF-77FC-64992CC22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607" y="6350"/>
            <a:ext cx="4263081" cy="6858000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F9710BCB-D190-DE49-8C9A-22A8058EC17A}"/>
              </a:ext>
            </a:extLst>
          </p:cNvPr>
          <p:cNvSpPr/>
          <p:nvPr/>
        </p:nvSpPr>
        <p:spPr>
          <a:xfrm>
            <a:off x="9693274" y="5676899"/>
            <a:ext cx="752475" cy="304599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05C483-90DC-6530-67E8-0685D758EC90}"/>
              </a:ext>
            </a:extLst>
          </p:cNvPr>
          <p:cNvSpPr txBox="1"/>
          <p:nvPr/>
        </p:nvSpPr>
        <p:spPr>
          <a:xfrm>
            <a:off x="9972675" y="5900434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200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1C7BEADC-718B-E63E-66BE-BE971A6B47FC}"/>
              </a:ext>
            </a:extLst>
          </p:cNvPr>
          <p:cNvSpPr/>
          <p:nvPr/>
        </p:nvSpPr>
        <p:spPr>
          <a:xfrm rot="3469307">
            <a:off x="9141082" y="5671087"/>
            <a:ext cx="556963" cy="228804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BB90CD-581D-AB50-FF73-B9C58A4DBDE5}"/>
              </a:ext>
            </a:extLst>
          </p:cNvPr>
          <p:cNvSpPr txBox="1"/>
          <p:nvPr/>
        </p:nvSpPr>
        <p:spPr>
          <a:xfrm>
            <a:off x="9006680" y="5769629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/>
              <a:t>180</a:t>
            </a:r>
            <a:endParaRPr lang="ko-KR" altLang="en-US" sz="1100" b="1" dirty="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1A66D4E-A7EB-8024-AAD1-6170F6D8F308}"/>
              </a:ext>
            </a:extLst>
          </p:cNvPr>
          <p:cNvSpPr/>
          <p:nvPr/>
        </p:nvSpPr>
        <p:spPr>
          <a:xfrm rot="17564201">
            <a:off x="10260491" y="5400185"/>
            <a:ext cx="378667" cy="147201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D08558-1A8D-4BEB-B9C3-5AF8F44B6B2E}"/>
              </a:ext>
            </a:extLst>
          </p:cNvPr>
          <p:cNvSpPr txBox="1"/>
          <p:nvPr/>
        </p:nvSpPr>
        <p:spPr>
          <a:xfrm>
            <a:off x="10445749" y="5358053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rgbClr val="00B0F0"/>
                </a:solidFill>
              </a:rPr>
              <a:t>130</a:t>
            </a:r>
            <a:endParaRPr lang="ko-KR" altLang="en-US" sz="1100" b="1" dirty="0">
              <a:solidFill>
                <a:srgbClr val="00B0F0"/>
              </a:solidFill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248958A2-CF3E-35EC-E658-0C603E8C3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546" y="3848100"/>
            <a:ext cx="5145196" cy="2908733"/>
          </a:xfrm>
          <a:prstGeom prst="rect">
            <a:avLst/>
          </a:prstGeom>
        </p:spPr>
      </p:pic>
      <p:sp>
        <p:nvSpPr>
          <p:cNvPr id="26" name="타원 25">
            <a:extLst>
              <a:ext uri="{FF2B5EF4-FFF2-40B4-BE49-F238E27FC236}">
                <a16:creationId xmlns:a16="http://schemas.microsoft.com/office/drawing/2014/main" id="{2E264274-CD05-9E51-F18A-77684422FB7B}"/>
              </a:ext>
            </a:extLst>
          </p:cNvPr>
          <p:cNvSpPr/>
          <p:nvPr/>
        </p:nvSpPr>
        <p:spPr>
          <a:xfrm rot="19743251">
            <a:off x="3404612" y="4949615"/>
            <a:ext cx="983419" cy="1985490"/>
          </a:xfrm>
          <a:prstGeom prst="ellipse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8E087C4-0AFD-B50E-BA8C-5DD18DC0025B}"/>
              </a:ext>
            </a:extLst>
          </p:cNvPr>
          <p:cNvGrpSpPr/>
          <p:nvPr/>
        </p:nvGrpSpPr>
        <p:grpSpPr>
          <a:xfrm>
            <a:off x="9193725" y="4933560"/>
            <a:ext cx="1252024" cy="1022234"/>
            <a:chOff x="9193725" y="4933560"/>
            <a:chExt cx="1252024" cy="1022234"/>
          </a:xfrm>
        </p:grpSpPr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CCC09B08-7980-3E55-0327-7751FB5EA53A}"/>
                </a:ext>
              </a:extLst>
            </p:cNvPr>
            <p:cNvCxnSpPr>
              <a:cxnSpLocks/>
            </p:cNvCxnSpPr>
            <p:nvPr/>
          </p:nvCxnSpPr>
          <p:spPr>
            <a:xfrm>
              <a:off x="9923003" y="4936014"/>
              <a:ext cx="522746" cy="32200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B75011D7-9C89-2CC4-8E01-7DD6BDB85E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05913" y="4933560"/>
              <a:ext cx="757644" cy="67259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678CC73-178E-E478-3819-AC3CCDC3B7C2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 flipH="1">
              <a:off x="9659332" y="5258018"/>
              <a:ext cx="786417" cy="697776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21668EDB-5984-DDDE-C103-81BDA98CC458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>
              <a:off x="9193725" y="5605464"/>
              <a:ext cx="465607" cy="350330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1133EAE6-053C-05D3-4C74-6E7AF4C2698E}"/>
              </a:ext>
            </a:extLst>
          </p:cNvPr>
          <p:cNvSpPr/>
          <p:nvPr/>
        </p:nvSpPr>
        <p:spPr>
          <a:xfrm rot="9958893">
            <a:off x="9106383" y="5036555"/>
            <a:ext cx="908528" cy="472953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AC0123-D5AD-D0D1-241B-A42D42470305}"/>
              </a:ext>
            </a:extLst>
          </p:cNvPr>
          <p:cNvSpPr txBox="1"/>
          <p:nvPr/>
        </p:nvSpPr>
        <p:spPr>
          <a:xfrm>
            <a:off x="9110805" y="4763965"/>
            <a:ext cx="444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>
                <a:solidFill>
                  <a:srgbClr val="FF00FF"/>
                </a:solidFill>
              </a:rPr>
              <a:t>약 </a:t>
            </a:r>
            <a:r>
              <a:rPr lang="en-US" altLang="ko-KR" sz="1100" b="1" dirty="0">
                <a:solidFill>
                  <a:srgbClr val="FF00FF"/>
                </a:solidFill>
              </a:rPr>
              <a:t>240</a:t>
            </a:r>
            <a:endParaRPr lang="ko-KR" altLang="en-US" sz="1100" b="1" dirty="0">
              <a:solidFill>
                <a:srgbClr val="FF00FF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3ECDD1-D835-B4B8-3757-2BEBD4A3B0C7}"/>
              </a:ext>
            </a:extLst>
          </p:cNvPr>
          <p:cNvSpPr txBox="1"/>
          <p:nvPr/>
        </p:nvSpPr>
        <p:spPr>
          <a:xfrm>
            <a:off x="7720920" y="256117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1&gt;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0CD38F-4601-E4D5-82B4-F25404013D9E}"/>
              </a:ext>
            </a:extLst>
          </p:cNvPr>
          <p:cNvSpPr txBox="1"/>
          <p:nvPr/>
        </p:nvSpPr>
        <p:spPr>
          <a:xfrm>
            <a:off x="2451297" y="3874965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2&gt;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054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3789</TotalTime>
  <Words>690</Words>
  <Application>Microsoft Office PowerPoint</Application>
  <PresentationFormat>와이드스크린</PresentationFormat>
  <Paragraphs>154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실내 몬스터 기획 Spider (거미)</vt:lpstr>
      <vt:lpstr>몬스터 사이즈</vt:lpstr>
      <vt:lpstr>목차</vt:lpstr>
      <vt:lpstr>설명</vt:lpstr>
      <vt:lpstr>FSM</vt:lpstr>
      <vt:lpstr>FSM</vt:lpstr>
      <vt:lpstr>FSM</vt:lpstr>
      <vt:lpstr>정보</vt:lpstr>
      <vt:lpstr>정보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144</cp:revision>
  <dcterms:created xsi:type="dcterms:W3CDTF">2025-07-11T11:24:26Z</dcterms:created>
  <dcterms:modified xsi:type="dcterms:W3CDTF">2026-05-26T08:21:37Z</dcterms:modified>
</cp:coreProperties>
</file>