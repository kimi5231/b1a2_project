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0"/>
  </p:notesMasterIdLst>
  <p:handoutMasterIdLst>
    <p:handoutMasterId r:id="rId11"/>
  </p:handoutMasterIdLst>
  <p:sldIdLst>
    <p:sldId id="256" r:id="rId2"/>
    <p:sldId id="288" r:id="rId3"/>
    <p:sldId id="276" r:id="rId4"/>
    <p:sldId id="283" r:id="rId5"/>
    <p:sldId id="284" r:id="rId6"/>
    <p:sldId id="285" r:id="rId7"/>
    <p:sldId id="286" r:id="rId8"/>
    <p:sldId id="287" r:id="rId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FF00FF"/>
    <a:srgbClr val="D9D9D9"/>
    <a:srgbClr val="BFBFBF"/>
    <a:srgbClr val="8B5831"/>
    <a:srgbClr val="000000"/>
    <a:srgbClr val="0000FF"/>
    <a:srgbClr val="00FF00"/>
    <a:srgbClr val="00B0F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ABFCF23-3B69-468F-B69F-88F6DE6A72F2}" styleName="보통 스타일 1 - 강조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0" autoAdjust="0"/>
    <p:restoredTop sz="94660"/>
  </p:normalViewPr>
  <p:slideViewPr>
    <p:cSldViewPr snapToGrid="0">
      <p:cViewPr varScale="1">
        <p:scale>
          <a:sx n="90" d="100"/>
          <a:sy n="90" d="100"/>
        </p:scale>
        <p:origin x="156" y="246"/>
      </p:cViewPr>
      <p:guideLst>
        <p:guide pos="3840"/>
        <p:guide orient="horz" pos="2160"/>
      </p:guideLst>
    </p:cSldViewPr>
  </p:slideViewPr>
  <p:notesTextViewPr>
    <p:cViewPr>
      <p:scale>
        <a:sx n="150" d="100"/>
        <a:sy n="150" d="100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190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C2C3083C-98BF-1B2E-E667-79BF834E4A4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19B0DE5-21E2-1ED5-9F31-7EE9F610DA0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ADBB8C-8191-4AEC-B0E4-021A6DCC5E88}" type="datetimeFigureOut">
              <a:rPr lang="ko-KR" altLang="en-US" smtClean="0"/>
              <a:t>2026-04-14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56504FD-4BA5-371F-3F45-AEF1898A8B9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0F4DC69-B8F7-98B9-883D-09A928A1ABC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5929C7-007B-4BE5-913E-66190B768B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492085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139F74-74AF-4C37-AE84-1000E0D0E51D}" type="datetimeFigureOut">
              <a:rPr lang="ko-KR" altLang="en-US" smtClean="0"/>
              <a:t>2026-04-14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F76A66-B71B-41D7-B3D7-EDD47844D17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50423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타겟 지정 방식</a:t>
            </a:r>
            <a:r>
              <a:rPr lang="en-US" altLang="ko-KR" dirty="0"/>
              <a:t>, </a:t>
            </a:r>
            <a:r>
              <a:rPr lang="ko-KR" altLang="en-US" dirty="0"/>
              <a:t>목적지 탐색 방식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F76A66-B71B-41D7-B3D7-EDD47844D175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02361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4D5A81-EC0A-1447-561C-EB9B520963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488C88E-7F32-40EE-5E9F-4E7D7B593F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C3FC8EA-6FC1-258F-043A-ECC0CD8379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타겟 지정 방식</a:t>
            </a:r>
            <a:r>
              <a:rPr lang="en-US" altLang="ko-KR" dirty="0"/>
              <a:t>, </a:t>
            </a:r>
            <a:r>
              <a:rPr lang="ko-KR" altLang="en-US" dirty="0"/>
              <a:t>목적지 탐색 방식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3D56519-A82E-1A89-2AB7-73C5F9799C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F76A66-B71B-41D7-B3D7-EDD47844D175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52210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33C0EC-84D4-B0F9-319F-CF5EA7E8D8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08819EC-1DBC-9FAC-1151-47E2692771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A139861-9902-1BC7-4631-47C79E734C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타겟 지정 방식</a:t>
            </a:r>
            <a:r>
              <a:rPr lang="en-US" altLang="ko-KR" dirty="0"/>
              <a:t>, </a:t>
            </a:r>
            <a:r>
              <a:rPr lang="ko-KR" altLang="en-US" dirty="0"/>
              <a:t>목적지 탐색 방식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C706BE2-3E2B-DF09-04A6-964A757817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F76A66-B71B-41D7-B3D7-EDD47844D175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75440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5DDBE4-2F21-F285-D374-F142186C44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CE4A408-9838-E9D8-BC18-A8C765B7D4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992920C-2C86-2E2E-1B68-BDC9333BF0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타겟 지정 방식</a:t>
            </a:r>
            <a:r>
              <a:rPr lang="en-US" altLang="ko-KR" dirty="0"/>
              <a:t>, </a:t>
            </a:r>
            <a:r>
              <a:rPr lang="ko-KR" altLang="en-US" dirty="0"/>
              <a:t>목적지 탐색 방식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FF263E9-4260-0B33-99D0-1B318C1402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F76A66-B71B-41D7-B3D7-EDD47844D175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07980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289805B-3243-420F-9D91-64369926A7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7A1A2F3-38E0-86D1-0493-9BBD9B1D27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DDA6EFD-C8A7-566F-C008-FC9A35D8D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F74CB-B97E-448A-8613-336F71D317F5}" type="datetime1">
              <a:rPr lang="ko-KR" altLang="en-US" smtClean="0"/>
              <a:t>2026-04-14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52E3719-8A28-4C06-D97F-6D873CD600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3545DE1-4EAF-9431-2E0F-B4311FA42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26FEB-661D-4181-84CB-C53DCFE193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04004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641AF731-17E1-3491-EC42-464CC4F160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2280538"/>
            <a:ext cx="1600200" cy="2349500"/>
          </a:xfrm>
        </p:spPr>
        <p:txBody>
          <a:bodyPr>
            <a:normAutofit/>
          </a:bodyPr>
          <a:lstStyle>
            <a:lvl1pPr marL="342900" indent="-342900">
              <a:buFont typeface="Arial" panose="020B0604020202020204" pitchFamily="34" charset="0"/>
              <a:buChar char="•"/>
              <a:defRPr sz="1800"/>
            </a:lvl1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2269D61-CCA6-84A9-E13B-2BDCDE2AE8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19158"/>
            <a:ext cx="1600200" cy="1865126"/>
          </a:xfrm>
        </p:spPr>
        <p:txBody>
          <a:bodyPr>
            <a:spAutoFit/>
          </a:bodyPr>
          <a:lstStyle>
            <a:lvl1pPr latinLnBrk="0"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53E2E69-31FD-9579-E784-1B384FA1CA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100"/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570AEA8-F185-96CE-172F-1B32CAF6A9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DB65B-E6AE-4B39-8D08-8DC3DC9B3DE6}" type="datetime1">
              <a:rPr lang="ko-KR" altLang="en-US" smtClean="0"/>
              <a:t>2026-04-14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9194137-D9FF-980C-09B6-60968DA73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E94A664-0E93-2892-4E70-09FD9731B8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26FEB-661D-4181-84CB-C53DCFE193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31106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리썰컴퍼니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641AF731-17E1-3491-EC42-464CC4F160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2280538"/>
            <a:ext cx="1600200" cy="2349500"/>
          </a:xfrm>
        </p:spPr>
        <p:txBody>
          <a:bodyPr>
            <a:normAutofit/>
          </a:bodyPr>
          <a:lstStyle>
            <a:lvl1pPr marL="342900" indent="-342900">
              <a:buFont typeface="Arial" panose="020B0604020202020204" pitchFamily="34" charset="0"/>
              <a:buChar char="•"/>
              <a:defRPr sz="1800"/>
            </a:lvl1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2269D61-CCA6-84A9-E13B-2BDCDE2AE8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19158"/>
            <a:ext cx="1600200" cy="1865126"/>
          </a:xfrm>
        </p:spPr>
        <p:txBody>
          <a:bodyPr>
            <a:spAutoFit/>
          </a:bodyPr>
          <a:lstStyle>
            <a:lvl1pPr latinLnBrk="0"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53E2E69-31FD-9579-E784-1B384FA1CA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100"/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570AEA8-F185-96CE-172F-1B32CAF6A9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DB65B-E6AE-4B39-8D08-8DC3DC9B3DE6}" type="datetime1">
              <a:rPr lang="ko-KR" altLang="en-US" smtClean="0"/>
              <a:t>2026-04-14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9194137-D9FF-980C-09B6-60968DA73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E94A664-0E93-2892-4E70-09FD9731B8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26FEB-661D-4181-84CB-C53DCFE1931A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7" name="그림 6" descr="텍스트, 폰트, 포스터, 레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8A34F2A-35E2-4E1B-697A-B1C32940DBE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3860" y="90098"/>
            <a:ext cx="1169240" cy="469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76162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824215-264C-0DE7-9176-24E56AF494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76B638D-B913-55CE-7AD8-86C001DB34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9DCAB01-B8C7-E404-B2B0-8030C966F6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E6DAD-F59F-4DF2-B36E-B1403061A098}" type="datetime1">
              <a:rPr lang="ko-KR" altLang="en-US" smtClean="0"/>
              <a:t>2026-04-14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78F78A9-B0F7-0ED6-85CB-FE76163096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592EFFB-69F4-F9A5-F912-AE25F58F7E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26FEB-661D-4181-84CB-C53DCFE193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29155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95D9D69-F4AF-5E7D-BD7A-CEE292D567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785F142-7298-D4B4-A4D4-AE0D926643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BC0526D-8D44-8B70-D8C1-33C3E18695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ECCB5D2-673E-BA1F-0633-AFEEF83E60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7A435-D09E-4012-8A5A-CB367CE86DE7}" type="datetime1">
              <a:rPr lang="ko-KR" altLang="en-US" smtClean="0"/>
              <a:t>2026-04-14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E0F8D1C-6C50-CFCC-81ED-A1A14A65AB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511556F-CE74-4F81-FC81-9A41887020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26FEB-661D-4181-84CB-C53DCFE193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16357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A5DBC0-513C-1291-9726-C61D298635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6707C39-57EB-CE46-5E74-C507D8233E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8108DA8-D030-11E2-C7E6-EA0D2FF34B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886BD26-DD3A-0522-3C19-85B70DC3944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5329FDF-6B3F-3E6E-F9F6-4D951ED6723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090E0ED-2948-1F44-674A-C0D67CB316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E4FE5-8155-4A7B-B9F1-1277B556A678}" type="datetime1">
              <a:rPr lang="ko-KR" altLang="en-US" smtClean="0"/>
              <a:t>2026-04-14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954BD67F-5E5F-97A4-129E-09DFECE9A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153FB509-AC27-E337-61AF-865AA9416E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26FEB-661D-4181-84CB-C53DCFE193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92519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18D15BD-7109-F1B2-5B82-BDC7B1DEA8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90BCA4D-AE47-2AB1-DC43-0198FFDFF6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DFFB1-F462-49A1-A952-F86898531EFC}" type="datetime1">
              <a:rPr lang="ko-KR" altLang="en-US" smtClean="0"/>
              <a:t>2026-04-14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381BD34-DB61-16AF-4C60-75B58A634E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C073A52-9916-DF33-5D43-625C85A51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26FEB-661D-4181-84CB-C53DCFE193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0635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F7990B1-934E-0818-5BB4-C9332257C7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07744-A7EE-42A9-B4BD-A75049B592B9}" type="datetime1">
              <a:rPr lang="ko-KR" altLang="en-US" smtClean="0"/>
              <a:t>2026-04-14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054FE8FB-35F5-A9B7-3025-A858D46479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1F1F464-49AA-5D23-3D63-E4DF34871B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26FEB-661D-4181-84CB-C53DCFE193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97970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E1ED093-E138-5C68-135D-9346C05B51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8EC7EFB-287E-2016-E307-E1FE657ACA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00EBFF1-BE37-EE1F-52ED-1403C1EE39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85452F5-D2A2-3F00-FD8F-C67AF154A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B58597-5F16-46FB-9810-19206F29ADC7}" type="datetime1">
              <a:rPr lang="ko-KR" altLang="en-US" smtClean="0"/>
              <a:t>2026-04-14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416C177-CB54-FF1F-08C4-DE2E2C1364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857C2DB-B177-95DE-6A15-3E6E7BA101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26FEB-661D-4181-84CB-C53DCFE193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16586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B2DC1BF-296C-3C72-1705-8F7F995F2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A2ACEE6A-81C0-B208-6F5A-6487F1B5ADC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C3B04B3-5A33-3FC8-FDC5-FBE62BE0D9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3683508-541B-F446-BF0A-F02116C46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5A3F2E-880D-4AB2-BE87-1DABB4D9D36B}" type="datetime1">
              <a:rPr lang="ko-KR" altLang="en-US" smtClean="0"/>
              <a:t>2026-04-14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B6BE896-D2B2-B228-C3AD-7BC0728751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5992ABD-C76C-0E40-797F-DD05021287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26FEB-661D-4181-84CB-C53DCFE193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50671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0F7804-FF5A-1C69-F67D-CCFA30E53F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FFBEE35-6DB0-4079-FED0-FAD8B309D6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64AFA39-8BF9-C06A-1E61-2A812DE1EC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5792B-2F2C-46B3-9536-A6BE584A3133}" type="datetime1">
              <a:rPr lang="ko-KR" altLang="en-US" smtClean="0"/>
              <a:t>2026-04-14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80291C6-1918-F6FF-3C11-FB24B930F1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86222B7-70AB-F646-4A55-BD70569FA2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26FEB-661D-4181-84CB-C53DCFE193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13292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53659138-AC77-FE11-8384-C1D16025694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770AA7D-83AB-0028-0E3B-CC81A3E412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D298E97-FEB6-81E8-0614-665B39E0C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9B1C4-1FB0-4ED1-88EC-81D9419D81DC}" type="datetime1">
              <a:rPr lang="ko-KR" altLang="en-US" smtClean="0"/>
              <a:t>2026-04-14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D6733B4-AC5D-DDE3-71C0-5845385D3C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48EB504-5ADC-CFEA-304B-EE3ECDBD36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26FEB-661D-4181-84CB-C53DCFE193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21779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722C1DE-B654-F938-73DE-EB30A13BA5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19158"/>
            <a:ext cx="1600200" cy="203984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FF70F4E-6DFA-6E48-3E22-23D18F16FE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92300" y="119158"/>
            <a:ext cx="10109200" cy="61673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D795354-2844-4A88-AE79-5042394B392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48176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163AAC-BAFF-4F5F-9CEA-0445F100C3E2}" type="datetime1">
              <a:rPr lang="ko-KR" altLang="en-US" smtClean="0"/>
              <a:t>2026-04-14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F188E1B-6524-6389-A3D9-96093C11B3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48652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D2C0AC6-A1B6-0011-2005-E97B103F92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800" y="648652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A226FEB-661D-4181-84CB-C53DCFE193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78860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Hei2ckKSvwQ?si=N6bIcdzvxr5z_7Qs" TargetMode="External"/><Relationship Id="rId2" Type="http://schemas.openxmlformats.org/officeDocument/2006/relationships/hyperlink" Target="https://lethal-company.fandom.com/wiki/Ghost_Girl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79A97C8-12D7-ACBE-C5A4-75DBE4566E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2475" y="1122363"/>
            <a:ext cx="10687050" cy="2387600"/>
          </a:xfrm>
        </p:spPr>
        <p:txBody>
          <a:bodyPr anchor="ctr"/>
          <a:lstStyle/>
          <a:p>
            <a:r>
              <a:rPr lang="ko-KR" altLang="en-US" dirty="0">
                <a:ea typeface="맑은 고딕"/>
              </a:rPr>
              <a:t>몬스터 기획</a:t>
            </a:r>
            <a:br>
              <a:rPr lang="ko-KR" altLang="en-US" dirty="0">
                <a:ea typeface="맑은 고딕"/>
              </a:rPr>
            </a:br>
            <a:r>
              <a:rPr lang="en-US" altLang="ko-KR" dirty="0">
                <a:ea typeface="맑은 고딕"/>
              </a:rPr>
              <a:t>Ghost</a:t>
            </a:r>
            <a:endParaRPr lang="ko-KR" altLang="en-US" dirty="0" err="1">
              <a:ea typeface="맑은 고딕"/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2DB0B14-7B93-035D-6893-C7A5FA5E3A1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7A1A4CF-75CA-73D9-FBFB-9F192FB89E8E}"/>
              </a:ext>
            </a:extLst>
          </p:cNvPr>
          <p:cNvSpPr txBox="1"/>
          <p:nvPr/>
        </p:nvSpPr>
        <p:spPr>
          <a:xfrm>
            <a:off x="0" y="12700"/>
            <a:ext cx="1892300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altLang="ko-KR" dirty="0">
                <a:ea typeface="맑은 고딕"/>
              </a:rPr>
              <a:t>2026.04.12</a:t>
            </a:r>
          </a:p>
        </p:txBody>
      </p:sp>
    </p:spTree>
    <p:extLst>
      <p:ext uri="{BB962C8B-B14F-4D97-AF65-F5344CB8AC3E}">
        <p14:creationId xmlns:p14="http://schemas.microsoft.com/office/powerpoint/2010/main" val="6953293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7F33C3F7-F721-7467-D619-FC48D47C5DB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32308E31-523C-64F1-1866-56D40A6743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19158"/>
            <a:ext cx="1600200" cy="535531"/>
          </a:xfrm>
        </p:spPr>
        <p:txBody>
          <a:bodyPr/>
          <a:lstStyle/>
          <a:p>
            <a:r>
              <a:rPr lang="ko-KR" altLang="en-US" dirty="0"/>
              <a:t>참고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3CF43D0-A000-F520-4A8E-82B4D926B9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>
                <a:hlinkClick r:id="rId2"/>
              </a:rPr>
              <a:t>https://lethal-company.fandom.com/wiki/Ghost_Girl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동영상 </a:t>
            </a:r>
            <a:r>
              <a:rPr lang="en-US" altLang="ko-KR" dirty="0"/>
              <a:t>&lt;The AI Behind Ghost Girl&gt;</a:t>
            </a:r>
            <a:br>
              <a:rPr lang="en-US" altLang="ko-KR" dirty="0">
                <a:hlinkClick r:id="rId3"/>
              </a:rPr>
            </a:br>
            <a:r>
              <a:rPr lang="en-US" altLang="ko-KR" dirty="0">
                <a:hlinkClick r:id="rId3"/>
              </a:rPr>
              <a:t>https://youtu.be/Hei2ckKSvwQ?si=N6bIcdzvxr5z_7Qs</a:t>
            </a:r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9E7F2B5-673E-6D96-C041-39613C771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26FEB-661D-4181-84CB-C53DCFE1931A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24875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821D27-AA96-11D7-2A4F-5F42E5CD57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B57DB4F0-7EF5-5BB2-65C1-ABA4C77B362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1079500"/>
            <a:ext cx="1600200" cy="2349500"/>
          </a:xfrm>
        </p:spPr>
        <p:txBody>
          <a:bodyPr vert="horz" lIns="91440" tIns="45720" rIns="91440" bIns="45720" rtlCol="0" anchor="t">
            <a:normAutofit/>
          </a:bodyPr>
          <a:lstStyle/>
          <a:p>
            <a:endParaRPr lang="ko-KR" altLang="en-US" dirty="0">
              <a:ea typeface="맑은 고딕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AB8F6189-7C92-C239-D73C-51C27314EE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19158"/>
            <a:ext cx="1600200" cy="978729"/>
          </a:xfrm>
        </p:spPr>
        <p:txBody>
          <a:bodyPr/>
          <a:lstStyle/>
          <a:p>
            <a:r>
              <a:rPr lang="en-US" altLang="ko-KR" dirty="0">
                <a:ea typeface="맑은 고딕"/>
              </a:rPr>
              <a:t>State,</a:t>
            </a:r>
            <a:br>
              <a:rPr lang="en-US" altLang="ko-KR" dirty="0">
                <a:ea typeface="맑은 고딕"/>
              </a:rPr>
            </a:br>
            <a:r>
              <a:rPr lang="en-US" altLang="ko-KR" dirty="0">
                <a:ea typeface="맑은 고딕"/>
              </a:rPr>
              <a:t>Stat</a:t>
            </a:r>
            <a:endParaRPr lang="ko-KR" altLang="en-US" dirty="0">
              <a:ea typeface="맑은 고딕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4044AB5-EFEA-AEE6-07A5-3BDA3C0F08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26FEB-661D-4181-84CB-C53DCFE1931A}" type="slidenum">
              <a:rPr lang="ko-KR" altLang="en-US" smtClean="0"/>
              <a:t>3</a:t>
            </a:fld>
            <a:endParaRPr lang="ko-KR" altLang="en-US"/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4FA18E49-8E88-DB32-6642-9CB3500C8C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1384105"/>
              </p:ext>
            </p:extLst>
          </p:nvPr>
        </p:nvGraphicFramePr>
        <p:xfrm>
          <a:off x="1892300" y="119158"/>
          <a:ext cx="5876424" cy="3413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3724">
                  <a:extLst>
                    <a:ext uri="{9D8B030D-6E8A-4147-A177-3AD203B41FA5}">
                      <a16:colId xmlns:a16="http://schemas.microsoft.com/office/drawing/2014/main" val="3126723540"/>
                    </a:ext>
                  </a:extLst>
                </a:gridCol>
                <a:gridCol w="3822700">
                  <a:extLst>
                    <a:ext uri="{9D8B030D-6E8A-4147-A177-3AD203B41FA5}">
                      <a16:colId xmlns:a16="http://schemas.microsoft.com/office/drawing/2014/main" val="1756523170"/>
                    </a:ext>
                  </a:extLst>
                </a:gridCol>
              </a:tblGrid>
              <a:tr h="303433">
                <a:tc gridSpan="2">
                  <a:txBody>
                    <a:bodyPr/>
                    <a:lstStyle/>
                    <a:p>
                      <a:pPr algn="ctr" latinLnBrk="0"/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State</a:t>
                      </a:r>
                      <a:endParaRPr lang="ko-KR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0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8986778"/>
                  </a:ext>
                </a:extLst>
              </a:tr>
              <a:tr h="303433"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State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683975"/>
                  </a:ext>
                </a:extLst>
              </a:tr>
              <a:tr h="303433">
                <a:tc>
                  <a:txBody>
                    <a:bodyPr/>
                    <a:lstStyle/>
                    <a:p>
                      <a:pPr algn="l" latinLnBrk="0"/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Absent</a:t>
                      </a:r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부재</a:t>
                      </a:r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l" latinLnBrk="0">
                        <a:buFontTx/>
                        <a:buChar char="-"/>
                      </a:pP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Absent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타이머가 종료되면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, 4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초에 한 번씩 </a:t>
                      </a:r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스폰될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 목적지를 탐색한다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6623617"/>
                  </a:ext>
                </a:extLst>
              </a:tr>
              <a:tr h="303433">
                <a:tc>
                  <a:txBody>
                    <a:bodyPr/>
                    <a:lstStyle/>
                    <a:p>
                      <a:pPr algn="l" latinLnBrk="0"/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Staring</a:t>
                      </a:r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주시</a:t>
                      </a:r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목적지에 </a:t>
                      </a:r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스폰되어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 타겟을 주시한다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0751913"/>
                  </a:ext>
                </a:extLst>
              </a:tr>
              <a:tr h="303433">
                <a:tc>
                  <a:txBody>
                    <a:bodyPr/>
                    <a:lstStyle/>
                    <a:p>
                      <a:pPr algn="l" latinLnBrk="0"/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Disappearing (</a:t>
                      </a:r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사라짐</a:t>
                      </a:r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l" latinLnBrk="0">
                        <a:buFontTx/>
                        <a:buChar char="-"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목적지를 탐색한다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285750" indent="-285750" algn="l" latinLnBrk="0">
                        <a:buFontTx/>
                        <a:buChar char="-"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목적지 탐색에 성공하여 목적지로 이동한다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9169645"/>
                  </a:ext>
                </a:extLst>
              </a:tr>
              <a:tr h="303433">
                <a:tc>
                  <a:txBody>
                    <a:bodyPr/>
                    <a:lstStyle/>
                    <a:p>
                      <a:pPr algn="l" latinLnBrk="0"/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Vanishing (</a:t>
                      </a:r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증발</a:t>
                      </a:r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즉시 사라짐</a:t>
                      </a:r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해당 위치에서 즉시 사라진다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. </a:t>
                      </a:r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맵에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 특수한 효과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(Vanishing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상태가 된 방의 조명이 </a:t>
                      </a:r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깜빡거림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)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가 나타난다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3908078"/>
                  </a:ext>
                </a:extLst>
              </a:tr>
              <a:tr h="303433">
                <a:tc>
                  <a:txBody>
                    <a:bodyPr/>
                    <a:lstStyle/>
                    <a:p>
                      <a:pPr algn="l" latinLnBrk="0"/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Chase (</a:t>
                      </a:r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추적</a:t>
                      </a:r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l" latinLnBrk="0">
                        <a:buFontTx/>
                        <a:buChar char="-"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타겟을 쫓아간다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285750" indent="-285750" algn="l" latinLnBrk="0">
                        <a:buFontTx/>
                        <a:buChar char="-"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타겟에 닿으면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HP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를 감소시킨다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1588480"/>
                  </a:ext>
                </a:extLst>
              </a:tr>
            </a:tbl>
          </a:graphicData>
        </a:graphic>
      </p:graphicFrame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08F33489-AA9A-ED34-AA51-D1330E4A78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6330806"/>
              </p:ext>
            </p:extLst>
          </p:nvPr>
        </p:nvGraphicFramePr>
        <p:xfrm>
          <a:off x="8498891" y="119158"/>
          <a:ext cx="3502609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5636">
                  <a:extLst>
                    <a:ext uri="{9D8B030D-6E8A-4147-A177-3AD203B41FA5}">
                      <a16:colId xmlns:a16="http://schemas.microsoft.com/office/drawing/2014/main" val="3126723540"/>
                    </a:ext>
                  </a:extLst>
                </a:gridCol>
                <a:gridCol w="602615">
                  <a:extLst>
                    <a:ext uri="{9D8B030D-6E8A-4147-A177-3AD203B41FA5}">
                      <a16:colId xmlns:a16="http://schemas.microsoft.com/office/drawing/2014/main" val="1756523170"/>
                    </a:ext>
                  </a:extLst>
                </a:gridCol>
                <a:gridCol w="764358">
                  <a:extLst>
                    <a:ext uri="{9D8B030D-6E8A-4147-A177-3AD203B41FA5}">
                      <a16:colId xmlns:a16="http://schemas.microsoft.com/office/drawing/2014/main" val="1821012966"/>
                    </a:ext>
                  </a:extLst>
                </a:gridCol>
              </a:tblGrid>
              <a:tr h="303433">
                <a:tc gridSpan="3">
                  <a:txBody>
                    <a:bodyPr/>
                    <a:lstStyle/>
                    <a:p>
                      <a:pPr algn="ctr" latinLnBrk="0"/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Stat</a:t>
                      </a:r>
                      <a:endParaRPr lang="ko-KR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0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0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426105"/>
                  </a:ext>
                </a:extLst>
              </a:tr>
              <a:tr h="303433"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이름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type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값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683975"/>
                  </a:ext>
                </a:extLst>
              </a:tr>
              <a:tr h="303433"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최대 </a:t>
                      </a:r>
                      <a:r>
                        <a:rPr lang="ko-KR" altLang="en-US" sz="1400" b="1" dirty="0" err="1">
                          <a:solidFill>
                            <a:schemeClr val="tx1"/>
                          </a:solidFill>
                        </a:rPr>
                        <a:t>스폰</a:t>
                      </a:r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 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int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9169645"/>
                  </a:ext>
                </a:extLst>
              </a:tr>
              <a:tr h="303433"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공격력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int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60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2187227"/>
                  </a:ext>
                </a:extLst>
              </a:tr>
              <a:tr h="303433">
                <a:tc>
                  <a:txBody>
                    <a:bodyPr/>
                    <a:lstStyle/>
                    <a:p>
                      <a:pPr algn="l" latinLnBrk="0"/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Absent </a:t>
                      </a:r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타이머 </a:t>
                      </a:r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(s)</a:t>
                      </a:r>
                      <a:endParaRPr lang="ko-KR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float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105607"/>
                  </a:ext>
                </a:extLst>
              </a:tr>
              <a:tr h="303433">
                <a:tc>
                  <a:txBody>
                    <a:bodyPr/>
                    <a:lstStyle/>
                    <a:p>
                      <a:pPr algn="l" latinLnBrk="0"/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Staring </a:t>
                      </a:r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타이머 </a:t>
                      </a:r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(s)</a:t>
                      </a:r>
                      <a:endParaRPr lang="ko-KR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float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15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9571281"/>
                  </a:ext>
                </a:extLst>
              </a:tr>
              <a:tr h="303433"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목격당한 횟수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int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5148417"/>
                  </a:ext>
                </a:extLst>
              </a:tr>
              <a:tr h="303433"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목격당하지 않은 횟수</a:t>
                      </a:r>
                      <a:endParaRPr lang="en-US" altLang="ko-KR" sz="14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int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5805217"/>
                  </a:ext>
                </a:extLst>
              </a:tr>
              <a:tr h="303433">
                <a:tc>
                  <a:txBody>
                    <a:bodyPr/>
                    <a:lstStyle/>
                    <a:p>
                      <a:pPr algn="l" latinLnBrk="0"/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Chase</a:t>
                      </a:r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 종료 시간 </a:t>
                      </a:r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(s)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float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8664837"/>
                  </a:ext>
                </a:extLst>
              </a:tr>
              <a:tr h="303433">
                <a:tc>
                  <a:txBody>
                    <a:bodyPr/>
                    <a:lstStyle/>
                    <a:p>
                      <a:pPr algn="l" latinLnBrk="0"/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Disappearing </a:t>
                      </a:r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속도 </a:t>
                      </a:r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(m/s)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float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4.5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7100434"/>
                  </a:ext>
                </a:extLst>
              </a:tr>
              <a:tr h="303433">
                <a:tc>
                  <a:txBody>
                    <a:bodyPr/>
                    <a:lstStyle/>
                    <a:p>
                      <a:pPr algn="l" latinLnBrk="0"/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Chase </a:t>
                      </a:r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속도 </a:t>
                      </a:r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(m/s)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float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4.5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43324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764076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1CA971-E8CA-E8D3-58BF-1B1C0621E0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7778CEE3-1A95-F54C-9C9E-25C429A19C3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662593"/>
            <a:ext cx="1600200" cy="2349500"/>
          </a:xfrm>
        </p:spPr>
        <p:txBody>
          <a:bodyPr vert="horz" lIns="91440" tIns="45720" rIns="91440" bIns="45720" rtlCol="0" anchor="t">
            <a:normAutofit/>
          </a:bodyPr>
          <a:lstStyle/>
          <a:p>
            <a:endParaRPr lang="ko-KR" altLang="en-US" b="1" dirty="0">
              <a:ea typeface="맑은 고딕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517E5282-4EC3-8FEB-BF71-BE9856BD50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19158"/>
            <a:ext cx="1600200" cy="535531"/>
          </a:xfrm>
        </p:spPr>
        <p:txBody>
          <a:bodyPr/>
          <a:lstStyle/>
          <a:p>
            <a:r>
              <a:rPr lang="ko-KR" altLang="en-US">
                <a:ea typeface="맑은 고딕"/>
              </a:rPr>
              <a:t>FSM</a:t>
            </a:r>
            <a:endParaRPr lang="ko-KR" altLang="en-US" dirty="0">
              <a:ea typeface="맑은 고딕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FF8B003-ADFF-779A-C783-7EFDEC7A7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26FEB-661D-4181-84CB-C53DCFE1931A}" type="slidenum">
              <a:rPr lang="ko-KR" altLang="en-US" smtClean="0"/>
              <a:t>4</a:t>
            </a:fld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81F1FE42-DBCC-9998-5BFE-60E7BCF361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357685" y="119158"/>
            <a:ext cx="9690227" cy="6367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64945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1A2315E5-D62A-2297-AA35-EFB032A323B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853328"/>
            <a:ext cx="1600200" cy="2349500"/>
          </a:xfrm>
        </p:spPr>
        <p:txBody>
          <a:bodyPr/>
          <a:lstStyle/>
          <a:p>
            <a:r>
              <a:rPr lang="en-US" altLang="ko-KR" b="1" dirty="0"/>
              <a:t>FSM </a:t>
            </a:r>
            <a:r>
              <a:rPr lang="ko-KR" altLang="en-US" b="1" dirty="0"/>
              <a:t>설명</a:t>
            </a:r>
            <a:endParaRPr lang="en-US" altLang="ko-KR" b="1" dirty="0"/>
          </a:p>
          <a:p>
            <a:pPr latinLnBrk="0"/>
            <a:r>
              <a:rPr lang="ko-KR" altLang="en-US" dirty="0"/>
              <a:t>타겟 지정</a:t>
            </a:r>
            <a:endParaRPr lang="en-US" altLang="ko-KR" dirty="0"/>
          </a:p>
          <a:p>
            <a:pPr latinLnBrk="0"/>
            <a:r>
              <a:rPr lang="ko-KR" altLang="en-US" dirty="0"/>
              <a:t>목적지 탐색 방식</a:t>
            </a:r>
          </a:p>
          <a:p>
            <a:endParaRPr lang="en-US" altLang="ko-KR" b="1" dirty="0"/>
          </a:p>
          <a:p>
            <a:endParaRPr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26403A87-F891-1EAB-B191-1665504589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19158"/>
            <a:ext cx="1600200" cy="535531"/>
          </a:xfrm>
        </p:spPr>
        <p:txBody>
          <a:bodyPr/>
          <a:lstStyle/>
          <a:p>
            <a:r>
              <a:rPr lang="ko-KR" altLang="en-US" dirty="0"/>
              <a:t>설명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BD27661-6347-E06A-1C78-937786248C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atinLnBrk="0"/>
            <a:r>
              <a:rPr lang="ko-KR" altLang="en-US" sz="1600" dirty="0">
                <a:ea typeface="+mn-lt"/>
                <a:cs typeface="+mn-lt"/>
              </a:rPr>
              <a:t>타겟이 사망하면</a:t>
            </a:r>
            <a:r>
              <a:rPr lang="en-US" altLang="ko-KR" sz="1600" dirty="0">
                <a:ea typeface="+mn-lt"/>
                <a:cs typeface="+mn-lt"/>
              </a:rPr>
              <a:t> </a:t>
            </a:r>
            <a:r>
              <a:rPr lang="ko-KR" altLang="en-US" sz="1600" dirty="0">
                <a:ea typeface="+mn-lt"/>
                <a:cs typeface="+mn-lt"/>
              </a:rPr>
              <a:t>몬스터는 즉시 </a:t>
            </a:r>
            <a:r>
              <a:rPr lang="en-US" altLang="ko-KR" sz="1600" dirty="0">
                <a:ea typeface="+mn-lt"/>
                <a:cs typeface="+mn-lt"/>
              </a:rPr>
              <a:t>‘Absent’</a:t>
            </a:r>
            <a:r>
              <a:rPr lang="ko-KR" altLang="en-US" sz="1600" dirty="0">
                <a:ea typeface="+mn-lt"/>
                <a:cs typeface="+mn-lt"/>
              </a:rPr>
              <a:t>가 된다</a:t>
            </a:r>
            <a:r>
              <a:rPr lang="en-US" altLang="ko-KR" sz="1600" dirty="0">
                <a:ea typeface="+mn-lt"/>
                <a:cs typeface="+mn-lt"/>
              </a:rPr>
              <a:t>. </a:t>
            </a:r>
            <a:r>
              <a:rPr lang="ko-KR" altLang="en-US" sz="1600" dirty="0" err="1">
                <a:ea typeface="+mn-lt"/>
                <a:cs typeface="+mn-lt"/>
              </a:rPr>
              <a:t>스탯의</a:t>
            </a:r>
            <a:r>
              <a:rPr lang="ko-KR" altLang="en-US" sz="1600" dirty="0">
                <a:ea typeface="+mn-lt"/>
                <a:cs typeface="+mn-lt"/>
              </a:rPr>
              <a:t> 타이머와 횟수를 초기화하고 새로운 타겟을 지정한다</a:t>
            </a:r>
            <a:r>
              <a:rPr lang="en-US" altLang="ko-KR" sz="1600" dirty="0">
                <a:ea typeface="+mn-lt"/>
                <a:cs typeface="+mn-lt"/>
              </a:rPr>
              <a:t>.</a:t>
            </a:r>
          </a:p>
          <a:p>
            <a:pPr latinLnBrk="0"/>
            <a:r>
              <a:rPr lang="en-US" altLang="ko-KR" sz="1600" dirty="0">
                <a:ea typeface="+mn-lt"/>
                <a:cs typeface="+mn-lt"/>
              </a:rPr>
              <a:t>Ghost</a:t>
            </a:r>
            <a:r>
              <a:rPr lang="ko-KR" altLang="en-US" sz="1600" dirty="0">
                <a:ea typeface="+mn-lt"/>
                <a:cs typeface="+mn-lt"/>
              </a:rPr>
              <a:t>는 문을 그냥 통과할 수 있다</a:t>
            </a:r>
            <a:r>
              <a:rPr lang="en-US" altLang="ko-KR" sz="1600" dirty="0">
                <a:ea typeface="+mn-lt"/>
                <a:cs typeface="+mn-lt"/>
              </a:rPr>
              <a:t>.</a:t>
            </a:r>
          </a:p>
          <a:p>
            <a:pPr latinLnBrk="0"/>
            <a:endParaRPr lang="en-US" altLang="ko-KR" sz="1600" dirty="0">
              <a:ea typeface="+mn-lt"/>
              <a:cs typeface="+mn-lt"/>
            </a:endParaRPr>
          </a:p>
          <a:p>
            <a:pPr latinLnBrk="0"/>
            <a:r>
              <a:rPr lang="en-US" altLang="ko-KR" sz="1600" dirty="0">
                <a:ea typeface="+mn-lt"/>
                <a:cs typeface="+mn-lt"/>
              </a:rPr>
              <a:t>Absent</a:t>
            </a:r>
            <a:r>
              <a:rPr lang="ko-KR" altLang="en-US" sz="1600" dirty="0">
                <a:ea typeface="+mn-lt"/>
                <a:cs typeface="+mn-lt"/>
              </a:rPr>
              <a:t>일 때</a:t>
            </a:r>
            <a:r>
              <a:rPr lang="en-US" altLang="ko-KR" sz="1600" dirty="0">
                <a:ea typeface="+mn-lt"/>
                <a:cs typeface="+mn-lt"/>
              </a:rPr>
              <a:t>, Absent </a:t>
            </a:r>
            <a:r>
              <a:rPr lang="ko-KR" altLang="en-US" sz="1600" dirty="0">
                <a:ea typeface="+mn-lt"/>
                <a:cs typeface="+mn-lt"/>
              </a:rPr>
              <a:t>타이머가 종료되면</a:t>
            </a:r>
            <a:r>
              <a:rPr lang="en-US" altLang="ko-KR" sz="1600" dirty="0">
                <a:ea typeface="+mn-lt"/>
                <a:cs typeface="+mn-lt"/>
              </a:rPr>
              <a:t> </a:t>
            </a:r>
            <a:r>
              <a:rPr lang="ko-KR" altLang="en-US" sz="1600" dirty="0">
                <a:ea typeface="+mn-lt"/>
                <a:cs typeface="+mn-lt"/>
              </a:rPr>
              <a:t>몬스터는 목적지를 선택하는 데 성공할 때까지 </a:t>
            </a:r>
            <a:r>
              <a:rPr lang="en-US" altLang="ko-KR" sz="1600" dirty="0">
                <a:ea typeface="+mn-lt"/>
                <a:cs typeface="+mn-lt"/>
              </a:rPr>
              <a:t>4</a:t>
            </a:r>
            <a:r>
              <a:rPr lang="ko-KR" altLang="en-US" sz="1600" dirty="0">
                <a:ea typeface="+mn-lt"/>
                <a:cs typeface="+mn-lt"/>
              </a:rPr>
              <a:t>초에 한 번씩 목적지를 탐색한다</a:t>
            </a:r>
            <a:r>
              <a:rPr lang="en-US" altLang="ko-KR" sz="1600" dirty="0">
                <a:ea typeface="+mn-lt"/>
                <a:cs typeface="+mn-lt"/>
              </a:rPr>
              <a:t>.</a:t>
            </a:r>
          </a:p>
          <a:p>
            <a:pPr latinLnBrk="0"/>
            <a:r>
              <a:rPr lang="ko-KR" altLang="en-US" sz="1600" dirty="0">
                <a:ea typeface="+mn-lt"/>
                <a:cs typeface="+mn-lt"/>
              </a:rPr>
              <a:t>목적지를 탐색하는 데 성공하면</a:t>
            </a:r>
            <a:r>
              <a:rPr lang="en-US" altLang="ko-KR" sz="1600" dirty="0">
                <a:ea typeface="+mn-lt"/>
                <a:cs typeface="+mn-lt"/>
              </a:rPr>
              <a:t> </a:t>
            </a:r>
            <a:r>
              <a:rPr lang="ko-KR" altLang="en-US" sz="1600" dirty="0">
                <a:ea typeface="+mn-lt"/>
                <a:cs typeface="+mn-lt"/>
              </a:rPr>
              <a:t>해당 위치에 </a:t>
            </a:r>
            <a:r>
              <a:rPr lang="ko-KR" altLang="en-US" sz="1600" dirty="0" err="1">
                <a:ea typeface="+mn-lt"/>
                <a:cs typeface="+mn-lt"/>
              </a:rPr>
              <a:t>스폰되어</a:t>
            </a:r>
            <a:r>
              <a:rPr lang="ko-KR" altLang="en-US" sz="1600" dirty="0">
                <a:ea typeface="+mn-lt"/>
                <a:cs typeface="+mn-lt"/>
              </a:rPr>
              <a:t> </a:t>
            </a:r>
            <a:r>
              <a:rPr lang="en-US" altLang="ko-KR" sz="1600" dirty="0">
                <a:ea typeface="+mn-lt"/>
                <a:cs typeface="+mn-lt"/>
              </a:rPr>
              <a:t>Staring</a:t>
            </a:r>
            <a:r>
              <a:rPr lang="ko-KR" altLang="en-US" sz="1600" dirty="0">
                <a:ea typeface="+mn-lt"/>
                <a:cs typeface="+mn-lt"/>
              </a:rPr>
              <a:t>한다</a:t>
            </a:r>
            <a:r>
              <a:rPr lang="en-US" altLang="ko-KR" sz="1600" dirty="0">
                <a:ea typeface="+mn-lt"/>
                <a:cs typeface="+mn-lt"/>
              </a:rPr>
              <a:t>.</a:t>
            </a:r>
          </a:p>
          <a:p>
            <a:pPr latinLnBrk="0"/>
            <a:endParaRPr lang="en-US" altLang="ko-KR" sz="1600" dirty="0">
              <a:ea typeface="+mn-lt"/>
              <a:cs typeface="+mn-lt"/>
            </a:endParaRPr>
          </a:p>
          <a:p>
            <a:pPr latinLnBrk="0"/>
            <a:r>
              <a:rPr lang="en-US" altLang="ko-KR" sz="1600" dirty="0">
                <a:ea typeface="+mn-lt"/>
                <a:cs typeface="+mn-lt"/>
              </a:rPr>
              <a:t>Staring</a:t>
            </a:r>
            <a:r>
              <a:rPr lang="ko-KR" altLang="en-US" sz="1600" dirty="0">
                <a:ea typeface="+mn-lt"/>
                <a:cs typeface="+mn-lt"/>
              </a:rPr>
              <a:t>일 때</a:t>
            </a:r>
            <a:r>
              <a:rPr lang="en-US" altLang="ko-KR" sz="1600" dirty="0">
                <a:ea typeface="+mn-lt"/>
                <a:cs typeface="+mn-lt"/>
              </a:rPr>
              <a:t>, </a:t>
            </a:r>
            <a:r>
              <a:rPr lang="en-US" altLang="ko-KR" sz="1600" dirty="0">
                <a:highlight>
                  <a:srgbClr val="FFFF00"/>
                </a:highlight>
                <a:ea typeface="+mn-lt"/>
                <a:cs typeface="+mn-lt"/>
              </a:rPr>
              <a:t>Staring </a:t>
            </a:r>
            <a:r>
              <a:rPr lang="ko-KR" altLang="en-US" sz="1600" dirty="0">
                <a:highlight>
                  <a:srgbClr val="FFFF00"/>
                </a:highlight>
                <a:ea typeface="+mn-lt"/>
                <a:cs typeface="+mn-lt"/>
              </a:rPr>
              <a:t>타이머가 종료되거나</a:t>
            </a:r>
            <a:r>
              <a:rPr lang="en-US" altLang="ko-KR" sz="1600" dirty="0">
                <a:highlight>
                  <a:srgbClr val="FFFF00"/>
                </a:highlight>
                <a:ea typeface="+mn-lt"/>
                <a:cs typeface="+mn-lt"/>
              </a:rPr>
              <a:t>(</a:t>
            </a:r>
            <a:r>
              <a:rPr lang="ko-KR" altLang="en-US" sz="1600" dirty="0">
                <a:highlight>
                  <a:srgbClr val="FFFF00"/>
                </a:highlight>
                <a:ea typeface="+mn-lt"/>
                <a:cs typeface="+mn-lt"/>
              </a:rPr>
              <a:t>조건 </a:t>
            </a:r>
            <a:r>
              <a:rPr lang="en-US" altLang="ko-KR" sz="1600" dirty="0">
                <a:highlight>
                  <a:srgbClr val="FFFF00"/>
                </a:highlight>
                <a:ea typeface="+mn-lt"/>
                <a:cs typeface="+mn-lt"/>
              </a:rPr>
              <a:t>C1)</a:t>
            </a:r>
            <a:r>
              <a:rPr lang="en-US" altLang="ko-KR" sz="1600" dirty="0">
                <a:ea typeface="+mn-lt"/>
                <a:cs typeface="+mn-lt"/>
              </a:rPr>
              <a:t>,</a:t>
            </a:r>
            <a:r>
              <a:rPr lang="ko-KR" altLang="en-US" sz="1600" dirty="0">
                <a:ea typeface="+mn-lt"/>
                <a:cs typeface="+mn-lt"/>
              </a:rPr>
              <a:t> </a:t>
            </a:r>
            <a:r>
              <a:rPr lang="ko-KR" altLang="en-US" sz="1600" dirty="0">
                <a:highlight>
                  <a:srgbClr val="00FFFF"/>
                </a:highlight>
                <a:ea typeface="+mn-lt"/>
                <a:cs typeface="+mn-lt"/>
              </a:rPr>
              <a:t>몬스터의 목격당한 횟수가 </a:t>
            </a:r>
            <a:r>
              <a:rPr lang="en-US" altLang="ko-KR" sz="1600" dirty="0">
                <a:highlight>
                  <a:srgbClr val="00FFFF"/>
                </a:highlight>
                <a:ea typeface="+mn-lt"/>
                <a:cs typeface="+mn-lt"/>
              </a:rPr>
              <a:t>1</a:t>
            </a:r>
            <a:r>
              <a:rPr lang="ko-KR" altLang="en-US" sz="1600" dirty="0">
                <a:highlight>
                  <a:srgbClr val="00FFFF"/>
                </a:highlight>
                <a:ea typeface="+mn-lt"/>
                <a:cs typeface="+mn-lt"/>
              </a:rPr>
              <a:t>회 이하이고 타겟과의 거리가 </a:t>
            </a:r>
            <a:r>
              <a:rPr lang="en-US" altLang="ko-KR" sz="1600" dirty="0">
                <a:highlight>
                  <a:srgbClr val="00FFFF"/>
                </a:highlight>
                <a:ea typeface="+mn-lt"/>
                <a:cs typeface="+mn-lt"/>
              </a:rPr>
              <a:t>5m</a:t>
            </a:r>
            <a:r>
              <a:rPr lang="ko-KR" altLang="en-US" sz="1600" dirty="0">
                <a:highlight>
                  <a:srgbClr val="00FFFF"/>
                </a:highlight>
                <a:ea typeface="+mn-lt"/>
                <a:cs typeface="+mn-lt"/>
              </a:rPr>
              <a:t> 이하라면</a:t>
            </a:r>
            <a:r>
              <a:rPr lang="en-US" altLang="ko-KR" sz="1600" dirty="0">
                <a:highlight>
                  <a:srgbClr val="00FFFF"/>
                </a:highlight>
                <a:ea typeface="+mn-lt"/>
                <a:cs typeface="+mn-lt"/>
              </a:rPr>
              <a:t>(</a:t>
            </a:r>
            <a:r>
              <a:rPr lang="ko-KR" altLang="en-US" sz="1600" dirty="0">
                <a:highlight>
                  <a:srgbClr val="00FFFF"/>
                </a:highlight>
                <a:ea typeface="+mn-lt"/>
                <a:cs typeface="+mn-lt"/>
              </a:rPr>
              <a:t>조건 </a:t>
            </a:r>
            <a:r>
              <a:rPr lang="en-US" altLang="ko-KR" sz="1600" dirty="0">
                <a:highlight>
                  <a:srgbClr val="00FFFF"/>
                </a:highlight>
                <a:ea typeface="+mn-lt"/>
                <a:cs typeface="+mn-lt"/>
              </a:rPr>
              <a:t>C2)</a:t>
            </a:r>
            <a:r>
              <a:rPr lang="en-US" altLang="ko-KR" sz="1600" dirty="0">
                <a:ea typeface="+mn-lt"/>
                <a:cs typeface="+mn-lt"/>
              </a:rPr>
              <a:t>, Disappearing</a:t>
            </a:r>
            <a:r>
              <a:rPr lang="ko-KR" altLang="en-US" sz="1600" dirty="0">
                <a:ea typeface="+mn-lt"/>
                <a:cs typeface="+mn-lt"/>
              </a:rPr>
              <a:t>이 된다</a:t>
            </a:r>
            <a:r>
              <a:rPr lang="en-US" altLang="ko-KR" sz="1600" dirty="0">
                <a:ea typeface="+mn-lt"/>
                <a:cs typeface="+mn-lt"/>
              </a:rPr>
              <a:t>.</a:t>
            </a:r>
          </a:p>
          <a:p>
            <a:pPr latinLnBrk="0"/>
            <a:r>
              <a:rPr lang="en-US" altLang="ko-KR" sz="1600" dirty="0">
                <a:ea typeface="+mn-lt"/>
                <a:cs typeface="+mn-lt"/>
              </a:rPr>
              <a:t>Staring</a:t>
            </a:r>
            <a:r>
              <a:rPr lang="ko-KR" altLang="en-US" sz="1600" dirty="0">
                <a:ea typeface="+mn-lt"/>
                <a:cs typeface="+mn-lt"/>
              </a:rPr>
              <a:t>일 때</a:t>
            </a:r>
            <a:r>
              <a:rPr lang="en-US" altLang="ko-KR" sz="1600" dirty="0">
                <a:ea typeface="+mn-lt"/>
                <a:cs typeface="+mn-lt"/>
              </a:rPr>
              <a:t>, </a:t>
            </a:r>
            <a:r>
              <a:rPr lang="ko-KR" altLang="en-US" sz="1600" dirty="0">
                <a:highlight>
                  <a:srgbClr val="FFFF00"/>
                </a:highlight>
                <a:ea typeface="+mn-lt"/>
                <a:cs typeface="+mn-lt"/>
              </a:rPr>
              <a:t>타겟이 몬스터를 보고 있을 때 목격당한 횟수가 </a:t>
            </a:r>
            <a:r>
              <a:rPr lang="en-US" altLang="ko-KR" sz="1600" dirty="0">
                <a:highlight>
                  <a:srgbClr val="FFFF00"/>
                </a:highlight>
                <a:ea typeface="+mn-lt"/>
                <a:cs typeface="+mn-lt"/>
              </a:rPr>
              <a:t>4</a:t>
            </a:r>
            <a:r>
              <a:rPr lang="ko-KR" altLang="en-US" sz="1600" dirty="0">
                <a:highlight>
                  <a:srgbClr val="FFFF00"/>
                </a:highlight>
                <a:ea typeface="+mn-lt"/>
                <a:cs typeface="+mn-lt"/>
              </a:rPr>
              <a:t>회 이상 또는 목격당하지 않은 횟수가 </a:t>
            </a:r>
            <a:r>
              <a:rPr lang="en-US" altLang="ko-KR" sz="1600" dirty="0">
                <a:highlight>
                  <a:srgbClr val="FFFF00"/>
                </a:highlight>
                <a:ea typeface="+mn-lt"/>
                <a:cs typeface="+mn-lt"/>
              </a:rPr>
              <a:t>3</a:t>
            </a:r>
            <a:r>
              <a:rPr lang="ko-KR" altLang="en-US" sz="1600" dirty="0">
                <a:highlight>
                  <a:srgbClr val="FFFF00"/>
                </a:highlight>
                <a:ea typeface="+mn-lt"/>
                <a:cs typeface="+mn-lt"/>
              </a:rPr>
              <a:t>회 이상일 때</a:t>
            </a:r>
            <a:r>
              <a:rPr lang="en-US" altLang="ko-KR" sz="1600" dirty="0">
                <a:highlight>
                  <a:srgbClr val="FFFF00"/>
                </a:highlight>
                <a:ea typeface="+mn-lt"/>
                <a:cs typeface="+mn-lt"/>
              </a:rPr>
              <a:t>(</a:t>
            </a:r>
            <a:r>
              <a:rPr lang="ko-KR" altLang="en-US" sz="1600" dirty="0">
                <a:highlight>
                  <a:srgbClr val="FFFF00"/>
                </a:highlight>
                <a:ea typeface="+mn-lt"/>
                <a:cs typeface="+mn-lt"/>
              </a:rPr>
              <a:t>조건</a:t>
            </a:r>
            <a:r>
              <a:rPr lang="en-US" altLang="ko-KR" sz="1600" dirty="0">
                <a:highlight>
                  <a:srgbClr val="FFFF00"/>
                </a:highlight>
                <a:ea typeface="+mn-lt"/>
                <a:cs typeface="+mn-lt"/>
              </a:rPr>
              <a:t>A1) </a:t>
            </a:r>
            <a:r>
              <a:rPr lang="en-US" altLang="ko-KR" sz="1600" b="1" dirty="0">
                <a:ea typeface="+mn-lt"/>
                <a:cs typeface="+mn-lt"/>
              </a:rPr>
              <a:t>85% </a:t>
            </a:r>
            <a:r>
              <a:rPr lang="ko-KR" altLang="en-US" sz="1600" b="1" dirty="0">
                <a:ea typeface="+mn-lt"/>
                <a:cs typeface="+mn-lt"/>
              </a:rPr>
              <a:t>확률</a:t>
            </a:r>
            <a:r>
              <a:rPr lang="ko-KR" altLang="en-US" sz="1600" dirty="0">
                <a:ea typeface="+mn-lt"/>
                <a:cs typeface="+mn-lt"/>
              </a:rPr>
              <a:t>로</a:t>
            </a:r>
            <a:r>
              <a:rPr lang="en-US" altLang="ko-KR" sz="1600" dirty="0">
                <a:ea typeface="+mn-lt"/>
                <a:cs typeface="+mn-lt"/>
              </a:rPr>
              <a:t>, </a:t>
            </a:r>
            <a:r>
              <a:rPr lang="ko-KR" altLang="en-US" sz="1600" dirty="0">
                <a:highlight>
                  <a:srgbClr val="00FFFF"/>
                </a:highlight>
                <a:ea typeface="+mn-lt"/>
                <a:cs typeface="+mn-lt"/>
              </a:rPr>
              <a:t>목격당한 횟수가 </a:t>
            </a:r>
            <a:r>
              <a:rPr lang="en-US" altLang="ko-KR" sz="1600" dirty="0">
                <a:highlight>
                  <a:srgbClr val="00FFFF"/>
                </a:highlight>
                <a:ea typeface="+mn-lt"/>
                <a:cs typeface="+mn-lt"/>
              </a:rPr>
              <a:t>2</a:t>
            </a:r>
            <a:r>
              <a:rPr lang="ko-KR" altLang="en-US" sz="1600" dirty="0">
                <a:highlight>
                  <a:srgbClr val="00FFFF"/>
                </a:highlight>
                <a:ea typeface="+mn-lt"/>
                <a:cs typeface="+mn-lt"/>
              </a:rPr>
              <a:t>회 이상이고 타겟과의 거리가 </a:t>
            </a:r>
            <a:r>
              <a:rPr lang="en-US" altLang="ko-KR" sz="1600" dirty="0">
                <a:highlight>
                  <a:srgbClr val="00FFFF"/>
                </a:highlight>
                <a:ea typeface="+mn-lt"/>
                <a:cs typeface="+mn-lt"/>
              </a:rPr>
              <a:t>3m </a:t>
            </a:r>
            <a:r>
              <a:rPr lang="ko-KR" altLang="en-US" sz="1600" dirty="0">
                <a:highlight>
                  <a:srgbClr val="00FFFF"/>
                </a:highlight>
                <a:ea typeface="+mn-lt"/>
                <a:cs typeface="+mn-lt"/>
              </a:rPr>
              <a:t>이하일 때</a:t>
            </a:r>
            <a:r>
              <a:rPr lang="en-US" altLang="ko-KR" sz="1600" dirty="0">
                <a:highlight>
                  <a:srgbClr val="00FFFF"/>
                </a:highlight>
                <a:ea typeface="+mn-lt"/>
                <a:cs typeface="+mn-lt"/>
              </a:rPr>
              <a:t>(</a:t>
            </a:r>
            <a:r>
              <a:rPr lang="ko-KR" altLang="en-US" sz="1600" dirty="0">
                <a:highlight>
                  <a:srgbClr val="00FFFF"/>
                </a:highlight>
                <a:ea typeface="+mn-lt"/>
                <a:cs typeface="+mn-lt"/>
              </a:rPr>
              <a:t>조건 </a:t>
            </a:r>
            <a:r>
              <a:rPr lang="en-US" altLang="ko-KR" sz="1600" dirty="0">
                <a:highlight>
                  <a:srgbClr val="00FFFF"/>
                </a:highlight>
                <a:ea typeface="+mn-lt"/>
                <a:cs typeface="+mn-lt"/>
              </a:rPr>
              <a:t>A2) </a:t>
            </a:r>
            <a:r>
              <a:rPr lang="en-US" altLang="ko-KR" sz="1600" b="1" dirty="0">
                <a:ea typeface="+mn-lt"/>
                <a:cs typeface="+mn-lt"/>
              </a:rPr>
              <a:t>60% </a:t>
            </a:r>
            <a:r>
              <a:rPr lang="ko-KR" altLang="en-US" sz="1600" b="1" dirty="0">
                <a:ea typeface="+mn-lt"/>
                <a:cs typeface="+mn-lt"/>
              </a:rPr>
              <a:t>확률</a:t>
            </a:r>
            <a:r>
              <a:rPr lang="ko-KR" altLang="en-US" sz="1600" dirty="0">
                <a:ea typeface="+mn-lt"/>
                <a:cs typeface="+mn-lt"/>
              </a:rPr>
              <a:t>로</a:t>
            </a:r>
            <a:r>
              <a:rPr lang="en-US" altLang="ko-KR" sz="1600" dirty="0">
                <a:ea typeface="+mn-lt"/>
                <a:cs typeface="+mn-lt"/>
              </a:rPr>
              <a:t>, Chase</a:t>
            </a:r>
            <a:r>
              <a:rPr lang="ko-KR" altLang="en-US" sz="1600" dirty="0">
                <a:ea typeface="+mn-lt"/>
                <a:cs typeface="+mn-lt"/>
              </a:rPr>
              <a:t>가 된다</a:t>
            </a:r>
            <a:r>
              <a:rPr lang="en-US" altLang="ko-KR" sz="1600" dirty="0">
                <a:ea typeface="+mn-lt"/>
                <a:cs typeface="+mn-lt"/>
              </a:rPr>
              <a:t>.</a:t>
            </a:r>
          </a:p>
          <a:p>
            <a:pPr latinLnBrk="0"/>
            <a:r>
              <a:rPr lang="en-US" altLang="ko-KR" sz="1600" dirty="0">
                <a:ea typeface="+mn-lt"/>
                <a:cs typeface="+mn-lt"/>
              </a:rPr>
              <a:t>Staring</a:t>
            </a:r>
            <a:r>
              <a:rPr lang="ko-KR" altLang="en-US" sz="1600" dirty="0">
                <a:ea typeface="+mn-lt"/>
                <a:cs typeface="+mn-lt"/>
              </a:rPr>
              <a:t>일 때</a:t>
            </a:r>
            <a:r>
              <a:rPr lang="en-US" altLang="ko-KR" sz="1600" dirty="0">
                <a:ea typeface="+mn-lt"/>
                <a:cs typeface="+mn-lt"/>
              </a:rPr>
              <a:t>, </a:t>
            </a:r>
            <a:r>
              <a:rPr lang="ko-KR" altLang="en-US" sz="1600" dirty="0">
                <a:highlight>
                  <a:srgbClr val="FFFF00"/>
                </a:highlight>
                <a:ea typeface="+mn-lt"/>
                <a:cs typeface="+mn-lt"/>
              </a:rPr>
              <a:t>타겟과의 거리가 </a:t>
            </a:r>
            <a:r>
              <a:rPr lang="en-US" altLang="ko-KR" sz="1600" dirty="0">
                <a:highlight>
                  <a:srgbClr val="FFFF00"/>
                </a:highlight>
                <a:ea typeface="+mn-lt"/>
                <a:cs typeface="+mn-lt"/>
              </a:rPr>
              <a:t>3m </a:t>
            </a:r>
            <a:r>
              <a:rPr lang="ko-KR" altLang="en-US" sz="1600" dirty="0">
                <a:highlight>
                  <a:srgbClr val="FFFF00"/>
                </a:highlight>
                <a:ea typeface="+mn-lt"/>
                <a:cs typeface="+mn-lt"/>
              </a:rPr>
              <a:t>이하이고 조건 </a:t>
            </a:r>
            <a:r>
              <a:rPr lang="en-US" altLang="ko-KR" sz="1600" dirty="0">
                <a:highlight>
                  <a:srgbClr val="FFFF00"/>
                </a:highlight>
                <a:ea typeface="+mn-lt"/>
                <a:cs typeface="+mn-lt"/>
              </a:rPr>
              <a:t>A1</a:t>
            </a:r>
            <a:r>
              <a:rPr lang="ko-KR" altLang="en-US" sz="1600" dirty="0">
                <a:highlight>
                  <a:srgbClr val="FFFF00"/>
                </a:highlight>
                <a:ea typeface="+mn-lt"/>
                <a:cs typeface="+mn-lt"/>
              </a:rPr>
              <a:t>과 </a:t>
            </a:r>
            <a:r>
              <a:rPr lang="en-US" altLang="ko-KR" sz="1600" dirty="0">
                <a:highlight>
                  <a:srgbClr val="FFFF00"/>
                </a:highlight>
                <a:ea typeface="+mn-lt"/>
                <a:cs typeface="+mn-lt"/>
              </a:rPr>
              <a:t>A2</a:t>
            </a:r>
            <a:r>
              <a:rPr lang="ko-KR" altLang="en-US" sz="1600" dirty="0">
                <a:highlight>
                  <a:srgbClr val="FFFF00"/>
                </a:highlight>
                <a:ea typeface="+mn-lt"/>
                <a:cs typeface="+mn-lt"/>
              </a:rPr>
              <a:t>의 확률이 실패하거나</a:t>
            </a:r>
            <a:r>
              <a:rPr lang="en-US" altLang="ko-KR" sz="1600" dirty="0">
                <a:highlight>
                  <a:srgbClr val="FFFF00"/>
                </a:highlight>
                <a:ea typeface="+mn-lt"/>
                <a:cs typeface="+mn-lt"/>
              </a:rPr>
              <a:t>(</a:t>
            </a:r>
            <a:r>
              <a:rPr lang="ko-KR" altLang="en-US" sz="1600" dirty="0">
                <a:highlight>
                  <a:srgbClr val="FFFF00"/>
                </a:highlight>
                <a:ea typeface="+mn-lt"/>
                <a:cs typeface="+mn-lt"/>
              </a:rPr>
              <a:t>조건 </a:t>
            </a:r>
            <a:r>
              <a:rPr lang="en-US" altLang="ko-KR" sz="1600" dirty="0">
                <a:highlight>
                  <a:srgbClr val="FFFF00"/>
                </a:highlight>
                <a:ea typeface="+mn-lt"/>
                <a:cs typeface="+mn-lt"/>
              </a:rPr>
              <a:t>B1)</a:t>
            </a:r>
            <a:r>
              <a:rPr lang="en-US" altLang="ko-KR" sz="1600" dirty="0">
                <a:ea typeface="+mn-lt"/>
                <a:cs typeface="+mn-lt"/>
              </a:rPr>
              <a:t>, </a:t>
            </a:r>
            <a:r>
              <a:rPr lang="ko-KR" altLang="en-US" sz="1600" dirty="0">
                <a:highlight>
                  <a:srgbClr val="00FFFF"/>
                </a:highlight>
                <a:ea typeface="+mn-lt"/>
                <a:cs typeface="+mn-lt"/>
              </a:rPr>
              <a:t>다른 플레이어와 충돌하면</a:t>
            </a:r>
            <a:r>
              <a:rPr lang="en-US" altLang="ko-KR" sz="1600" dirty="0">
                <a:highlight>
                  <a:srgbClr val="00FFFF"/>
                </a:highlight>
                <a:ea typeface="+mn-lt"/>
                <a:cs typeface="+mn-lt"/>
              </a:rPr>
              <a:t>(</a:t>
            </a:r>
            <a:r>
              <a:rPr lang="ko-KR" altLang="en-US" sz="1600" dirty="0">
                <a:highlight>
                  <a:srgbClr val="00FFFF"/>
                </a:highlight>
                <a:ea typeface="+mn-lt"/>
                <a:cs typeface="+mn-lt"/>
              </a:rPr>
              <a:t>조건 </a:t>
            </a:r>
            <a:r>
              <a:rPr lang="en-US" altLang="ko-KR" sz="1600" dirty="0">
                <a:highlight>
                  <a:srgbClr val="00FFFF"/>
                </a:highlight>
                <a:ea typeface="+mn-lt"/>
                <a:cs typeface="+mn-lt"/>
              </a:rPr>
              <a:t>B2), </a:t>
            </a:r>
            <a:r>
              <a:rPr lang="en-US" altLang="ko-KR" sz="1600" dirty="0">
                <a:ea typeface="+mn-lt"/>
                <a:cs typeface="+mn-lt"/>
              </a:rPr>
              <a:t>Vanishing</a:t>
            </a:r>
            <a:r>
              <a:rPr lang="ko-KR" altLang="en-US" sz="1600" dirty="0">
                <a:ea typeface="+mn-lt"/>
                <a:cs typeface="+mn-lt"/>
              </a:rPr>
              <a:t>이 된다</a:t>
            </a:r>
            <a:r>
              <a:rPr lang="en-US" altLang="ko-KR" sz="1600" dirty="0">
                <a:ea typeface="+mn-lt"/>
                <a:cs typeface="+mn-lt"/>
              </a:rPr>
              <a:t>.</a:t>
            </a:r>
          </a:p>
          <a:p>
            <a:pPr latinLnBrk="0"/>
            <a:endParaRPr lang="en-US" altLang="ko-KR" sz="1600" dirty="0">
              <a:ea typeface="+mn-lt"/>
              <a:cs typeface="+mn-lt"/>
            </a:endParaRPr>
          </a:p>
          <a:p>
            <a:pPr latinLnBrk="0"/>
            <a:r>
              <a:rPr lang="en-US" altLang="ko-KR" sz="1600" dirty="0">
                <a:ea typeface="+mn-lt"/>
                <a:cs typeface="+mn-lt"/>
              </a:rPr>
              <a:t>Disappearing</a:t>
            </a:r>
            <a:r>
              <a:rPr lang="ko-KR" altLang="en-US" sz="1600" dirty="0">
                <a:ea typeface="+mn-lt"/>
                <a:cs typeface="+mn-lt"/>
              </a:rPr>
              <a:t>일 때</a:t>
            </a:r>
            <a:r>
              <a:rPr lang="en-US" altLang="ko-KR" sz="1600" dirty="0">
                <a:ea typeface="+mn-lt"/>
                <a:cs typeface="+mn-lt"/>
              </a:rPr>
              <a:t>, </a:t>
            </a:r>
            <a:r>
              <a:rPr lang="ko-KR" altLang="en-US" sz="1600" dirty="0">
                <a:ea typeface="+mn-lt"/>
                <a:cs typeface="+mn-lt"/>
              </a:rPr>
              <a:t>타겟의 카메라에서 벗어나거나</a:t>
            </a:r>
            <a:r>
              <a:rPr lang="en-US" altLang="ko-KR" sz="1600" dirty="0">
                <a:ea typeface="+mn-lt"/>
                <a:cs typeface="+mn-lt"/>
              </a:rPr>
              <a:t>, </a:t>
            </a:r>
            <a:r>
              <a:rPr lang="ko-KR" altLang="en-US" sz="1600" dirty="0">
                <a:ea typeface="+mn-lt"/>
                <a:cs typeface="+mn-lt"/>
              </a:rPr>
              <a:t>목적지와의 거리가 </a:t>
            </a:r>
            <a:r>
              <a:rPr lang="en-US" altLang="ko-KR" sz="1600" dirty="0">
                <a:ea typeface="+mn-lt"/>
                <a:cs typeface="+mn-lt"/>
              </a:rPr>
              <a:t>0.2m </a:t>
            </a:r>
            <a:r>
              <a:rPr lang="ko-KR" altLang="en-US" sz="1600" dirty="0">
                <a:ea typeface="+mn-lt"/>
                <a:cs typeface="+mn-lt"/>
              </a:rPr>
              <a:t>이하가 되거나</a:t>
            </a:r>
            <a:r>
              <a:rPr lang="en-US" altLang="ko-KR" sz="1600" dirty="0">
                <a:ea typeface="+mn-lt"/>
                <a:cs typeface="+mn-lt"/>
              </a:rPr>
              <a:t>, </a:t>
            </a:r>
            <a:r>
              <a:rPr lang="ko-KR" altLang="en-US" sz="1600" dirty="0">
                <a:ea typeface="+mn-lt"/>
                <a:cs typeface="+mn-lt"/>
              </a:rPr>
              <a:t>타겟과의 거리가 </a:t>
            </a:r>
            <a:r>
              <a:rPr lang="en-US" altLang="ko-KR" sz="1600" dirty="0">
                <a:ea typeface="+mn-lt"/>
                <a:cs typeface="+mn-lt"/>
              </a:rPr>
              <a:t>2.5m</a:t>
            </a:r>
            <a:r>
              <a:rPr lang="ko-KR" altLang="en-US" sz="1600" dirty="0">
                <a:ea typeface="+mn-lt"/>
                <a:cs typeface="+mn-lt"/>
              </a:rPr>
              <a:t> 이하가 되면</a:t>
            </a:r>
            <a:r>
              <a:rPr lang="en-US" altLang="ko-KR" sz="1600" dirty="0">
                <a:ea typeface="+mn-lt"/>
                <a:cs typeface="+mn-lt"/>
              </a:rPr>
              <a:t>, Absent </a:t>
            </a:r>
            <a:r>
              <a:rPr lang="ko-KR" altLang="en-US" sz="1600" dirty="0">
                <a:ea typeface="+mn-lt"/>
                <a:cs typeface="+mn-lt"/>
              </a:rPr>
              <a:t>상태가 된다</a:t>
            </a:r>
            <a:r>
              <a:rPr lang="en-US" altLang="ko-KR" sz="1600" dirty="0">
                <a:ea typeface="+mn-lt"/>
                <a:cs typeface="+mn-lt"/>
              </a:rPr>
              <a:t>.</a:t>
            </a:r>
          </a:p>
          <a:p>
            <a:pPr latinLnBrk="0"/>
            <a:r>
              <a:rPr lang="en-US" altLang="ko-KR" sz="1600" dirty="0">
                <a:ea typeface="+mn-lt"/>
                <a:cs typeface="+mn-lt"/>
              </a:rPr>
              <a:t>Disappearing</a:t>
            </a:r>
            <a:r>
              <a:rPr lang="ko-KR" altLang="en-US" sz="1600" dirty="0">
                <a:ea typeface="+mn-lt"/>
                <a:cs typeface="+mn-lt"/>
              </a:rPr>
              <a:t>일 때</a:t>
            </a:r>
            <a:r>
              <a:rPr lang="en-US" altLang="ko-KR" sz="1600" dirty="0">
                <a:ea typeface="+mn-lt"/>
                <a:cs typeface="+mn-lt"/>
              </a:rPr>
              <a:t>, </a:t>
            </a:r>
            <a:r>
              <a:rPr lang="ko-KR" altLang="en-US" sz="1600" dirty="0">
                <a:ea typeface="+mn-lt"/>
                <a:cs typeface="+mn-lt"/>
              </a:rPr>
              <a:t>목적지를 탐색하는데 실패하거나</a:t>
            </a:r>
            <a:r>
              <a:rPr lang="en-US" altLang="ko-KR" sz="1600" dirty="0">
                <a:ea typeface="+mn-lt"/>
                <a:cs typeface="+mn-lt"/>
              </a:rPr>
              <a:t>, </a:t>
            </a:r>
            <a:r>
              <a:rPr lang="ko-KR" altLang="en-US" sz="1600" dirty="0">
                <a:ea typeface="+mn-lt"/>
                <a:cs typeface="+mn-lt"/>
              </a:rPr>
              <a:t>다른 플레이어와 충돌하면</a:t>
            </a:r>
            <a:r>
              <a:rPr lang="en-US" altLang="ko-KR" sz="1600" dirty="0">
                <a:ea typeface="+mn-lt"/>
                <a:cs typeface="+mn-lt"/>
              </a:rPr>
              <a:t>, Vanishing</a:t>
            </a:r>
            <a:r>
              <a:rPr lang="ko-KR" altLang="en-US" sz="1600" dirty="0">
                <a:ea typeface="+mn-lt"/>
                <a:cs typeface="+mn-lt"/>
              </a:rPr>
              <a:t>이 된다</a:t>
            </a:r>
            <a:r>
              <a:rPr lang="en-US" altLang="ko-KR" sz="1600" dirty="0">
                <a:ea typeface="+mn-lt"/>
                <a:cs typeface="+mn-lt"/>
              </a:rPr>
              <a:t>.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A411847-C7BA-2B55-649C-968000B70E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26FEB-661D-4181-84CB-C53DCFE1931A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74735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119EB2-5BFC-2D75-3766-5298F755FB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598BCDFC-0C57-78C5-DB86-AAC81EE39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19158"/>
            <a:ext cx="1600200" cy="535531"/>
          </a:xfrm>
        </p:spPr>
        <p:txBody>
          <a:bodyPr/>
          <a:lstStyle/>
          <a:p>
            <a:r>
              <a:rPr lang="ko-KR" altLang="en-US" dirty="0"/>
              <a:t>설명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1E33300-808A-0B23-E09C-6FD790EB59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atinLnBrk="0"/>
            <a:r>
              <a:rPr lang="en-US" altLang="ko-KR" sz="1600" dirty="0">
                <a:ea typeface="+mn-lt"/>
                <a:cs typeface="+mn-lt"/>
              </a:rPr>
              <a:t>Vanishing</a:t>
            </a:r>
            <a:r>
              <a:rPr lang="ko-KR" altLang="en-US" sz="1600" dirty="0">
                <a:ea typeface="+mn-lt"/>
                <a:cs typeface="+mn-lt"/>
              </a:rPr>
              <a:t>이 되면 몬스터는 즉시 해당 위치에서 사라진다</a:t>
            </a:r>
            <a:r>
              <a:rPr lang="en-US" altLang="ko-KR" sz="1600" dirty="0">
                <a:ea typeface="+mn-lt"/>
                <a:cs typeface="+mn-lt"/>
              </a:rPr>
              <a:t>. </a:t>
            </a:r>
            <a:r>
              <a:rPr lang="en-US" altLang="ko-KR" sz="1600" dirty="0"/>
              <a:t>Vanishing </a:t>
            </a:r>
            <a:r>
              <a:rPr lang="ko-KR" altLang="en-US" sz="1600" dirty="0"/>
              <a:t>상태가 된 방의 조명이 </a:t>
            </a:r>
            <a:r>
              <a:rPr lang="ko-KR" altLang="en-US" sz="1600" dirty="0" err="1"/>
              <a:t>깜빡거린다</a:t>
            </a:r>
            <a:r>
              <a:rPr lang="en-US" altLang="ko-KR" sz="1600" dirty="0"/>
              <a:t>.</a:t>
            </a:r>
          </a:p>
          <a:p>
            <a:pPr latinLnBrk="0"/>
            <a:r>
              <a:rPr lang="ko-KR" altLang="en-US" sz="1600" dirty="0"/>
              <a:t>이후 아무 조건 없이 </a:t>
            </a:r>
            <a:r>
              <a:rPr lang="en-US" altLang="ko-KR" sz="1600" dirty="0"/>
              <a:t>Absent</a:t>
            </a:r>
            <a:r>
              <a:rPr lang="ko-KR" altLang="en-US" sz="1600" dirty="0"/>
              <a:t>가 된다</a:t>
            </a:r>
            <a:r>
              <a:rPr lang="en-US" altLang="ko-KR" sz="1600" dirty="0"/>
              <a:t>.</a:t>
            </a:r>
          </a:p>
          <a:p>
            <a:pPr latinLnBrk="0"/>
            <a:endParaRPr lang="en-US" altLang="ko-KR" sz="1600" dirty="0">
              <a:ea typeface="+mn-lt"/>
              <a:cs typeface="+mn-lt"/>
            </a:endParaRPr>
          </a:p>
          <a:p>
            <a:pPr latinLnBrk="0"/>
            <a:r>
              <a:rPr lang="en-US" altLang="ko-KR" sz="1600" dirty="0">
                <a:ea typeface="+mn-lt"/>
                <a:cs typeface="+mn-lt"/>
              </a:rPr>
              <a:t>Chase</a:t>
            </a:r>
            <a:r>
              <a:rPr lang="ko-KR" altLang="en-US" sz="1600" dirty="0">
                <a:ea typeface="+mn-lt"/>
                <a:cs typeface="+mn-lt"/>
              </a:rPr>
              <a:t>일 때</a:t>
            </a:r>
            <a:r>
              <a:rPr lang="en-US" altLang="ko-KR" sz="1600" dirty="0">
                <a:ea typeface="+mn-lt"/>
                <a:cs typeface="+mn-lt"/>
              </a:rPr>
              <a:t>, </a:t>
            </a:r>
            <a:r>
              <a:rPr lang="ko-KR" altLang="en-US" sz="1600" dirty="0">
                <a:ea typeface="+mn-lt"/>
                <a:cs typeface="+mn-lt"/>
              </a:rPr>
              <a:t>추적 종료 시간이 경과하거나</a:t>
            </a:r>
            <a:r>
              <a:rPr lang="en-US" altLang="ko-KR" sz="1600" dirty="0">
                <a:ea typeface="+mn-lt"/>
                <a:cs typeface="+mn-lt"/>
              </a:rPr>
              <a:t>, </a:t>
            </a:r>
            <a:r>
              <a:rPr lang="ko-KR" altLang="en-US" sz="1600" dirty="0">
                <a:ea typeface="+mn-lt"/>
                <a:cs typeface="+mn-lt"/>
              </a:rPr>
              <a:t>타겟과의 거리가 </a:t>
            </a:r>
            <a:r>
              <a:rPr lang="en-US" altLang="ko-KR" sz="1600" dirty="0">
                <a:ea typeface="+mn-lt"/>
                <a:cs typeface="+mn-lt"/>
              </a:rPr>
              <a:t>30m</a:t>
            </a:r>
            <a:r>
              <a:rPr lang="ko-KR" altLang="en-US" sz="1600" dirty="0">
                <a:ea typeface="+mn-lt"/>
                <a:cs typeface="+mn-lt"/>
              </a:rPr>
              <a:t> 이상이 되거나</a:t>
            </a:r>
            <a:r>
              <a:rPr lang="en-US" altLang="ko-KR" sz="1600" dirty="0">
                <a:ea typeface="+mn-lt"/>
                <a:cs typeface="+mn-lt"/>
              </a:rPr>
              <a:t>, </a:t>
            </a:r>
            <a:r>
              <a:rPr lang="ko-KR" altLang="en-US" sz="1600" dirty="0">
                <a:ea typeface="+mn-lt"/>
                <a:cs typeface="+mn-lt"/>
              </a:rPr>
              <a:t>타겟이 사망하면</a:t>
            </a:r>
            <a:r>
              <a:rPr lang="en-US" altLang="ko-KR" sz="1600" dirty="0">
                <a:ea typeface="+mn-lt"/>
                <a:cs typeface="+mn-lt"/>
              </a:rPr>
              <a:t>, Absent</a:t>
            </a:r>
            <a:r>
              <a:rPr lang="ko-KR" altLang="en-US" sz="1600" dirty="0">
                <a:ea typeface="+mn-lt"/>
                <a:cs typeface="+mn-lt"/>
              </a:rPr>
              <a:t>가 된다</a:t>
            </a:r>
            <a:r>
              <a:rPr lang="en-US" altLang="ko-KR" sz="1600" dirty="0">
                <a:ea typeface="+mn-lt"/>
                <a:cs typeface="+mn-lt"/>
              </a:rPr>
              <a:t>.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E1A9EFB-A750-608E-DA2C-C80C05ADAF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26FEB-661D-4181-84CB-C53DCFE1931A}" type="slidenum">
              <a:rPr lang="ko-KR" altLang="en-US" smtClean="0"/>
              <a:t>6</a:t>
            </a:fld>
            <a:endParaRPr lang="ko-KR" altLang="en-US"/>
          </a:p>
        </p:txBody>
      </p:sp>
      <p:sp>
        <p:nvSpPr>
          <p:cNvPr id="6" name="텍스트 개체 틀 1">
            <a:extLst>
              <a:ext uri="{FF2B5EF4-FFF2-40B4-BE49-F238E27FC236}">
                <a16:creationId xmlns:a16="http://schemas.microsoft.com/office/drawing/2014/main" id="{28C0FBDF-D6BB-A9E0-A9F9-39E9D98BDB7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853328"/>
            <a:ext cx="1600200" cy="2349500"/>
          </a:xfrm>
        </p:spPr>
        <p:txBody>
          <a:bodyPr/>
          <a:lstStyle/>
          <a:p>
            <a:r>
              <a:rPr lang="en-US" altLang="ko-KR" b="1" dirty="0"/>
              <a:t>FSM </a:t>
            </a:r>
            <a:r>
              <a:rPr lang="ko-KR" altLang="en-US" b="1" dirty="0"/>
              <a:t>설명</a:t>
            </a:r>
            <a:endParaRPr lang="en-US" altLang="ko-KR" b="1" dirty="0"/>
          </a:p>
          <a:p>
            <a:pPr latinLnBrk="0"/>
            <a:r>
              <a:rPr lang="ko-KR" altLang="en-US" dirty="0"/>
              <a:t>타겟 지정</a:t>
            </a:r>
            <a:endParaRPr lang="en-US" altLang="ko-KR" dirty="0"/>
          </a:p>
          <a:p>
            <a:pPr latinLnBrk="0"/>
            <a:r>
              <a:rPr lang="ko-KR" altLang="en-US" dirty="0"/>
              <a:t>목적지 탐색 방식</a:t>
            </a:r>
          </a:p>
          <a:p>
            <a:endParaRPr lang="en-US" altLang="ko-KR" b="1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687352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24546C-ECF7-9744-CD19-CC835A9504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9060C8FB-1D5B-23A1-5A0F-EB7D1BAD7BA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853328"/>
            <a:ext cx="1600200" cy="2349500"/>
          </a:xfrm>
        </p:spPr>
        <p:txBody>
          <a:bodyPr/>
          <a:lstStyle/>
          <a:p>
            <a:pPr latinLnBrk="0"/>
            <a:r>
              <a:rPr lang="en-US" altLang="ko-KR" dirty="0"/>
              <a:t>FSM </a:t>
            </a:r>
            <a:r>
              <a:rPr lang="ko-KR" altLang="en-US" dirty="0"/>
              <a:t>설명</a:t>
            </a:r>
            <a:endParaRPr lang="en-US" altLang="ko-KR" dirty="0"/>
          </a:p>
          <a:p>
            <a:pPr latinLnBrk="0"/>
            <a:r>
              <a:rPr lang="ko-KR" altLang="en-US" b="1" dirty="0"/>
              <a:t>타겟 지정</a:t>
            </a:r>
            <a:endParaRPr lang="en-US" altLang="ko-KR" b="1" dirty="0"/>
          </a:p>
          <a:p>
            <a:pPr latinLnBrk="0"/>
            <a:r>
              <a:rPr lang="ko-KR" altLang="en-US" dirty="0"/>
              <a:t>목적지 탐색 방식</a:t>
            </a:r>
          </a:p>
          <a:p>
            <a:pPr latinLnBrk="0"/>
            <a:endParaRPr lang="ko-KR" altLang="en-US" b="1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2B0D78C3-2131-502D-B080-AFD5C7BF19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19158"/>
            <a:ext cx="1600200" cy="535531"/>
          </a:xfrm>
        </p:spPr>
        <p:txBody>
          <a:bodyPr/>
          <a:lstStyle/>
          <a:p>
            <a:r>
              <a:rPr lang="ko-KR" altLang="en-US" dirty="0"/>
              <a:t>설명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A9CE85B-EADC-8C6D-9DCB-FC4092504C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atinLnBrk="0"/>
            <a:r>
              <a:rPr lang="ko-KR" altLang="en-US" sz="1600" dirty="0">
                <a:ea typeface="+mn-lt"/>
                <a:cs typeface="+mn-lt"/>
              </a:rPr>
              <a:t>게임을 시작하고 </a:t>
            </a:r>
            <a:r>
              <a:rPr lang="en-US" altLang="ko-KR" sz="1600" dirty="0">
                <a:ea typeface="+mn-lt"/>
                <a:cs typeface="+mn-lt"/>
              </a:rPr>
              <a:t>3</a:t>
            </a:r>
            <a:r>
              <a:rPr lang="ko-KR" altLang="en-US" sz="1600" dirty="0">
                <a:ea typeface="+mn-lt"/>
                <a:cs typeface="+mn-lt"/>
              </a:rPr>
              <a:t>분이 지난 후에 활동이 시작된다</a:t>
            </a:r>
            <a:r>
              <a:rPr lang="en-US" altLang="ko-KR" sz="1600" dirty="0">
                <a:ea typeface="+mn-lt"/>
                <a:cs typeface="+mn-lt"/>
              </a:rPr>
              <a:t>. 3</a:t>
            </a:r>
            <a:r>
              <a:rPr lang="ko-KR" altLang="en-US" sz="1600" dirty="0">
                <a:ea typeface="+mn-lt"/>
                <a:cs typeface="+mn-lt"/>
              </a:rPr>
              <a:t>분이 지난 후 가장 </a:t>
            </a:r>
            <a:r>
              <a:rPr lang="en-US" altLang="ko-KR" sz="1600" dirty="0">
                <a:ea typeface="+mn-lt"/>
                <a:cs typeface="+mn-lt"/>
              </a:rPr>
              <a:t>Fear</a:t>
            </a:r>
            <a:r>
              <a:rPr lang="ko-KR" altLang="en-US" sz="1600" dirty="0">
                <a:ea typeface="+mn-lt"/>
                <a:cs typeface="+mn-lt"/>
              </a:rPr>
              <a:t>이 높았던 유저와 가장 </a:t>
            </a:r>
            <a:r>
              <a:rPr lang="en-US" altLang="ko-KR" sz="1600" dirty="0">
                <a:ea typeface="+mn-lt"/>
                <a:cs typeface="+mn-lt"/>
              </a:rPr>
              <a:t>Fear</a:t>
            </a:r>
            <a:r>
              <a:rPr lang="ko-KR" altLang="en-US" sz="1600" dirty="0">
                <a:ea typeface="+mn-lt"/>
                <a:cs typeface="+mn-lt"/>
              </a:rPr>
              <a:t>이 낮았던 유저</a:t>
            </a:r>
            <a:r>
              <a:rPr lang="en-US" altLang="ko-KR" sz="1600" dirty="0">
                <a:ea typeface="+mn-lt"/>
                <a:cs typeface="+mn-lt"/>
              </a:rPr>
              <a:t>, </a:t>
            </a:r>
            <a:r>
              <a:rPr lang="ko-KR" altLang="en-US" sz="1600" dirty="0">
                <a:ea typeface="+mn-lt"/>
                <a:cs typeface="+mn-lt"/>
              </a:rPr>
              <a:t>인벤토리에 스크랩 가격의 총합이 가장 높은 유저 중 랜덤으로 한 명을 골라 </a:t>
            </a:r>
            <a:r>
              <a:rPr lang="en-US" altLang="ko-KR" sz="1600" dirty="0">
                <a:ea typeface="+mn-lt"/>
                <a:cs typeface="+mn-lt"/>
              </a:rPr>
              <a:t>‘</a:t>
            </a:r>
            <a:r>
              <a:rPr lang="ko-KR" altLang="en-US" sz="1600" dirty="0">
                <a:ea typeface="+mn-lt"/>
                <a:cs typeface="+mn-lt"/>
              </a:rPr>
              <a:t>타겟</a:t>
            </a:r>
            <a:r>
              <a:rPr lang="en-US" altLang="ko-KR" sz="1600" dirty="0">
                <a:ea typeface="+mn-lt"/>
                <a:cs typeface="+mn-lt"/>
              </a:rPr>
              <a:t>‘</a:t>
            </a:r>
            <a:r>
              <a:rPr lang="ko-KR" altLang="en-US" sz="1600" dirty="0">
                <a:ea typeface="+mn-lt"/>
                <a:cs typeface="+mn-lt"/>
              </a:rPr>
              <a:t>으로 지정한다</a:t>
            </a:r>
            <a:r>
              <a:rPr lang="en-US" altLang="ko-KR" sz="1600" dirty="0">
                <a:ea typeface="+mn-lt"/>
                <a:cs typeface="+mn-lt"/>
              </a:rPr>
              <a:t>.</a:t>
            </a:r>
          </a:p>
          <a:p>
            <a:pPr latinLnBrk="0"/>
            <a:r>
              <a:rPr lang="ko-KR" altLang="en-US" sz="1600" dirty="0">
                <a:ea typeface="+mn-lt"/>
                <a:cs typeface="+mn-lt"/>
              </a:rPr>
              <a:t>타겟이 사라지면 즉시 곧바로 새로운 타겟을 지정한다</a:t>
            </a:r>
            <a:r>
              <a:rPr lang="en-US" altLang="ko-KR" sz="1600" dirty="0">
                <a:ea typeface="+mn-lt"/>
                <a:cs typeface="+mn-lt"/>
              </a:rPr>
              <a:t>.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DFA3E1F-37E2-3EE9-C745-D8FCBD61F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26FEB-661D-4181-84CB-C53DCFE1931A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51913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B8F3CD-3C6A-4334-1694-89A98E2FEB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921A9D1B-F6F0-35AA-EDE6-9A279132D9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853328"/>
            <a:ext cx="1600200" cy="2349500"/>
          </a:xfrm>
        </p:spPr>
        <p:txBody>
          <a:bodyPr/>
          <a:lstStyle/>
          <a:p>
            <a:pPr latinLnBrk="0"/>
            <a:r>
              <a:rPr lang="en-US" altLang="ko-KR" dirty="0"/>
              <a:t>FSM </a:t>
            </a:r>
            <a:r>
              <a:rPr lang="ko-KR" altLang="en-US" dirty="0"/>
              <a:t>설명</a:t>
            </a:r>
            <a:endParaRPr lang="en-US" altLang="ko-KR" dirty="0"/>
          </a:p>
          <a:p>
            <a:pPr latinLnBrk="0"/>
            <a:r>
              <a:rPr lang="ko-KR" altLang="en-US" dirty="0"/>
              <a:t>타겟 지정</a:t>
            </a:r>
            <a:endParaRPr lang="en-US" altLang="ko-KR" dirty="0"/>
          </a:p>
          <a:p>
            <a:pPr latinLnBrk="0"/>
            <a:r>
              <a:rPr lang="ko-KR" altLang="en-US" b="1" dirty="0"/>
              <a:t>목적지 탐색 방식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FFAB249A-0CC1-9AC0-FDA8-04B7E2726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19158"/>
            <a:ext cx="1600200" cy="535531"/>
          </a:xfrm>
        </p:spPr>
        <p:txBody>
          <a:bodyPr/>
          <a:lstStyle/>
          <a:p>
            <a:r>
              <a:rPr lang="ko-KR" altLang="en-US" dirty="0"/>
              <a:t>설명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9C11541-C71F-8525-A499-A8CBE94B25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atinLnBrk="0"/>
            <a:r>
              <a:rPr lang="ko-KR" altLang="en-US" sz="1600" b="1" dirty="0">
                <a:ea typeface="+mn-lt"/>
                <a:cs typeface="+mn-lt"/>
              </a:rPr>
              <a:t>목적지 선정 조건</a:t>
            </a:r>
            <a:r>
              <a:rPr lang="en-US" altLang="ko-KR" sz="1600" b="1" dirty="0">
                <a:ea typeface="+mn-lt"/>
                <a:cs typeface="+mn-lt"/>
              </a:rPr>
              <a:t>:</a:t>
            </a:r>
            <a:br>
              <a:rPr lang="en-US" altLang="ko-KR" sz="1600" dirty="0">
                <a:ea typeface="+mn-lt"/>
                <a:cs typeface="+mn-lt"/>
              </a:rPr>
            </a:br>
            <a:r>
              <a:rPr lang="ko-KR" altLang="en-US" sz="1600" dirty="0">
                <a:ea typeface="+mn-lt"/>
                <a:cs typeface="+mn-lt"/>
              </a:rPr>
              <a:t>몬스터</a:t>
            </a:r>
            <a:r>
              <a:rPr lang="en-US" altLang="ko-KR" sz="1600" dirty="0">
                <a:ea typeface="+mn-lt"/>
                <a:cs typeface="+mn-lt"/>
              </a:rPr>
              <a:t>(Ghost)</a:t>
            </a:r>
            <a:r>
              <a:rPr lang="ko-KR" altLang="en-US" sz="1600" dirty="0">
                <a:ea typeface="+mn-lt"/>
                <a:cs typeface="+mn-lt"/>
              </a:rPr>
              <a:t>는 반드시 타겟의 뒤편</a:t>
            </a:r>
            <a:r>
              <a:rPr lang="en-US" altLang="ko-KR" sz="1600" dirty="0">
                <a:ea typeface="+mn-lt"/>
                <a:cs typeface="+mn-lt"/>
              </a:rPr>
              <a:t>(</a:t>
            </a:r>
            <a:r>
              <a:rPr lang="ko-KR" altLang="en-US" sz="1600" dirty="0">
                <a:ea typeface="+mn-lt"/>
                <a:cs typeface="+mn-lt"/>
              </a:rPr>
              <a:t>카메라에 보이지 않는</a:t>
            </a:r>
            <a:r>
              <a:rPr lang="en-US" altLang="ko-KR" sz="1600" dirty="0">
                <a:ea typeface="+mn-lt"/>
                <a:cs typeface="+mn-lt"/>
              </a:rPr>
              <a:t>),</a:t>
            </a:r>
            <a:r>
              <a:rPr lang="ko-KR" altLang="en-US" sz="1600" dirty="0">
                <a:ea typeface="+mn-lt"/>
                <a:cs typeface="+mn-lt"/>
              </a:rPr>
              <a:t> </a:t>
            </a:r>
            <a:r>
              <a:rPr lang="en-US" altLang="ko-KR" sz="1600" dirty="0">
                <a:ea typeface="+mn-lt"/>
                <a:cs typeface="+mn-lt"/>
              </a:rPr>
              <a:t>6m </a:t>
            </a:r>
            <a:r>
              <a:rPr lang="ko-KR" altLang="en-US" sz="1600" dirty="0">
                <a:ea typeface="+mn-lt"/>
                <a:cs typeface="+mn-lt"/>
              </a:rPr>
              <a:t>떨어진 장소에 </a:t>
            </a:r>
            <a:r>
              <a:rPr lang="ko-KR" altLang="en-US" sz="1600" dirty="0" err="1">
                <a:ea typeface="+mn-lt"/>
                <a:cs typeface="+mn-lt"/>
              </a:rPr>
              <a:t>스폰된다</a:t>
            </a:r>
            <a:r>
              <a:rPr lang="en-US" altLang="ko-KR" sz="1600" dirty="0">
                <a:ea typeface="+mn-lt"/>
                <a:cs typeface="+mn-lt"/>
              </a:rPr>
              <a:t>.</a:t>
            </a:r>
            <a:br>
              <a:rPr lang="en-US" altLang="ko-KR" sz="1600" dirty="0">
                <a:ea typeface="+mn-lt"/>
                <a:cs typeface="+mn-lt"/>
              </a:rPr>
            </a:br>
            <a:r>
              <a:rPr lang="ko-KR" altLang="en-US" sz="1600" dirty="0">
                <a:ea typeface="+mn-lt"/>
                <a:cs typeface="+mn-lt"/>
              </a:rPr>
              <a:t>단</a:t>
            </a:r>
            <a:r>
              <a:rPr lang="en-US" altLang="ko-KR" sz="1600" dirty="0">
                <a:ea typeface="+mn-lt"/>
                <a:cs typeface="+mn-lt"/>
              </a:rPr>
              <a:t>, </a:t>
            </a:r>
            <a:r>
              <a:rPr lang="ko-KR" altLang="en-US" sz="1600" dirty="0">
                <a:ea typeface="+mn-lt"/>
                <a:cs typeface="+mn-lt"/>
              </a:rPr>
              <a:t>벽이나 다른 장애물로 몬스터와 플레이어의 사이가 막혀 있지 않아야만 한다</a:t>
            </a:r>
            <a:r>
              <a:rPr lang="en-US" altLang="ko-KR" sz="1600" dirty="0">
                <a:ea typeface="+mn-lt"/>
                <a:cs typeface="+mn-lt"/>
              </a:rPr>
              <a:t>.</a:t>
            </a:r>
          </a:p>
          <a:p>
            <a:pPr latinLnBrk="0"/>
            <a:endParaRPr lang="en-US" altLang="ko-KR" sz="1600" dirty="0">
              <a:ea typeface="+mn-lt"/>
              <a:cs typeface="+mn-lt"/>
            </a:endParaRPr>
          </a:p>
          <a:p>
            <a:pPr latinLnBrk="0"/>
            <a:r>
              <a:rPr lang="ko-KR" altLang="en-US" sz="1600" dirty="0">
                <a:ea typeface="+mn-lt"/>
                <a:cs typeface="+mn-lt"/>
              </a:rPr>
              <a:t>목적지 탐색 방식</a:t>
            </a:r>
            <a:r>
              <a:rPr lang="en-US" altLang="ko-KR" sz="1600" dirty="0">
                <a:ea typeface="+mn-lt"/>
                <a:cs typeface="+mn-lt"/>
              </a:rPr>
              <a:t>:</a:t>
            </a:r>
            <a:br>
              <a:rPr lang="en-US" altLang="ko-KR" sz="1600" dirty="0">
                <a:ea typeface="+mn-lt"/>
                <a:cs typeface="+mn-lt"/>
              </a:rPr>
            </a:br>
            <a:r>
              <a:rPr lang="en-US" altLang="ko-KR" sz="1600" dirty="0">
                <a:ea typeface="+mn-lt"/>
                <a:cs typeface="+mn-lt"/>
              </a:rPr>
              <a:t>(</a:t>
            </a:r>
            <a:r>
              <a:rPr lang="ko-KR" altLang="en-US" sz="1600" dirty="0" err="1">
                <a:ea typeface="+mn-lt"/>
                <a:cs typeface="+mn-lt"/>
              </a:rPr>
              <a:t>리썰의</a:t>
            </a:r>
            <a:r>
              <a:rPr lang="ko-KR" altLang="en-US" sz="1600" dirty="0">
                <a:ea typeface="+mn-lt"/>
                <a:cs typeface="+mn-lt"/>
              </a:rPr>
              <a:t> </a:t>
            </a:r>
            <a:r>
              <a:rPr lang="en-US" altLang="ko-KR" sz="1600" dirty="0">
                <a:ea typeface="+mn-lt"/>
                <a:cs typeface="+mn-lt"/>
              </a:rPr>
              <a:t>Ghost Girl</a:t>
            </a:r>
            <a:r>
              <a:rPr lang="ko-KR" altLang="en-US" sz="1600" dirty="0">
                <a:ea typeface="+mn-lt"/>
                <a:cs typeface="+mn-lt"/>
              </a:rPr>
              <a:t>은 </a:t>
            </a:r>
            <a:r>
              <a:rPr lang="en-US" altLang="ko-KR" sz="1600" dirty="0" err="1">
                <a:ea typeface="+mn-lt"/>
                <a:cs typeface="+mn-lt"/>
              </a:rPr>
              <a:t>Raycast</a:t>
            </a:r>
            <a:r>
              <a:rPr lang="ko-KR" altLang="en-US" sz="1600" dirty="0">
                <a:ea typeface="+mn-lt"/>
                <a:cs typeface="+mn-lt"/>
              </a:rPr>
              <a:t>라는 방식을 쓰는데</a:t>
            </a:r>
            <a:r>
              <a:rPr lang="en-US" altLang="ko-KR" sz="1600" dirty="0">
                <a:ea typeface="+mn-lt"/>
                <a:cs typeface="+mn-lt"/>
              </a:rPr>
              <a:t>,</a:t>
            </a:r>
            <a:r>
              <a:rPr lang="ko-KR" altLang="en-US" sz="1600" dirty="0">
                <a:ea typeface="+mn-lt"/>
                <a:cs typeface="+mn-lt"/>
              </a:rPr>
              <a:t> 그냥 랜덤하게 타겟 뒤쪽 </a:t>
            </a:r>
            <a:r>
              <a:rPr lang="en-US" altLang="ko-KR" sz="1600" dirty="0">
                <a:ea typeface="+mn-lt"/>
                <a:cs typeface="+mn-lt"/>
              </a:rPr>
              <a:t>6m </a:t>
            </a:r>
            <a:r>
              <a:rPr lang="ko-KR" altLang="en-US" sz="1600" dirty="0">
                <a:ea typeface="+mn-lt"/>
                <a:cs typeface="+mn-lt"/>
              </a:rPr>
              <a:t>지점이 비었는지 아닌지</a:t>
            </a:r>
            <a:r>
              <a:rPr lang="en-US" altLang="ko-KR" sz="1600" dirty="0">
                <a:ea typeface="+mn-lt"/>
                <a:cs typeface="+mn-lt"/>
              </a:rPr>
              <a:t>, </a:t>
            </a:r>
            <a:r>
              <a:rPr lang="ko-KR" altLang="en-US" sz="1600" dirty="0">
                <a:ea typeface="+mn-lt"/>
                <a:cs typeface="+mn-lt"/>
              </a:rPr>
              <a:t>사이가 </a:t>
            </a:r>
            <a:r>
              <a:rPr lang="ko-KR" altLang="en-US" sz="1600" dirty="0" err="1">
                <a:ea typeface="+mn-lt"/>
                <a:cs typeface="+mn-lt"/>
              </a:rPr>
              <a:t>막혀있는지</a:t>
            </a:r>
            <a:r>
              <a:rPr lang="ko-KR" altLang="en-US" sz="1600" dirty="0">
                <a:ea typeface="+mn-lt"/>
                <a:cs typeface="+mn-lt"/>
              </a:rPr>
              <a:t> </a:t>
            </a:r>
            <a:r>
              <a:rPr lang="ko-KR" altLang="en-US" sz="1600" dirty="0" err="1">
                <a:ea typeface="+mn-lt"/>
                <a:cs typeface="+mn-lt"/>
              </a:rPr>
              <a:t>아닌지만</a:t>
            </a:r>
            <a:r>
              <a:rPr lang="ko-KR" altLang="en-US" sz="1600" dirty="0">
                <a:ea typeface="+mn-lt"/>
                <a:cs typeface="+mn-lt"/>
              </a:rPr>
              <a:t> 확인해도 되지 않나</a:t>
            </a:r>
            <a:r>
              <a:rPr lang="en-US" altLang="ko-KR" sz="1600" dirty="0">
                <a:ea typeface="+mn-lt"/>
                <a:cs typeface="+mn-lt"/>
              </a:rPr>
              <a:t>? -&gt; </a:t>
            </a:r>
            <a:r>
              <a:rPr lang="ko-KR" altLang="en-US" sz="1600" dirty="0" err="1">
                <a:ea typeface="+mn-lt"/>
                <a:cs typeface="+mn-lt"/>
              </a:rPr>
              <a:t>제미나이한테</a:t>
            </a:r>
            <a:r>
              <a:rPr lang="ko-KR" altLang="en-US" sz="1600" dirty="0">
                <a:ea typeface="+mn-lt"/>
                <a:cs typeface="+mn-lt"/>
              </a:rPr>
              <a:t> 물어보니까 안된다고 </a:t>
            </a:r>
            <a:r>
              <a:rPr lang="ko-KR" altLang="en-US" sz="1600" dirty="0" err="1">
                <a:ea typeface="+mn-lt"/>
                <a:cs typeface="+mn-lt"/>
              </a:rPr>
              <a:t>대답해줬음</a:t>
            </a:r>
            <a:r>
              <a:rPr lang="en-US" altLang="ko-KR" sz="1600" dirty="0">
                <a:ea typeface="+mn-lt"/>
                <a:cs typeface="+mn-lt"/>
              </a:rPr>
              <a:t>)</a:t>
            </a:r>
          </a:p>
          <a:p>
            <a:pPr latinLnBrk="0"/>
            <a:endParaRPr lang="en-US" altLang="ko-KR" sz="1600" dirty="0">
              <a:ea typeface="+mn-lt"/>
              <a:cs typeface="+mn-lt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E8394D2-F0A3-5D22-260C-82EBDDC5BC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26FEB-661D-4181-84CB-C53DCFE1931A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47341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몬스터 기획서_EmotionGame</Template>
  <TotalTime>301</TotalTime>
  <Words>635</Words>
  <Application>Microsoft Office PowerPoint</Application>
  <PresentationFormat>와이드스크린</PresentationFormat>
  <Paragraphs>106</Paragraphs>
  <Slides>8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1" baseType="lpstr">
      <vt:lpstr>맑은 고딕</vt:lpstr>
      <vt:lpstr>Arial</vt:lpstr>
      <vt:lpstr>Office 테마</vt:lpstr>
      <vt:lpstr>몬스터 기획 Ghost</vt:lpstr>
      <vt:lpstr>참고</vt:lpstr>
      <vt:lpstr>State, Stat</vt:lpstr>
      <vt:lpstr>FSM</vt:lpstr>
      <vt:lpstr>설명</vt:lpstr>
      <vt:lpstr>설명</vt:lpstr>
      <vt:lpstr>설명</vt:lpstr>
      <vt:lpstr>설명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이하나 윤</dc:creator>
  <cp:lastModifiedBy>이하나 윤</cp:lastModifiedBy>
  <cp:revision>36</cp:revision>
  <dcterms:created xsi:type="dcterms:W3CDTF">2026-04-13T16:38:24Z</dcterms:created>
  <dcterms:modified xsi:type="dcterms:W3CDTF">2026-04-13T21:44:10Z</dcterms:modified>
</cp:coreProperties>
</file>